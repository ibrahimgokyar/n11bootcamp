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4" r:id="rId9"/>
    <p:sldId id="273" r:id="rId10"/>
    <p:sldId id="272" r:id="rId11"/>
    <p:sldId id="271" r:id="rId12"/>
    <p:sldId id="269" r:id="rId13"/>
    <p:sldId id="268" r:id="rId14"/>
    <p:sldId id="267" r:id="rId15"/>
    <p:sldId id="266" r:id="rId16"/>
    <p:sldId id="265" r:id="rId17"/>
    <p:sldId id="264" r:id="rId18"/>
    <p:sldId id="275" r:id="rId19"/>
    <p:sldId id="263" r:id="rId20"/>
    <p:sldId id="277" r:id="rId21"/>
    <p:sldId id="276" r:id="rId22"/>
    <p:sldId id="278" r:id="rId23"/>
    <p:sldId id="279" r:id="rId24"/>
    <p:sldId id="280" r:id="rId25"/>
    <p:sldId id="262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9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4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2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66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7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2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4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0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5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B0F3-BDA8-4AF9-8428-E6590377664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7EF7D-DA6D-4D81-B610-E80B7AA1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1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rkcell.com.tr/blog/bir-komut-sonsuz-icerik-generative-ai-dunyas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pubs/attention-is-all-you-need/" TargetMode="External"/><Relationship Id="rId2" Type="http://schemas.openxmlformats.org/officeDocument/2006/relationships/hyperlink" Target="https://www.turkcell.com.tr/blog/yapay-zeka-cagi-nasil-calisir-hayati-nasil-donusturu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rkcell.com.tr/blog/chatgpt-nedir-adim-adim-chatgpt-kullanma-rehberi" TargetMode="External"/><Relationship Id="rId2" Type="http://schemas.openxmlformats.org/officeDocument/2006/relationships/hyperlink" Target="https://www.turkcell.com.tr/blog/metanin-guclu-yapay-zekasi-llama-nedi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urkcell.com.tr/blog/claude-ai-anthropicin-guvenlik-merkezli-yapay-zeka-modeli" TargetMode="External"/><Relationship Id="rId4" Type="http://schemas.openxmlformats.org/officeDocument/2006/relationships/hyperlink" Target="https://www.turkcell.com.tr/blog/gemini-nedir-googlein-yapay-zeka-uygulamasina-genel-baki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LLM – AI AGENTS + AI ILE GELİŞTİRME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847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​LLM </a:t>
            </a:r>
            <a:r>
              <a:rPr lang="en-US" b="1" dirty="0" err="1"/>
              <a:t>Nedir</a:t>
            </a:r>
            <a:r>
              <a:rPr lang="en-US" b="1" dirty="0"/>
              <a:t>?</a:t>
            </a:r>
            <a:br>
              <a:rPr lang="en-US" b="1" dirty="0"/>
            </a:br>
            <a:endParaRPr lang="en-US" b="1" dirty="0"/>
          </a:p>
          <a:p>
            <a:pPr marL="0" indent="0">
              <a:buNone/>
            </a:pPr>
            <a:r>
              <a:rPr lang="en-US" b="1" dirty="0" err="1"/>
              <a:t>Büyük</a:t>
            </a:r>
            <a:r>
              <a:rPr lang="en-US" b="1" dirty="0"/>
              <a:t> </a:t>
            </a: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modelleri</a:t>
            </a:r>
            <a:r>
              <a:rPr lang="en-US" b="1" dirty="0"/>
              <a:t> (LLM)</a:t>
            </a:r>
            <a:r>
              <a:rPr lang="en-US" dirty="0"/>
              <a:t>, </a:t>
            </a:r>
            <a:r>
              <a:rPr lang="en-US" dirty="0" err="1"/>
              <a:t>bugün</a:t>
            </a:r>
            <a:r>
              <a:rPr lang="en-US" dirty="0"/>
              <a:t> </a:t>
            </a:r>
            <a:r>
              <a:rPr lang="en-US" dirty="0" err="1"/>
              <a:t>hayatın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alanında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ChatGPT</a:t>
            </a:r>
            <a:r>
              <a:rPr lang="en-US" dirty="0"/>
              <a:t>, Gemini </a:t>
            </a:r>
            <a:r>
              <a:rPr lang="en-US" dirty="0" err="1"/>
              <a:t>ve</a:t>
            </a:r>
            <a:r>
              <a:rPr lang="en-US" dirty="0"/>
              <a:t> Claude </a:t>
            </a:r>
            <a:r>
              <a:rPr lang="en-US" dirty="0" err="1"/>
              <a:t>gibi</a:t>
            </a:r>
            <a:r>
              <a:rPr lang="en-US" dirty="0"/>
              <a:t> </a:t>
            </a:r>
            <a:r>
              <a:rPr lang="en-US" dirty="0" err="1">
                <a:hlinkClick r:id="rId2"/>
              </a:rPr>
              <a:t>üretken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yapay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zeka</a:t>
            </a:r>
            <a:r>
              <a:rPr lang="en-US" dirty="0">
                <a:hlinkClick r:id="rId2"/>
              </a:rPr>
              <a:t>​</a:t>
            </a:r>
            <a:r>
              <a:rPr lang="en-US" dirty="0"/>
              <a:t> </a:t>
            </a:r>
            <a:r>
              <a:rPr lang="en-US" dirty="0" err="1"/>
              <a:t>araçlarının</a:t>
            </a:r>
            <a:r>
              <a:rPr lang="en-US" dirty="0"/>
              <a:t> </a:t>
            </a:r>
            <a:r>
              <a:rPr lang="en-US" dirty="0" err="1"/>
              <a:t>arkasındaki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teknolojiyi</a:t>
            </a:r>
            <a:r>
              <a:rPr lang="en-US" dirty="0"/>
              <a:t> </a:t>
            </a:r>
            <a:r>
              <a:rPr lang="en-US" dirty="0" err="1"/>
              <a:t>ifade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 </a:t>
            </a:r>
          </a:p>
          <a:p>
            <a:pPr marL="0" indent="0">
              <a:buNone/>
            </a:pPr>
            <a:r>
              <a:rPr lang="en-US" b="1" dirty="0"/>
              <a:t>Large language models (LLM), “</a:t>
            </a:r>
            <a:r>
              <a:rPr lang="en-US" b="1" dirty="0" err="1"/>
              <a:t>büyük</a:t>
            </a:r>
            <a:r>
              <a:rPr lang="en-US" b="1" dirty="0"/>
              <a:t> </a:t>
            </a: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modelleri</a:t>
            </a:r>
            <a:r>
              <a:rPr lang="en-US" b="1" dirty="0"/>
              <a:t>”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zekanın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alt </a:t>
            </a:r>
            <a:r>
              <a:rPr lang="en-US" dirty="0" err="1"/>
              <a:t>alanını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Bu </a:t>
            </a:r>
            <a:r>
              <a:rPr lang="en-US" dirty="0" err="1"/>
              <a:t>sistemlerin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görevi</a:t>
            </a:r>
            <a:r>
              <a:rPr lang="en-US" dirty="0"/>
              <a:t>, </a:t>
            </a:r>
            <a:r>
              <a:rPr lang="en-US" dirty="0" err="1"/>
              <a:t>devasa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verilerini</a:t>
            </a:r>
            <a:r>
              <a:rPr lang="en-US" dirty="0"/>
              <a:t> </a:t>
            </a:r>
            <a:r>
              <a:rPr lang="en-US" dirty="0" err="1"/>
              <a:t>işleyerek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dilini</a:t>
            </a:r>
            <a:r>
              <a:rPr lang="en-US" dirty="0"/>
              <a:t> </a:t>
            </a:r>
            <a:r>
              <a:rPr lang="en-US" dirty="0" err="1"/>
              <a:t>anlamak</a:t>
            </a:r>
            <a:r>
              <a:rPr lang="en-US" dirty="0"/>
              <a:t>, </a:t>
            </a:r>
            <a:r>
              <a:rPr lang="en-US" dirty="0" err="1"/>
              <a:t>özetlemek</a:t>
            </a:r>
            <a:r>
              <a:rPr lang="en-US" dirty="0"/>
              <a:t>,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metinler</a:t>
            </a:r>
            <a:r>
              <a:rPr lang="en-US" dirty="0"/>
              <a:t> </a:t>
            </a:r>
            <a:r>
              <a:rPr lang="en-US" dirty="0" err="1"/>
              <a:t>üretmek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çeviri</a:t>
            </a:r>
            <a:r>
              <a:rPr lang="en-US" dirty="0"/>
              <a:t> </a:t>
            </a:r>
            <a:r>
              <a:rPr lang="en-US" dirty="0" err="1"/>
              <a:t>yapmaktır</a:t>
            </a:r>
            <a:r>
              <a:rPr lang="en-US" dirty="0"/>
              <a:t>. </a:t>
            </a:r>
            <a:r>
              <a:rPr lang="en-US" dirty="0" err="1"/>
              <a:t>Günümüzde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üretken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araçlarının</a:t>
            </a:r>
            <a:r>
              <a:rPr lang="en-US" dirty="0"/>
              <a:t> </a:t>
            </a:r>
            <a:r>
              <a:rPr lang="en-US" dirty="0" err="1"/>
              <a:t>altyapısı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modellerden</a:t>
            </a:r>
            <a:r>
              <a:rPr lang="en-US" dirty="0"/>
              <a:t> </a:t>
            </a:r>
            <a:r>
              <a:rPr lang="en-US" dirty="0" err="1"/>
              <a:t>oluşur</a:t>
            </a:r>
            <a:r>
              <a:rPr lang="en-US" dirty="0"/>
              <a:t>.​</a:t>
            </a:r>
          </a:p>
          <a:p>
            <a:pPr marL="0" indent="0">
              <a:buNone/>
            </a:pPr>
            <a:r>
              <a:rPr lang="en-US" b="1" dirty="0"/>
              <a:t>Large Language Model </a:t>
            </a:r>
            <a:r>
              <a:rPr lang="en-US" b="1" dirty="0" err="1"/>
              <a:t>Kavramı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Büyük</a:t>
            </a:r>
            <a:r>
              <a:rPr lang="en-US" b="1" dirty="0"/>
              <a:t> </a:t>
            </a: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modelleri</a:t>
            </a:r>
            <a:r>
              <a:rPr lang="en-US" b="1" dirty="0"/>
              <a:t>,</a:t>
            </a:r>
            <a:r>
              <a:rPr lang="en-US" dirty="0"/>
              <a:t> </a:t>
            </a:r>
            <a:r>
              <a:rPr lang="en-US" dirty="0" err="1"/>
              <a:t>temelde</a:t>
            </a:r>
            <a:r>
              <a:rPr lang="en-US" dirty="0"/>
              <a:t> </a:t>
            </a:r>
            <a:r>
              <a:rPr lang="en-US" dirty="0" err="1"/>
              <a:t>istatistiksel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örüntü</a:t>
            </a:r>
            <a:r>
              <a:rPr lang="en-US" dirty="0"/>
              <a:t> </a:t>
            </a:r>
            <a:r>
              <a:rPr lang="en-US" dirty="0" err="1"/>
              <a:t>tanıma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. Ana </a:t>
            </a:r>
            <a:r>
              <a:rPr lang="en-US" dirty="0" err="1"/>
              <a:t>prensibi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metindeki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kelimeyi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açıklanabilir</a:t>
            </a:r>
            <a:r>
              <a:rPr lang="en-US" dirty="0"/>
              <a:t>.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basit</a:t>
            </a:r>
            <a:r>
              <a:rPr lang="en-US" dirty="0"/>
              <a:t> </a:t>
            </a:r>
            <a:r>
              <a:rPr lang="en-US" dirty="0" err="1"/>
              <a:t>görev</a:t>
            </a:r>
            <a:r>
              <a:rPr lang="en-US" dirty="0"/>
              <a:t>, </a:t>
            </a:r>
            <a:r>
              <a:rPr lang="en-US" dirty="0" err="1"/>
              <a:t>muazzam</a:t>
            </a:r>
            <a:r>
              <a:rPr lang="en-US" dirty="0"/>
              <a:t> </a:t>
            </a:r>
            <a:r>
              <a:rPr lang="en-US" dirty="0" err="1"/>
              <a:t>miktarda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ağı</a:t>
            </a:r>
            <a:r>
              <a:rPr lang="en-US" dirty="0"/>
              <a:t> </a:t>
            </a:r>
            <a:r>
              <a:rPr lang="en-US" dirty="0" err="1"/>
              <a:t>mimarisiyle</a:t>
            </a:r>
            <a:r>
              <a:rPr lang="en-US" dirty="0"/>
              <a:t> </a:t>
            </a:r>
            <a:r>
              <a:rPr lang="en-US" dirty="0" err="1"/>
              <a:t>birleşiyor</a:t>
            </a:r>
            <a:r>
              <a:rPr lang="en-US" dirty="0"/>
              <a:t>. Model,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sürecin</a:t>
            </a:r>
            <a:r>
              <a:rPr lang="en-US" dirty="0"/>
              <a:t> </a:t>
            </a:r>
            <a:r>
              <a:rPr lang="en-US" dirty="0" err="1"/>
              <a:t>sonunda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kelimeyi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etmenin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ötesine</a:t>
            </a:r>
            <a:r>
              <a:rPr lang="en-US" dirty="0"/>
              <a:t> </a:t>
            </a:r>
            <a:r>
              <a:rPr lang="en-US" dirty="0" err="1"/>
              <a:t>geçiyor</a:t>
            </a:r>
            <a:r>
              <a:rPr lang="en-US" dirty="0"/>
              <a:t>. </a:t>
            </a:r>
            <a:r>
              <a:rPr lang="en-US" dirty="0" err="1"/>
              <a:t>Dilin</a:t>
            </a:r>
            <a:r>
              <a:rPr lang="en-US" dirty="0"/>
              <a:t> </a:t>
            </a:r>
            <a:r>
              <a:rPr lang="en-US" dirty="0" err="1"/>
              <a:t>yapısını</a:t>
            </a:r>
            <a:r>
              <a:rPr lang="en-US" dirty="0"/>
              <a:t>,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, </a:t>
            </a:r>
            <a:r>
              <a:rPr lang="en-US" dirty="0" err="1"/>
              <a:t>kelimelerin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anlamlarını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hatta</a:t>
            </a:r>
            <a:r>
              <a:rPr lang="en-US" dirty="0"/>
              <a:t> </a:t>
            </a:r>
            <a:r>
              <a:rPr lang="en-US" dirty="0" err="1"/>
              <a:t>dünya</a:t>
            </a:r>
            <a:r>
              <a:rPr lang="en-US" dirty="0"/>
              <a:t> </a:t>
            </a:r>
            <a:r>
              <a:rPr lang="en-US" dirty="0" err="1"/>
              <a:t>hakkındaki</a:t>
            </a:r>
            <a:r>
              <a:rPr lang="en-US" dirty="0"/>
              <a:t> </a:t>
            </a:r>
            <a:r>
              <a:rPr lang="en-US" dirty="0" err="1"/>
              <a:t>olgusal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öğreniyor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LLM </a:t>
            </a:r>
            <a:r>
              <a:rPr lang="en-US" b="1" dirty="0" err="1"/>
              <a:t>Neden</a:t>
            </a:r>
            <a:r>
              <a:rPr lang="en-US" b="1" dirty="0"/>
              <a:t> “</a:t>
            </a:r>
            <a:r>
              <a:rPr lang="en-US" b="1" dirty="0" err="1"/>
              <a:t>Büyük</a:t>
            </a:r>
            <a:r>
              <a:rPr lang="en-US" b="1" dirty="0"/>
              <a:t>” </a:t>
            </a: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Modeli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</a:t>
            </a:r>
            <a:r>
              <a:rPr lang="en-US" b="1" dirty="0" err="1"/>
              <a:t>Adlandırılır</a:t>
            </a:r>
            <a:r>
              <a:rPr lang="en-US" b="1" dirty="0"/>
              <a:t>?</a:t>
            </a:r>
          </a:p>
          <a:p>
            <a:pPr marL="0" indent="0">
              <a:buNone/>
            </a:pPr>
            <a:r>
              <a:rPr lang="en-US" dirty="0" err="1"/>
              <a:t>Modellerin</a:t>
            </a:r>
            <a:r>
              <a:rPr lang="en-US" dirty="0"/>
              <a:t> </a:t>
            </a:r>
            <a:r>
              <a:rPr lang="en-US" b="1" dirty="0"/>
              <a:t>"</a:t>
            </a:r>
            <a:r>
              <a:rPr lang="en-US" b="1" dirty="0" err="1"/>
              <a:t>büyük</a:t>
            </a:r>
            <a:r>
              <a:rPr lang="en-US" b="1" dirty="0"/>
              <a:t>"</a:t>
            </a:r>
            <a:r>
              <a:rPr lang="en-US" dirty="0"/>
              <a:t> 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adlandırılması</a:t>
            </a:r>
            <a:r>
              <a:rPr lang="en-US" dirty="0"/>
              <a:t> </a:t>
            </a:r>
            <a:r>
              <a:rPr lang="en-US" dirty="0" err="1"/>
              <a:t>tesadüf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Bu </a:t>
            </a:r>
            <a:r>
              <a:rPr lang="en-US" dirty="0" err="1"/>
              <a:t>sıfat</a:t>
            </a:r>
            <a:r>
              <a:rPr lang="en-US" dirty="0"/>
              <a:t>,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verisinin</a:t>
            </a:r>
            <a:r>
              <a:rPr lang="en-US" dirty="0"/>
              <a:t> </a:t>
            </a:r>
            <a:r>
              <a:rPr lang="en-US" dirty="0" err="1"/>
              <a:t>boyutu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</a:t>
            </a:r>
            <a:r>
              <a:rPr lang="en-US" dirty="0" err="1"/>
              <a:t>bileşenden</a:t>
            </a:r>
            <a:r>
              <a:rPr lang="en-US" dirty="0"/>
              <a:t> </a:t>
            </a:r>
            <a:r>
              <a:rPr lang="en-US" dirty="0" err="1"/>
              <a:t>geliyor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1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 smtClean="0"/>
              <a:t>Parametreler</a:t>
            </a:r>
            <a:r>
              <a:rPr lang="en-US" dirty="0" smtClean="0"/>
              <a:t>, </a:t>
            </a:r>
            <a:r>
              <a:rPr lang="en-US" dirty="0" err="1" smtClean="0"/>
              <a:t>modelin</a:t>
            </a:r>
            <a:r>
              <a:rPr lang="en-US" dirty="0" smtClean="0"/>
              <a:t> </a:t>
            </a:r>
            <a:r>
              <a:rPr lang="en-US" dirty="0" err="1" smtClean="0"/>
              <a:t>öğrendiği</a:t>
            </a:r>
            <a:r>
              <a:rPr lang="en-US" dirty="0" smtClean="0"/>
              <a:t> </a:t>
            </a:r>
            <a:r>
              <a:rPr lang="en-US" dirty="0" err="1" smtClean="0"/>
              <a:t>bilgileri</a:t>
            </a:r>
            <a:r>
              <a:rPr lang="en-US" dirty="0" smtClean="0"/>
              <a:t> </a:t>
            </a:r>
            <a:r>
              <a:rPr lang="en-US" dirty="0" err="1" smtClean="0"/>
              <a:t>depolayan</a:t>
            </a:r>
            <a:r>
              <a:rPr lang="en-US" dirty="0" smtClean="0"/>
              <a:t> </a:t>
            </a:r>
            <a:r>
              <a:rPr lang="en-US" dirty="0" err="1" smtClean="0"/>
              <a:t>sinir</a:t>
            </a:r>
            <a:r>
              <a:rPr lang="en-US" dirty="0" smtClean="0"/>
              <a:t> </a:t>
            </a:r>
            <a:r>
              <a:rPr lang="en-US" dirty="0" err="1" smtClean="0"/>
              <a:t>ağı</a:t>
            </a:r>
            <a:r>
              <a:rPr lang="en-US" dirty="0" smtClean="0"/>
              <a:t> </a:t>
            </a:r>
            <a:r>
              <a:rPr lang="en-US" dirty="0" err="1" smtClean="0"/>
              <a:t>bağlantı</a:t>
            </a:r>
            <a:r>
              <a:rPr lang="en-US" dirty="0" smtClean="0"/>
              <a:t> </a:t>
            </a:r>
            <a:r>
              <a:rPr lang="en-US" dirty="0" err="1" smtClean="0"/>
              <a:t>noktaları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işlev</a:t>
            </a:r>
            <a:r>
              <a:rPr lang="en-US" dirty="0" smtClean="0"/>
              <a:t> </a:t>
            </a:r>
            <a:r>
              <a:rPr lang="en-US" dirty="0" err="1" smtClean="0"/>
              <a:t>görüyor</a:t>
            </a:r>
            <a:r>
              <a:rPr lang="en-US" dirty="0" smtClean="0"/>
              <a:t>. </a:t>
            </a:r>
            <a:r>
              <a:rPr lang="en-US" dirty="0" err="1" smtClean="0"/>
              <a:t>Modelin</a:t>
            </a:r>
            <a:r>
              <a:rPr lang="en-US" dirty="0" smtClean="0"/>
              <a:t> </a:t>
            </a:r>
            <a:r>
              <a:rPr lang="en-US" dirty="0" err="1" smtClean="0"/>
              <a:t>karar</a:t>
            </a:r>
            <a:r>
              <a:rPr lang="en-US" dirty="0" smtClean="0"/>
              <a:t> </a:t>
            </a:r>
            <a:r>
              <a:rPr lang="en-US" dirty="0" err="1" smtClean="0"/>
              <a:t>verme</a:t>
            </a:r>
            <a:r>
              <a:rPr lang="en-US" dirty="0" smtClean="0"/>
              <a:t> </a:t>
            </a:r>
            <a:r>
              <a:rPr lang="en-US" dirty="0" err="1" smtClean="0"/>
              <a:t>yeteneğini</a:t>
            </a:r>
            <a:r>
              <a:rPr lang="en-US" dirty="0" smtClean="0"/>
              <a:t> </a:t>
            </a:r>
            <a:r>
              <a:rPr lang="en-US" dirty="0" err="1" smtClean="0"/>
              <a:t>doğrudan</a:t>
            </a:r>
            <a:r>
              <a:rPr lang="en-US" dirty="0" smtClean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parametreler</a:t>
            </a:r>
            <a:r>
              <a:rPr lang="en-US" dirty="0" smtClean="0"/>
              <a:t> </a:t>
            </a:r>
            <a:r>
              <a:rPr lang="en-US" dirty="0" err="1" smtClean="0"/>
              <a:t>belirliyor</a:t>
            </a:r>
            <a:r>
              <a:rPr lang="en-US" dirty="0" smtClean="0"/>
              <a:t>. </a:t>
            </a:r>
            <a:r>
              <a:rPr lang="en-US" dirty="0" err="1" smtClean="0"/>
              <a:t>Yüksek</a:t>
            </a:r>
            <a:r>
              <a:rPr lang="en-US" dirty="0" smtClean="0"/>
              <a:t> </a:t>
            </a:r>
            <a:r>
              <a:rPr lang="en-US" dirty="0" err="1" smtClean="0"/>
              <a:t>parametre</a:t>
            </a:r>
            <a:r>
              <a:rPr lang="en-US" dirty="0" smtClean="0"/>
              <a:t> </a:t>
            </a:r>
            <a:r>
              <a:rPr lang="en-US" dirty="0" err="1" smtClean="0"/>
              <a:t>sayısı</a:t>
            </a:r>
            <a:r>
              <a:rPr lang="en-US" dirty="0" smtClean="0"/>
              <a:t>, </a:t>
            </a:r>
            <a:r>
              <a:rPr lang="en-US" dirty="0" err="1" smtClean="0"/>
              <a:t>dilin</a:t>
            </a:r>
            <a:r>
              <a:rPr lang="en-US" dirty="0" smtClean="0"/>
              <a:t> </a:t>
            </a:r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 smtClean="0"/>
              <a:t>ince</a:t>
            </a:r>
            <a:r>
              <a:rPr lang="en-US" dirty="0" smtClean="0"/>
              <a:t> </a:t>
            </a:r>
            <a:r>
              <a:rPr lang="en-US" dirty="0" err="1" smtClean="0"/>
              <a:t>nüanslarını</a:t>
            </a:r>
            <a:r>
              <a:rPr lang="en-US" dirty="0" smtClean="0"/>
              <a:t> </a:t>
            </a:r>
            <a:r>
              <a:rPr lang="en-US" dirty="0" err="1" smtClean="0"/>
              <a:t>öğrenme</a:t>
            </a:r>
            <a:r>
              <a:rPr lang="en-US" dirty="0" smtClean="0"/>
              <a:t> </a:t>
            </a:r>
            <a:r>
              <a:rPr lang="en-US" dirty="0" err="1" smtClean="0"/>
              <a:t>kapasitesi</a:t>
            </a:r>
            <a:r>
              <a:rPr lang="en-US" dirty="0" smtClean="0"/>
              <a:t> </a:t>
            </a:r>
            <a:r>
              <a:rPr lang="en-US" dirty="0" err="1" smtClean="0"/>
              <a:t>anlamına</a:t>
            </a:r>
            <a:r>
              <a:rPr lang="en-US" dirty="0" smtClean="0"/>
              <a:t> </a:t>
            </a:r>
            <a:r>
              <a:rPr lang="en-US" dirty="0" err="1" smtClean="0"/>
              <a:t>geliyor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setleri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 </a:t>
            </a:r>
            <a:r>
              <a:rPr lang="en-US" dirty="0" err="1" smtClean="0"/>
              <a:t>modelin</a:t>
            </a:r>
            <a:r>
              <a:rPr lang="en-US" dirty="0" smtClean="0"/>
              <a:t> </a:t>
            </a:r>
            <a:r>
              <a:rPr lang="en-US" dirty="0" err="1" smtClean="0"/>
              <a:t>okuduğu</a:t>
            </a:r>
            <a:r>
              <a:rPr lang="en-US" dirty="0" smtClean="0"/>
              <a:t> </a:t>
            </a:r>
            <a:r>
              <a:rPr lang="en-US" dirty="0" err="1" smtClean="0"/>
              <a:t>kitaplığı</a:t>
            </a:r>
            <a:r>
              <a:rPr lang="en-US" dirty="0" smtClean="0"/>
              <a:t> </a:t>
            </a:r>
            <a:r>
              <a:rPr lang="en-US" dirty="0" err="1" smtClean="0"/>
              <a:t>temsil</a:t>
            </a:r>
            <a:r>
              <a:rPr lang="en-US" dirty="0" smtClean="0"/>
              <a:t> </a:t>
            </a:r>
            <a:r>
              <a:rPr lang="en-US" dirty="0" err="1" smtClean="0"/>
              <a:t>ediyor</a:t>
            </a:r>
            <a:r>
              <a:rPr lang="en-US" dirty="0" smtClean="0"/>
              <a:t>. Bu </a:t>
            </a:r>
            <a:r>
              <a:rPr lang="en-US" dirty="0" err="1" smtClean="0"/>
              <a:t>kitaplık</a:t>
            </a:r>
            <a:r>
              <a:rPr lang="en-US" dirty="0" smtClean="0"/>
              <a:t>, </a:t>
            </a:r>
            <a:r>
              <a:rPr lang="en-US" dirty="0" err="1" smtClean="0"/>
              <a:t>internetin</a:t>
            </a:r>
            <a:r>
              <a:rPr lang="en-US" dirty="0" smtClean="0"/>
              <a:t> </a:t>
            </a:r>
            <a:r>
              <a:rPr lang="en-US" dirty="0" err="1" smtClean="0"/>
              <a:t>neredeyse</a:t>
            </a:r>
            <a:r>
              <a:rPr lang="en-US" dirty="0" smtClean="0"/>
              <a:t> </a:t>
            </a:r>
            <a:r>
              <a:rPr lang="en-US" dirty="0" err="1" smtClean="0"/>
              <a:t>tamamını</a:t>
            </a:r>
            <a:r>
              <a:rPr lang="en-US" dirty="0" smtClean="0"/>
              <a:t>, </a:t>
            </a:r>
            <a:r>
              <a:rPr lang="en-US" dirty="0" err="1" smtClean="0"/>
              <a:t>kitapları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makaleleri</a:t>
            </a:r>
            <a:r>
              <a:rPr lang="en-US" dirty="0" smtClean="0"/>
              <a:t> </a:t>
            </a:r>
            <a:r>
              <a:rPr lang="en-US" dirty="0" err="1" smtClean="0"/>
              <a:t>içeriyor</a:t>
            </a:r>
            <a:r>
              <a:rPr lang="en-US" dirty="0" smtClean="0"/>
              <a:t>. </a:t>
            </a:r>
            <a:r>
              <a:rPr lang="en-US" dirty="0" err="1" smtClean="0"/>
              <a:t>Verinin</a:t>
            </a:r>
            <a:r>
              <a:rPr lang="en-US" dirty="0" smtClean="0"/>
              <a:t> </a:t>
            </a:r>
            <a:r>
              <a:rPr lang="en-US" dirty="0" err="1" smtClean="0"/>
              <a:t>büyüklüğü</a:t>
            </a:r>
            <a:r>
              <a:rPr lang="en-US" dirty="0" smtClean="0"/>
              <a:t>, </a:t>
            </a:r>
            <a:r>
              <a:rPr lang="en-US" dirty="0" err="1" smtClean="0"/>
              <a:t>modelin</a:t>
            </a:r>
            <a:r>
              <a:rPr lang="en-US" dirty="0" smtClean="0"/>
              <a:t> </a:t>
            </a:r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 smtClean="0"/>
              <a:t>fazla</a:t>
            </a:r>
            <a:r>
              <a:rPr lang="en-US" dirty="0" smtClean="0"/>
              <a:t> </a:t>
            </a:r>
            <a:r>
              <a:rPr lang="en-US" dirty="0" err="1" smtClean="0"/>
              <a:t>bilgiye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bağlama</a:t>
            </a:r>
            <a:r>
              <a:rPr lang="en-US" dirty="0" smtClean="0"/>
              <a:t> </a:t>
            </a:r>
            <a:r>
              <a:rPr lang="en-US" dirty="0" err="1" smtClean="0"/>
              <a:t>maruz</a:t>
            </a:r>
            <a:r>
              <a:rPr lang="en-US" dirty="0" smtClean="0"/>
              <a:t> </a:t>
            </a:r>
            <a:r>
              <a:rPr lang="en-US" dirty="0" err="1" smtClean="0"/>
              <a:t>kalması</a:t>
            </a:r>
            <a:r>
              <a:rPr lang="en-US" dirty="0" smtClean="0"/>
              <a:t> </a:t>
            </a:r>
            <a:r>
              <a:rPr lang="en-US" dirty="0" err="1" smtClean="0"/>
              <a:t>demek</a:t>
            </a:r>
            <a:r>
              <a:rPr lang="en-US" dirty="0" smtClean="0"/>
              <a:t>.</a:t>
            </a:r>
            <a:endParaRPr lang="tr-TR" b="1" dirty="0" smtClean="0"/>
          </a:p>
          <a:p>
            <a:pPr marL="0" indent="0">
              <a:buNone/>
            </a:pPr>
            <a:r>
              <a:rPr lang="en-US" b="1" dirty="0" smtClean="0"/>
              <a:t>LLM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Geleneksel</a:t>
            </a:r>
            <a:r>
              <a:rPr lang="en-US" b="1" dirty="0"/>
              <a:t> </a:t>
            </a: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Modelleri</a:t>
            </a:r>
            <a:r>
              <a:rPr lang="en-US" b="1" dirty="0"/>
              <a:t> </a:t>
            </a:r>
            <a:r>
              <a:rPr lang="en-US" b="1" dirty="0" err="1"/>
              <a:t>Arasındaki</a:t>
            </a:r>
            <a:r>
              <a:rPr lang="en-US" b="1" dirty="0"/>
              <a:t> </a:t>
            </a:r>
            <a:r>
              <a:rPr lang="en-US" b="1" dirty="0" err="1"/>
              <a:t>Farklar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model </a:t>
            </a:r>
            <a:r>
              <a:rPr lang="en-US" dirty="0" err="1"/>
              <a:t>ailesi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yapısal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uçurum</a:t>
            </a:r>
            <a:r>
              <a:rPr lang="en-US" dirty="0"/>
              <a:t> </a:t>
            </a:r>
            <a:r>
              <a:rPr lang="en-US" dirty="0" err="1"/>
              <a:t>bulunuyor</a:t>
            </a:r>
            <a:r>
              <a:rPr lang="en-US" dirty="0"/>
              <a:t>. N-gram </a:t>
            </a:r>
            <a:r>
              <a:rPr lang="en-US" dirty="0" err="1"/>
              <a:t>veya</a:t>
            </a:r>
            <a:r>
              <a:rPr lang="en-US" dirty="0"/>
              <a:t> RNN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geleneksel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dünyaya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pencereden</a:t>
            </a:r>
            <a:r>
              <a:rPr lang="en-US" dirty="0"/>
              <a:t> </a:t>
            </a:r>
            <a:r>
              <a:rPr lang="en-US" dirty="0" err="1"/>
              <a:t>bakıyor</a:t>
            </a:r>
            <a:r>
              <a:rPr lang="en-US" dirty="0"/>
              <a:t>. </a:t>
            </a:r>
            <a:r>
              <a:rPr lang="en-US" dirty="0" err="1"/>
              <a:t>Genellikle</a:t>
            </a:r>
            <a:r>
              <a:rPr lang="en-US" dirty="0"/>
              <a:t> </a:t>
            </a:r>
            <a:r>
              <a:rPr lang="en-US" dirty="0" err="1"/>
              <a:t>kural</a:t>
            </a:r>
            <a:r>
              <a:rPr lang="en-US" dirty="0"/>
              <a:t>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birkaç</a:t>
            </a:r>
            <a:r>
              <a:rPr lang="en-US" dirty="0"/>
              <a:t> </a:t>
            </a:r>
            <a:r>
              <a:rPr lang="en-US" dirty="0" err="1"/>
              <a:t>kelimelik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bağlamı</a:t>
            </a:r>
            <a:r>
              <a:rPr lang="en-US" dirty="0"/>
              <a:t> </a:t>
            </a:r>
            <a:r>
              <a:rPr lang="en-US" dirty="0" err="1"/>
              <a:t>hatırlıyorlar</a:t>
            </a:r>
            <a:r>
              <a:rPr lang="en-US" dirty="0"/>
              <a:t>.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cümlenin</a:t>
            </a:r>
            <a:r>
              <a:rPr lang="en-US" dirty="0"/>
              <a:t> </a:t>
            </a:r>
            <a:r>
              <a:rPr lang="en-US" dirty="0" err="1"/>
              <a:t>anlamını</a:t>
            </a:r>
            <a:r>
              <a:rPr lang="en-US" dirty="0"/>
              <a:t> </a:t>
            </a:r>
            <a:r>
              <a:rPr lang="en-US" dirty="0" err="1"/>
              <a:t>çözmek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kelimelere</a:t>
            </a:r>
            <a:r>
              <a:rPr lang="en-US" dirty="0"/>
              <a:t> </a:t>
            </a:r>
            <a:r>
              <a:rPr lang="en-US" dirty="0" err="1"/>
              <a:t>odaklanıyorlar</a:t>
            </a:r>
            <a:r>
              <a:rPr lang="en-US" dirty="0"/>
              <a:t>. Bu da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anlama</a:t>
            </a:r>
            <a:r>
              <a:rPr lang="en-US" dirty="0"/>
              <a:t> </a:t>
            </a:r>
            <a:r>
              <a:rPr lang="en-US" dirty="0" err="1"/>
              <a:t>geliyor</a:t>
            </a:r>
            <a:r>
              <a:rPr lang="en-US" dirty="0"/>
              <a:t>: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metnin</a:t>
            </a:r>
            <a:r>
              <a:rPr lang="en-US" dirty="0"/>
              <a:t> </a:t>
            </a:r>
            <a:r>
              <a:rPr lang="en-US" dirty="0" err="1"/>
              <a:t>başında</a:t>
            </a:r>
            <a:r>
              <a:rPr lang="en-US" dirty="0"/>
              <a:t> ne </a:t>
            </a:r>
            <a:r>
              <a:rPr lang="en-US" dirty="0" err="1"/>
              <a:t>söylendiğini</a:t>
            </a:r>
            <a:r>
              <a:rPr lang="en-US" dirty="0"/>
              <a:t>, </a:t>
            </a:r>
            <a:r>
              <a:rPr lang="en-US" dirty="0" err="1"/>
              <a:t>paragrafın</a:t>
            </a:r>
            <a:r>
              <a:rPr lang="en-US" dirty="0"/>
              <a:t> </a:t>
            </a:r>
            <a:r>
              <a:rPr lang="en-US" dirty="0" err="1"/>
              <a:t>sonuna</a:t>
            </a:r>
            <a:r>
              <a:rPr lang="en-US" dirty="0"/>
              <a:t> </a:t>
            </a:r>
            <a:r>
              <a:rPr lang="en-US" dirty="0" err="1"/>
              <a:t>geldiklerinde</a:t>
            </a:r>
            <a:r>
              <a:rPr lang="en-US" dirty="0"/>
              <a:t> </a:t>
            </a:r>
            <a:r>
              <a:rPr lang="en-US" dirty="0" err="1"/>
              <a:t>çoktan</a:t>
            </a:r>
            <a:r>
              <a:rPr lang="en-US" dirty="0"/>
              <a:t> </a:t>
            </a:r>
            <a:r>
              <a:rPr lang="en-US" dirty="0" err="1"/>
              <a:t>unutmuş</a:t>
            </a:r>
            <a:r>
              <a:rPr lang="en-US" dirty="0"/>
              <a:t> </a:t>
            </a:r>
            <a:r>
              <a:rPr lang="en-US" dirty="0" err="1"/>
              <a:t>oluyorlar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LLM'ler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hafıza</a:t>
            </a:r>
            <a:r>
              <a:rPr lang="en-US" dirty="0"/>
              <a:t> </a:t>
            </a:r>
            <a:r>
              <a:rPr lang="en-US" dirty="0" err="1"/>
              <a:t>sorununu</a:t>
            </a:r>
            <a:r>
              <a:rPr lang="en-US" dirty="0"/>
              <a:t> </a:t>
            </a:r>
            <a:r>
              <a:rPr lang="en-US" dirty="0" err="1"/>
              <a:t>aşıyor</a:t>
            </a:r>
            <a:r>
              <a:rPr lang="en-US" dirty="0"/>
              <a:t>. Transformer </a:t>
            </a:r>
            <a:r>
              <a:rPr lang="en-US" dirty="0" err="1"/>
              <a:t>mimarisi</a:t>
            </a:r>
            <a:r>
              <a:rPr lang="en-US" dirty="0"/>
              <a:t>,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binlerce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uzunluğundaki</a:t>
            </a:r>
            <a:r>
              <a:rPr lang="en-US" dirty="0"/>
              <a:t> </a:t>
            </a:r>
            <a:r>
              <a:rPr lang="en-US" dirty="0" err="1"/>
              <a:t>devasa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bağlamı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seferde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etme</a:t>
            </a:r>
            <a:r>
              <a:rPr lang="en-US" dirty="0"/>
              <a:t> </a:t>
            </a:r>
            <a:r>
              <a:rPr lang="en-US" dirty="0" err="1"/>
              <a:t>yeteneği</a:t>
            </a:r>
            <a:r>
              <a:rPr lang="en-US" dirty="0"/>
              <a:t> </a:t>
            </a:r>
            <a:r>
              <a:rPr lang="en-US" dirty="0" err="1"/>
              <a:t>veriyor</a:t>
            </a:r>
            <a:r>
              <a:rPr lang="en-US" dirty="0"/>
              <a:t>.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yanındaki</a:t>
            </a:r>
            <a:r>
              <a:rPr lang="en-US" dirty="0"/>
              <a:t> </a:t>
            </a:r>
            <a:r>
              <a:rPr lang="en-US" dirty="0" err="1"/>
              <a:t>kelimeye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metnin</a:t>
            </a:r>
            <a:r>
              <a:rPr lang="en-US" dirty="0"/>
              <a:t> </a:t>
            </a:r>
            <a:r>
              <a:rPr lang="en-US" dirty="0" err="1"/>
              <a:t>tamamına</a:t>
            </a:r>
            <a:r>
              <a:rPr lang="en-US" dirty="0"/>
              <a:t> </a:t>
            </a:r>
            <a:r>
              <a:rPr lang="en-US" dirty="0" err="1"/>
              <a:t>dikkat</a:t>
            </a:r>
            <a:r>
              <a:rPr lang="en-US" dirty="0"/>
              <a:t> </a:t>
            </a:r>
            <a:r>
              <a:rPr lang="en-US" dirty="0" err="1"/>
              <a:t>ediyorlar</a:t>
            </a:r>
            <a:r>
              <a:rPr lang="en-US" dirty="0"/>
              <a:t>. Bu </a:t>
            </a:r>
            <a:r>
              <a:rPr lang="en-US" dirty="0" err="1"/>
              <a:t>muazzam</a:t>
            </a:r>
            <a:r>
              <a:rPr lang="en-US" dirty="0"/>
              <a:t> </a:t>
            </a:r>
            <a:r>
              <a:rPr lang="en-US" dirty="0" err="1"/>
              <a:t>fark</a:t>
            </a:r>
            <a:r>
              <a:rPr lang="en-US" dirty="0"/>
              <a:t>, </a:t>
            </a:r>
            <a:r>
              <a:rPr lang="en-US" dirty="0" err="1"/>
              <a:t>LLM'lere</a:t>
            </a:r>
            <a:r>
              <a:rPr lang="en-US" dirty="0"/>
              <a:t>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konuları</a:t>
            </a:r>
            <a:r>
              <a:rPr lang="en-US" dirty="0"/>
              <a:t> </a:t>
            </a:r>
            <a:r>
              <a:rPr lang="en-US" dirty="0" err="1"/>
              <a:t>anlama</a:t>
            </a:r>
            <a:r>
              <a:rPr lang="en-US" dirty="0"/>
              <a:t>,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akıl</a:t>
            </a:r>
            <a:r>
              <a:rPr lang="en-US" dirty="0"/>
              <a:t> </a:t>
            </a:r>
            <a:r>
              <a:rPr lang="en-US" dirty="0" err="1"/>
              <a:t>yürütme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baştan</a:t>
            </a:r>
            <a:r>
              <a:rPr lang="en-US" dirty="0"/>
              <a:t> </a:t>
            </a:r>
            <a:r>
              <a:rPr lang="en-US" dirty="0" err="1"/>
              <a:t>sona</a:t>
            </a:r>
            <a:r>
              <a:rPr lang="en-US" dirty="0"/>
              <a:t> </a:t>
            </a:r>
            <a:r>
              <a:rPr lang="en-US" dirty="0" err="1"/>
              <a:t>anlamlı</a:t>
            </a:r>
            <a:r>
              <a:rPr lang="en-US" dirty="0"/>
              <a:t> </a:t>
            </a:r>
            <a:r>
              <a:rPr lang="en-US" dirty="0" err="1"/>
              <a:t>metinler</a:t>
            </a:r>
            <a:r>
              <a:rPr lang="en-US" dirty="0"/>
              <a:t> </a:t>
            </a:r>
            <a:r>
              <a:rPr lang="en-US" dirty="0" err="1"/>
              <a:t>üretme</a:t>
            </a:r>
            <a:r>
              <a:rPr lang="en-US" dirty="0"/>
              <a:t> </a:t>
            </a:r>
            <a:r>
              <a:rPr lang="en-US" dirty="0" err="1"/>
              <a:t>gücünü</a:t>
            </a:r>
            <a:r>
              <a:rPr lang="en-US" dirty="0"/>
              <a:t> </a:t>
            </a:r>
            <a:r>
              <a:rPr lang="en-US" dirty="0" err="1"/>
              <a:t>kazandırıyor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8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510609"/>
              </p:ext>
            </p:extLst>
          </p:nvPr>
        </p:nvGraphicFramePr>
        <p:xfrm>
          <a:off x="365759" y="626202"/>
          <a:ext cx="11370834" cy="5892930"/>
        </p:xfrm>
        <a:graphic>
          <a:graphicData uri="http://schemas.openxmlformats.org/drawingml/2006/table">
            <a:tbl>
              <a:tblPr/>
              <a:tblGrid>
                <a:gridCol w="3790278"/>
                <a:gridCol w="3790278"/>
                <a:gridCol w="3790278"/>
              </a:tblGrid>
              <a:tr h="1309540">
                <a:tc>
                  <a:txBody>
                    <a:bodyPr/>
                    <a:lstStyle/>
                    <a:p>
                      <a:pPr fontAlgn="t"/>
                      <a:r>
                        <a:rPr lang="en-US" b="1" dirty="0" err="1">
                          <a:solidFill>
                            <a:srgbClr val="5F6B76"/>
                          </a:solidFill>
                          <a:effectLst/>
                        </a:rPr>
                        <a:t>Özellik</a:t>
                      </a:r>
                      <a:endParaRPr lang="en-US" dirty="0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5F6B76"/>
                          </a:solidFill>
                          <a:effectLst/>
                        </a:rPr>
                        <a:t>Geleneksel Dil Modelleri(Örn. N-gram, RNN)</a:t>
                      </a:r>
                      <a:endParaRPr lang="en-US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5F6B76"/>
                          </a:solidFill>
                          <a:effectLst/>
                        </a:rPr>
                        <a:t>Büyük Dil Modelleri (LLM)</a:t>
                      </a:r>
                      <a:endParaRPr lang="en-US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</a:tr>
              <a:tr h="916678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5F6B76"/>
                          </a:solidFill>
                          <a:effectLst/>
                        </a:rPr>
                        <a:t>Mimari</a:t>
                      </a:r>
                      <a:endParaRPr lang="en-US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İstatistiksel, kural tabanlı, RNN/LSTM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Transformer (Dikkat mekanizması)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6678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5F6B76"/>
                          </a:solidFill>
                          <a:effectLst/>
                        </a:rPr>
                        <a:t>Bağlam</a:t>
                      </a:r>
                      <a:endParaRPr lang="en-US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Kısa, sınırlı bağlam penceresi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Çok uzun, karmaşık bağlamı anlama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</a:tr>
              <a:tr h="916678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5F6B76"/>
                          </a:solidFill>
                          <a:effectLst/>
                        </a:rPr>
                        <a:t>Veri Boyutu</a:t>
                      </a:r>
                      <a:endParaRPr lang="en-US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Küçük ve etiketli veri setleri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Petabaytlarca ham metin (İnternet)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6678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5F6B76"/>
                          </a:solidFill>
                          <a:effectLst/>
                        </a:rPr>
                        <a:t>Parametre</a:t>
                      </a:r>
                      <a:endParaRPr lang="en-US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Binler veya milyonlar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Milyarlarca veya trilyonlarca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</a:tr>
              <a:tr h="916678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5F6B76"/>
                          </a:solidFill>
                          <a:effectLst/>
                        </a:rPr>
                        <a:t>Yetenek</a:t>
                      </a:r>
                      <a:endParaRPr lang="en-US">
                        <a:solidFill>
                          <a:srgbClr val="5F6B76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5F6B76"/>
                          </a:solidFill>
                          <a:effectLst/>
                        </a:rPr>
                        <a:t>Tek görev odaklı (Örn.: çeviri, duygu analizi)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>
                          <a:solidFill>
                            <a:srgbClr val="5F6B76"/>
                          </a:solidFill>
                          <a:effectLst/>
                        </a:rPr>
                        <a:t>Çok</a:t>
                      </a:r>
                      <a:r>
                        <a:rPr lang="en-US" dirty="0">
                          <a:solidFill>
                            <a:srgbClr val="5F6B76"/>
                          </a:solidFill>
                          <a:effectLst/>
                        </a:rPr>
                        <a:t> </a:t>
                      </a:r>
                      <a:r>
                        <a:rPr lang="en-US" dirty="0" err="1">
                          <a:solidFill>
                            <a:srgbClr val="5F6B76"/>
                          </a:solidFill>
                          <a:effectLst/>
                        </a:rPr>
                        <a:t>görevli</a:t>
                      </a:r>
                      <a:r>
                        <a:rPr lang="en-US" dirty="0">
                          <a:solidFill>
                            <a:srgbClr val="5F6B76"/>
                          </a:solidFill>
                          <a:effectLst/>
                        </a:rPr>
                        <a:t> (</a:t>
                      </a:r>
                      <a:r>
                        <a:rPr lang="en-US" dirty="0" err="1">
                          <a:solidFill>
                            <a:srgbClr val="5F6B76"/>
                          </a:solidFill>
                          <a:effectLst/>
                        </a:rPr>
                        <a:t>üretim</a:t>
                      </a:r>
                      <a:r>
                        <a:rPr lang="en-US" dirty="0">
                          <a:solidFill>
                            <a:srgbClr val="5F6B76"/>
                          </a:solidFill>
                          <a:effectLst/>
                        </a:rPr>
                        <a:t>, </a:t>
                      </a:r>
                      <a:r>
                        <a:rPr lang="en-US" dirty="0" err="1">
                          <a:solidFill>
                            <a:srgbClr val="5F6B76"/>
                          </a:solidFill>
                          <a:effectLst/>
                        </a:rPr>
                        <a:t>özet</a:t>
                      </a:r>
                      <a:r>
                        <a:rPr lang="en-US" dirty="0">
                          <a:solidFill>
                            <a:srgbClr val="5F6B76"/>
                          </a:solidFill>
                          <a:effectLst/>
                        </a:rPr>
                        <a:t>, </a:t>
                      </a:r>
                      <a:r>
                        <a:rPr lang="en-US" dirty="0" err="1">
                          <a:solidFill>
                            <a:srgbClr val="5F6B76"/>
                          </a:solidFill>
                          <a:effectLst/>
                        </a:rPr>
                        <a:t>sohbet</a:t>
                      </a:r>
                      <a:r>
                        <a:rPr lang="en-US" dirty="0">
                          <a:solidFill>
                            <a:srgbClr val="5F6B76"/>
                          </a:solidFill>
                          <a:effectLst/>
                        </a:rPr>
                        <a:t>, </a:t>
                      </a:r>
                      <a:r>
                        <a:rPr lang="en-US" dirty="0" err="1">
                          <a:solidFill>
                            <a:srgbClr val="5F6B76"/>
                          </a:solidFill>
                          <a:effectLst/>
                        </a:rPr>
                        <a:t>kodlama</a:t>
                      </a:r>
                      <a:r>
                        <a:rPr lang="en-US" dirty="0">
                          <a:solidFill>
                            <a:srgbClr val="5F6B76"/>
                          </a:solidFill>
                          <a:effectLst/>
                        </a:rPr>
                        <a:t>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76" y="-50904"/>
            <a:ext cx="14558682" cy="677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2000" b="1" i="0" u="none" strike="noStrike" cap="none" normalizeH="0" baseline="0" dirty="0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   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Geleneksel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Dil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Modelleri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ve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 LLM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5F6B76"/>
                </a:solidFill>
                <a:effectLst/>
                <a:latin typeface="greycliff"/>
              </a:rPr>
              <a:t>Karşılaştırması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173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Parametre</a:t>
            </a:r>
            <a:r>
              <a:rPr lang="en-US" b="1" dirty="0"/>
              <a:t> </a:t>
            </a:r>
            <a:r>
              <a:rPr lang="en-US" b="1" dirty="0" err="1"/>
              <a:t>Sayısı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Veri</a:t>
            </a:r>
            <a:r>
              <a:rPr lang="en-US" b="1" dirty="0"/>
              <a:t> </a:t>
            </a:r>
            <a:r>
              <a:rPr lang="en-US" b="1" dirty="0" err="1"/>
              <a:t>Setlerinin</a:t>
            </a:r>
            <a:r>
              <a:rPr lang="en-US" b="1" dirty="0"/>
              <a:t> </a:t>
            </a:r>
            <a:r>
              <a:rPr lang="en-US" b="1" dirty="0" err="1"/>
              <a:t>Rolü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kapasitesini</a:t>
            </a:r>
            <a:r>
              <a:rPr lang="en-US" dirty="0"/>
              <a:t> </a:t>
            </a:r>
            <a:r>
              <a:rPr lang="en-US" dirty="0" err="1"/>
              <a:t>anlamak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sayısına</a:t>
            </a:r>
            <a:r>
              <a:rPr lang="en-US" dirty="0"/>
              <a:t> </a:t>
            </a:r>
            <a:r>
              <a:rPr lang="en-US" dirty="0" err="1"/>
              <a:t>bakılması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. Bu </a:t>
            </a:r>
            <a:r>
              <a:rPr lang="en-US" dirty="0" err="1"/>
              <a:t>sayı</a:t>
            </a:r>
            <a:r>
              <a:rPr lang="en-US" dirty="0"/>
              <a:t>,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bilgiyi</a:t>
            </a:r>
            <a:r>
              <a:rPr lang="en-US" dirty="0"/>
              <a:t>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akıl</a:t>
            </a:r>
            <a:r>
              <a:rPr lang="en-US" dirty="0"/>
              <a:t> </a:t>
            </a:r>
            <a:r>
              <a:rPr lang="en-US" dirty="0" err="1"/>
              <a:t>yürütme</a:t>
            </a:r>
            <a:r>
              <a:rPr lang="en-US" dirty="0"/>
              <a:t> </a:t>
            </a:r>
            <a:r>
              <a:rPr lang="en-US" dirty="0" err="1"/>
              <a:t>gücünü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. Bu </a:t>
            </a:r>
            <a:r>
              <a:rPr lang="en-US" dirty="0" err="1"/>
              <a:t>alandaki</a:t>
            </a:r>
            <a:r>
              <a:rPr lang="en-US" dirty="0"/>
              <a:t> </a:t>
            </a:r>
            <a:r>
              <a:rPr lang="en-US" dirty="0" err="1"/>
              <a:t>hız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baş</a:t>
            </a:r>
            <a:r>
              <a:rPr lang="en-US" dirty="0"/>
              <a:t> </a:t>
            </a:r>
            <a:r>
              <a:rPr lang="en-US" dirty="0" err="1"/>
              <a:t>döndürücü</a:t>
            </a:r>
            <a:r>
              <a:rPr lang="en-US" dirty="0"/>
              <a:t>.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düşünün</a:t>
            </a:r>
            <a:r>
              <a:rPr lang="en-US" dirty="0"/>
              <a:t>; 2018'de </a:t>
            </a:r>
            <a:r>
              <a:rPr lang="en-US" b="1" dirty="0"/>
              <a:t>BERT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milyonlarca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kullanıyor</a:t>
            </a:r>
            <a:r>
              <a:rPr lang="en-US" dirty="0"/>
              <a:t>,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o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inanılmaz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rakam</a:t>
            </a:r>
            <a:r>
              <a:rPr lang="en-US" dirty="0"/>
              <a:t>.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yıl</a:t>
            </a:r>
            <a:r>
              <a:rPr lang="en-US" dirty="0"/>
              <a:t> </a:t>
            </a:r>
            <a:r>
              <a:rPr lang="en-US" dirty="0" err="1"/>
              <a:t>ileride</a:t>
            </a:r>
            <a:r>
              <a:rPr lang="en-US" dirty="0"/>
              <a:t>, 2020’de </a:t>
            </a:r>
            <a:r>
              <a:rPr lang="en-US" b="1" dirty="0"/>
              <a:t>GPT-3</a:t>
            </a:r>
            <a:r>
              <a:rPr lang="en-US" dirty="0"/>
              <a:t> </a:t>
            </a:r>
            <a:r>
              <a:rPr lang="en-US" dirty="0" err="1"/>
              <a:t>geliyor</a:t>
            </a:r>
            <a:r>
              <a:rPr lang="en-US" dirty="0"/>
              <a:t>.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tam 175 </a:t>
            </a:r>
            <a:r>
              <a:rPr lang="en-US" dirty="0" err="1"/>
              <a:t>milyar</a:t>
            </a:r>
            <a:r>
              <a:rPr lang="en-US" dirty="0"/>
              <a:t>. Bu, </a:t>
            </a:r>
            <a:r>
              <a:rPr lang="en-US" dirty="0" err="1"/>
              <a:t>oyunun</a:t>
            </a:r>
            <a:r>
              <a:rPr lang="en-US" dirty="0"/>
              <a:t> </a:t>
            </a:r>
            <a:r>
              <a:rPr lang="en-US" dirty="0" err="1"/>
              <a:t>kurallarını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yazan</a:t>
            </a:r>
            <a:r>
              <a:rPr lang="en-US" dirty="0"/>
              <a:t>, </a:t>
            </a:r>
            <a:r>
              <a:rPr lang="en-US" dirty="0" err="1"/>
              <a:t>çıtayı</a:t>
            </a:r>
            <a:r>
              <a:rPr lang="en-US" dirty="0"/>
              <a:t> </a:t>
            </a:r>
            <a:r>
              <a:rPr lang="en-US" dirty="0" err="1"/>
              <a:t>arşa</a:t>
            </a:r>
            <a:r>
              <a:rPr lang="en-US" dirty="0"/>
              <a:t> </a:t>
            </a:r>
            <a:r>
              <a:rPr lang="en-US" dirty="0" err="1"/>
              <a:t>çıkaran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sıçrama</a:t>
            </a:r>
            <a:r>
              <a:rPr lang="en-US" dirty="0"/>
              <a:t> </a:t>
            </a:r>
            <a:r>
              <a:rPr lang="en-US" dirty="0" err="1"/>
              <a:t>oluyor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Bugün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b="1" dirty="0"/>
              <a:t>GPT-4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nesil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konuşuluyor</a:t>
            </a:r>
            <a:r>
              <a:rPr lang="en-US" dirty="0"/>
              <a:t>. </a:t>
            </a:r>
            <a:r>
              <a:rPr lang="en-US" dirty="0" err="1"/>
              <a:t>Kesin</a:t>
            </a:r>
            <a:r>
              <a:rPr lang="en-US" dirty="0"/>
              <a:t> </a:t>
            </a:r>
            <a:r>
              <a:rPr lang="en-US" dirty="0" err="1"/>
              <a:t>rakamlar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sır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saklansa</a:t>
            </a:r>
            <a:r>
              <a:rPr lang="en-US" dirty="0"/>
              <a:t> da, </a:t>
            </a:r>
            <a:r>
              <a:rPr lang="en-US" dirty="0" err="1"/>
              <a:t>sektördeki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kanı</a:t>
            </a:r>
            <a:r>
              <a:rPr lang="en-US" dirty="0"/>
              <a:t> </a:t>
            </a:r>
            <a:r>
              <a:rPr lang="en-US" dirty="0" err="1"/>
              <a:t>trilyon</a:t>
            </a:r>
            <a:r>
              <a:rPr lang="en-US" dirty="0"/>
              <a:t> </a:t>
            </a:r>
            <a:r>
              <a:rPr lang="en-US" dirty="0" err="1"/>
              <a:t>parametrenin</a:t>
            </a:r>
            <a:r>
              <a:rPr lang="en-US" dirty="0"/>
              <a:t> </a:t>
            </a:r>
            <a:r>
              <a:rPr lang="en-US" dirty="0" err="1"/>
              <a:t>çoktan</a:t>
            </a:r>
            <a:r>
              <a:rPr lang="en-US" dirty="0"/>
              <a:t> </a:t>
            </a:r>
            <a:r>
              <a:rPr lang="en-US" dirty="0" err="1"/>
              <a:t>aşıldığı</a:t>
            </a:r>
            <a:r>
              <a:rPr lang="en-US" dirty="0"/>
              <a:t> </a:t>
            </a:r>
            <a:r>
              <a:rPr lang="en-US" dirty="0" err="1"/>
              <a:t>yönünde</a:t>
            </a:r>
            <a:r>
              <a:rPr lang="en-US" dirty="0"/>
              <a:t>. </a:t>
            </a:r>
            <a:r>
              <a:rPr lang="en-US" dirty="0" err="1"/>
              <a:t>Elbette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demek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</a:t>
            </a:r>
            <a:r>
              <a:rPr lang="en-US" dirty="0" err="1"/>
              <a:t>yetmiyor</a:t>
            </a:r>
            <a:r>
              <a:rPr lang="en-US" dirty="0"/>
              <a:t>. Bu </a:t>
            </a:r>
            <a:r>
              <a:rPr lang="en-US" dirty="0" err="1"/>
              <a:t>devasa</a:t>
            </a:r>
            <a:r>
              <a:rPr lang="en-US" dirty="0"/>
              <a:t> </a:t>
            </a:r>
            <a:r>
              <a:rPr lang="en-US" dirty="0" err="1"/>
              <a:t>beyni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besleyecek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 </a:t>
            </a:r>
            <a:r>
              <a:rPr lang="en-US" dirty="0" err="1"/>
              <a:t>öğretecek</a:t>
            </a:r>
            <a:r>
              <a:rPr lang="en-US" dirty="0"/>
              <a:t> </a:t>
            </a:r>
            <a:r>
              <a:rPr lang="en-US" dirty="0" err="1"/>
              <a:t>verilere</a:t>
            </a:r>
            <a:r>
              <a:rPr lang="en-US" dirty="0"/>
              <a:t> de </a:t>
            </a:r>
            <a:r>
              <a:rPr lang="en-US" dirty="0" err="1"/>
              <a:t>ihtiyacınız</a:t>
            </a:r>
            <a:r>
              <a:rPr lang="en-US" dirty="0"/>
              <a:t> var.</a:t>
            </a:r>
          </a:p>
          <a:p>
            <a:pPr marL="0" indent="0">
              <a:buNone/>
            </a:pP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setleri</a:t>
            </a:r>
            <a:r>
              <a:rPr lang="en-US" dirty="0"/>
              <a:t> de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yarışta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hızda</a:t>
            </a:r>
            <a:r>
              <a:rPr lang="en-US" dirty="0"/>
              <a:t> </a:t>
            </a:r>
            <a:r>
              <a:rPr lang="en-US" dirty="0" err="1"/>
              <a:t>büyüyor</a:t>
            </a:r>
            <a:r>
              <a:rPr lang="en-US" dirty="0"/>
              <a:t>. İlk </a:t>
            </a:r>
            <a:r>
              <a:rPr lang="en-US" dirty="0" err="1"/>
              <a:t>denemeler</a:t>
            </a:r>
            <a:r>
              <a:rPr lang="en-US" dirty="0"/>
              <a:t> </a:t>
            </a:r>
            <a:r>
              <a:rPr lang="en-US" dirty="0" err="1"/>
              <a:t>birkaç</a:t>
            </a:r>
            <a:r>
              <a:rPr lang="en-US" dirty="0"/>
              <a:t> </a:t>
            </a:r>
            <a:r>
              <a:rPr lang="en-US" dirty="0" err="1"/>
              <a:t>gigabaytlık</a:t>
            </a:r>
            <a:r>
              <a:rPr lang="en-US" dirty="0"/>
              <a:t> </a:t>
            </a:r>
            <a:r>
              <a:rPr lang="en-US" dirty="0" err="1"/>
              <a:t>metinlerle</a:t>
            </a:r>
            <a:r>
              <a:rPr lang="en-US" dirty="0"/>
              <a:t> </a:t>
            </a:r>
            <a:r>
              <a:rPr lang="en-US" dirty="0" err="1"/>
              <a:t>eğitilirken</a:t>
            </a:r>
            <a:r>
              <a:rPr lang="en-US" dirty="0"/>
              <a:t>, </a:t>
            </a:r>
            <a:r>
              <a:rPr lang="en-US" dirty="0" err="1"/>
              <a:t>günümüzün</a:t>
            </a:r>
            <a:r>
              <a:rPr lang="en-US" dirty="0"/>
              <a:t> modern </a:t>
            </a:r>
            <a:r>
              <a:rPr lang="en-US" dirty="0" err="1"/>
              <a:t>LLM'leri</a:t>
            </a:r>
            <a:r>
              <a:rPr lang="en-US" dirty="0"/>
              <a:t> </a:t>
            </a:r>
            <a:r>
              <a:rPr lang="en-US" dirty="0" err="1"/>
              <a:t>petabaytlarca</a:t>
            </a:r>
            <a:r>
              <a:rPr lang="en-US" dirty="0"/>
              <a:t> </a:t>
            </a:r>
            <a:r>
              <a:rPr lang="en-US" dirty="0" err="1"/>
              <a:t>veriyi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. </a:t>
            </a:r>
            <a:r>
              <a:rPr lang="en-US" dirty="0" err="1"/>
              <a:t>Petabayt</a:t>
            </a:r>
            <a:r>
              <a:rPr lang="en-US" dirty="0"/>
              <a:t>, </a:t>
            </a:r>
            <a:r>
              <a:rPr lang="en-US" dirty="0" err="1"/>
              <a:t>binlerce</a:t>
            </a:r>
            <a:r>
              <a:rPr lang="en-US" dirty="0"/>
              <a:t> </a:t>
            </a:r>
            <a:r>
              <a:rPr lang="en-US" dirty="0" err="1"/>
              <a:t>terabayt</a:t>
            </a:r>
            <a:r>
              <a:rPr lang="en-US" dirty="0"/>
              <a:t> </a:t>
            </a:r>
            <a:r>
              <a:rPr lang="en-US" dirty="0" err="1"/>
              <a:t>demek</a:t>
            </a:r>
            <a:r>
              <a:rPr lang="en-US" dirty="0"/>
              <a:t>. Bu </a:t>
            </a:r>
            <a:r>
              <a:rPr lang="en-US" dirty="0" err="1"/>
              <a:t>devasa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havuzu</a:t>
            </a:r>
            <a:r>
              <a:rPr lang="en-US" dirty="0"/>
              <a:t>,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dilleri</a:t>
            </a:r>
            <a:r>
              <a:rPr lang="en-US" dirty="0"/>
              <a:t>, </a:t>
            </a:r>
            <a:r>
              <a:rPr lang="en-US" dirty="0" err="1"/>
              <a:t>kültürleri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uzmanlık</a:t>
            </a:r>
            <a:r>
              <a:rPr lang="en-US" dirty="0"/>
              <a:t> </a:t>
            </a:r>
            <a:r>
              <a:rPr lang="en-US" dirty="0" err="1"/>
              <a:t>alanlarını</a:t>
            </a:r>
            <a:r>
              <a:rPr lang="en-US" dirty="0"/>
              <a:t> </a:t>
            </a:r>
            <a:r>
              <a:rPr lang="en-US" dirty="0" err="1"/>
              <a:t>öğrenmesini</a:t>
            </a:r>
            <a:r>
              <a:rPr lang="en-US" dirty="0"/>
              <a:t> </a:t>
            </a:r>
            <a:r>
              <a:rPr lang="en-US" dirty="0" err="1"/>
              <a:t>sağlıyor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7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 smtClean="0"/>
              <a:t>LLM’ler</a:t>
            </a:r>
            <a:r>
              <a:rPr lang="en-US" b="1" dirty="0" smtClean="0"/>
              <a:t> </a:t>
            </a:r>
            <a:r>
              <a:rPr lang="en-US" b="1" dirty="0" err="1" smtClean="0"/>
              <a:t>Nasıl</a:t>
            </a:r>
            <a:r>
              <a:rPr lang="en-US" b="1" dirty="0" smtClean="0"/>
              <a:t> </a:t>
            </a:r>
            <a:r>
              <a:rPr lang="en-US" b="1" dirty="0" err="1" smtClean="0"/>
              <a:t>Çalışır</a:t>
            </a:r>
            <a:r>
              <a:rPr lang="en-US" b="1" dirty="0" smtClean="0"/>
              <a:t>?</a:t>
            </a:r>
          </a:p>
          <a:p>
            <a:pPr marL="0" indent="0">
              <a:buNone/>
            </a:pPr>
            <a:r>
              <a:rPr lang="en-US" dirty="0" err="1" smtClean="0"/>
              <a:t>Büyük</a:t>
            </a:r>
            <a:r>
              <a:rPr lang="en-US" dirty="0" smtClean="0"/>
              <a:t> </a:t>
            </a:r>
            <a:r>
              <a:rPr lang="en-US" dirty="0" err="1" smtClean="0"/>
              <a:t>dil</a:t>
            </a:r>
            <a:r>
              <a:rPr lang="en-US" dirty="0" smtClean="0"/>
              <a:t> </a:t>
            </a:r>
            <a:r>
              <a:rPr lang="en-US" dirty="0" err="1" smtClean="0"/>
              <a:t>modelleri</a:t>
            </a:r>
            <a:r>
              <a:rPr lang="en-US" dirty="0" smtClean="0"/>
              <a:t>, </a:t>
            </a:r>
            <a:r>
              <a:rPr lang="en-US" dirty="0" err="1" smtClean="0"/>
              <a:t>gücünü</a:t>
            </a:r>
            <a:r>
              <a:rPr lang="en-US" dirty="0" smtClean="0"/>
              <a:t> </a:t>
            </a:r>
            <a:r>
              <a:rPr lang="en-US" dirty="0" err="1" smtClean="0"/>
              <a:t>derin</a:t>
            </a:r>
            <a:r>
              <a:rPr lang="en-US" dirty="0" smtClean="0"/>
              <a:t> </a:t>
            </a:r>
            <a:r>
              <a:rPr lang="en-US" dirty="0" err="1" smtClean="0"/>
              <a:t>öğrenme</a:t>
            </a:r>
            <a:r>
              <a:rPr lang="en-US" dirty="0" smtClean="0"/>
              <a:t> </a:t>
            </a:r>
            <a:r>
              <a:rPr lang="en-US" b="1" dirty="0" smtClean="0"/>
              <a:t>(deep learning)</a:t>
            </a:r>
            <a:r>
              <a:rPr lang="en-US" dirty="0" smtClean="0"/>
              <a:t> </a:t>
            </a:r>
            <a:r>
              <a:rPr lang="en-US" dirty="0" err="1" smtClean="0"/>
              <a:t>denen</a:t>
            </a:r>
            <a:r>
              <a:rPr lang="en-US" dirty="0" smtClean="0"/>
              <a:t> </a:t>
            </a:r>
            <a:r>
              <a:rPr lang="en-US" dirty="0" err="1" smtClean="0">
                <a:hlinkClick r:id="rId2"/>
              </a:rPr>
              <a:t>yapay</a:t>
            </a:r>
            <a:r>
              <a:rPr lang="en-US" dirty="0" smtClean="0">
                <a:hlinkClick r:id="rId2"/>
              </a:rPr>
              <a:t> </a:t>
            </a:r>
            <a:r>
              <a:rPr lang="en-US" dirty="0" err="1" smtClean="0">
                <a:hlinkClick r:id="rId2"/>
              </a:rPr>
              <a:t>zeka</a:t>
            </a:r>
            <a:r>
              <a:rPr lang="en-US" dirty="0" smtClean="0"/>
              <a:t> </a:t>
            </a:r>
            <a:r>
              <a:rPr lang="en-US" dirty="0" err="1" smtClean="0"/>
              <a:t>tekniğinden</a:t>
            </a:r>
            <a:r>
              <a:rPr lang="en-US" dirty="0" smtClean="0"/>
              <a:t> </a:t>
            </a:r>
            <a:r>
              <a:rPr lang="en-US" dirty="0" err="1" smtClean="0"/>
              <a:t>alıyor</a:t>
            </a:r>
            <a:r>
              <a:rPr lang="en-US" dirty="0" smtClean="0"/>
              <a:t>. Bu </a:t>
            </a:r>
            <a:r>
              <a:rPr lang="en-US" dirty="0" err="1" smtClean="0"/>
              <a:t>sistemlerin</a:t>
            </a:r>
            <a:r>
              <a:rPr lang="en-US" dirty="0" smtClean="0"/>
              <a:t> </a:t>
            </a:r>
            <a:r>
              <a:rPr lang="en-US" dirty="0" err="1" smtClean="0"/>
              <a:t>metni</a:t>
            </a:r>
            <a:r>
              <a:rPr lang="en-US" dirty="0" smtClean="0"/>
              <a:t> </a:t>
            </a:r>
            <a:r>
              <a:rPr lang="en-US" dirty="0" err="1" smtClean="0"/>
              <a:t>anlaması</a:t>
            </a:r>
            <a:r>
              <a:rPr lang="en-US" dirty="0" smtClean="0"/>
              <a:t>, </a:t>
            </a:r>
            <a:r>
              <a:rPr lang="en-US" dirty="0" err="1" smtClean="0"/>
              <a:t>bizim</a:t>
            </a:r>
            <a:r>
              <a:rPr lang="en-US" dirty="0" smtClean="0"/>
              <a:t> </a:t>
            </a:r>
            <a:r>
              <a:rPr lang="en-US" dirty="0" err="1" smtClean="0"/>
              <a:t>anladığımız</a:t>
            </a:r>
            <a:r>
              <a:rPr lang="en-US" dirty="0" smtClean="0"/>
              <a:t> </a:t>
            </a:r>
            <a:r>
              <a:rPr lang="en-US" dirty="0" err="1" smtClean="0"/>
              <a:t>gibi</a:t>
            </a:r>
            <a:r>
              <a:rPr lang="en-US" dirty="0" smtClean="0"/>
              <a:t> </a:t>
            </a:r>
            <a:r>
              <a:rPr lang="en-US" dirty="0" err="1" smtClean="0"/>
              <a:t>bilinçli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süreç</a:t>
            </a:r>
            <a:r>
              <a:rPr lang="en-US" dirty="0" smtClean="0"/>
              <a:t> </a:t>
            </a:r>
            <a:r>
              <a:rPr lang="en-US" dirty="0" err="1" smtClean="0"/>
              <a:t>değil</a:t>
            </a:r>
            <a:r>
              <a:rPr lang="en-US" dirty="0" smtClean="0"/>
              <a:t>. </a:t>
            </a:r>
            <a:r>
              <a:rPr lang="en-US" dirty="0" err="1" smtClean="0"/>
              <a:t>Süreç</a:t>
            </a:r>
            <a:r>
              <a:rPr lang="en-US" dirty="0" smtClean="0"/>
              <a:t> </a:t>
            </a:r>
            <a:r>
              <a:rPr lang="en-US" dirty="0" err="1" smtClean="0"/>
              <a:t>tamamen</a:t>
            </a:r>
            <a:r>
              <a:rPr lang="en-US" dirty="0" smtClean="0"/>
              <a:t> </a:t>
            </a:r>
            <a:r>
              <a:rPr lang="en-US" dirty="0" err="1" smtClean="0"/>
              <a:t>matematiksel</a:t>
            </a:r>
            <a:r>
              <a:rPr lang="en-US" dirty="0" smtClean="0"/>
              <a:t> </a:t>
            </a:r>
            <a:r>
              <a:rPr lang="en-US" dirty="0" err="1" smtClean="0"/>
              <a:t>ilerliyor</a:t>
            </a:r>
            <a:r>
              <a:rPr lang="en-US" dirty="0" smtClean="0"/>
              <a:t>. Her </a:t>
            </a:r>
            <a:r>
              <a:rPr lang="en-US" dirty="0" err="1" smtClean="0"/>
              <a:t>şey</a:t>
            </a:r>
            <a:r>
              <a:rPr lang="en-US" dirty="0" smtClean="0"/>
              <a:t>, </a:t>
            </a:r>
            <a:r>
              <a:rPr lang="en-US" dirty="0" err="1" smtClean="0"/>
              <a:t>dilin</a:t>
            </a:r>
            <a:r>
              <a:rPr lang="en-US" dirty="0" smtClean="0"/>
              <a:t> </a:t>
            </a:r>
            <a:r>
              <a:rPr lang="en-US" dirty="0" err="1" smtClean="0"/>
              <a:t>sayılara</a:t>
            </a:r>
            <a:r>
              <a:rPr lang="en-US" dirty="0" smtClean="0"/>
              <a:t> </a:t>
            </a:r>
            <a:r>
              <a:rPr lang="en-US" dirty="0" err="1" smtClean="0"/>
              <a:t>dökülmesiyle</a:t>
            </a:r>
            <a:r>
              <a:rPr lang="en-US" dirty="0" smtClean="0"/>
              <a:t> </a:t>
            </a:r>
            <a:r>
              <a:rPr lang="en-US" dirty="0" err="1" smtClean="0"/>
              <a:t>başlıyor</a:t>
            </a:r>
            <a:r>
              <a:rPr lang="en-US" dirty="0" smtClean="0"/>
              <a:t>. </a:t>
            </a:r>
            <a:r>
              <a:rPr lang="en-US" dirty="0" err="1" smtClean="0"/>
              <a:t>Modeller</a:t>
            </a:r>
            <a:r>
              <a:rPr lang="en-US" dirty="0" smtClean="0"/>
              <a:t> </a:t>
            </a:r>
            <a:r>
              <a:rPr lang="en-US" dirty="0" err="1" smtClean="0"/>
              <a:t>metni</a:t>
            </a:r>
            <a:r>
              <a:rPr lang="en-US" dirty="0" smtClean="0"/>
              <a:t> </a:t>
            </a:r>
            <a:r>
              <a:rPr lang="en-US" dirty="0" err="1" smtClean="0"/>
              <a:t>doğrudan</a:t>
            </a:r>
            <a:r>
              <a:rPr lang="en-US" dirty="0" smtClean="0"/>
              <a:t> </a:t>
            </a:r>
            <a:r>
              <a:rPr lang="en-US" dirty="0" err="1" smtClean="0"/>
              <a:t>okumuyor</a:t>
            </a:r>
            <a:r>
              <a:rPr lang="en-US" dirty="0" smtClean="0"/>
              <a:t>. </a:t>
            </a:r>
            <a:r>
              <a:rPr lang="en-US" dirty="0" err="1" smtClean="0"/>
              <a:t>Önce</a:t>
            </a:r>
            <a:r>
              <a:rPr lang="en-US" dirty="0" smtClean="0"/>
              <a:t> </a:t>
            </a:r>
            <a:r>
              <a:rPr lang="en-US" dirty="0" err="1" smtClean="0"/>
              <a:t>kelimeleri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hatta</a:t>
            </a:r>
            <a:r>
              <a:rPr lang="en-US" dirty="0" smtClean="0"/>
              <a:t> </a:t>
            </a:r>
            <a:r>
              <a:rPr lang="en-US" dirty="0" err="1" smtClean="0"/>
              <a:t>kelime</a:t>
            </a:r>
            <a:r>
              <a:rPr lang="en-US" dirty="0" smtClean="0"/>
              <a:t> </a:t>
            </a:r>
            <a:r>
              <a:rPr lang="en-US" dirty="0" err="1" smtClean="0"/>
              <a:t>parçalarını</a:t>
            </a:r>
            <a:r>
              <a:rPr lang="en-US" dirty="0" smtClean="0"/>
              <a:t> (token) </a:t>
            </a:r>
            <a:r>
              <a:rPr lang="en-US" dirty="0" err="1" smtClean="0"/>
              <a:t>alıyor</a:t>
            </a:r>
            <a:r>
              <a:rPr lang="en-US" dirty="0" smtClean="0"/>
              <a:t>, </a:t>
            </a:r>
            <a:r>
              <a:rPr lang="en-US" dirty="0" err="1" smtClean="0"/>
              <a:t>onları</a:t>
            </a:r>
            <a:r>
              <a:rPr lang="en-US" dirty="0" smtClean="0"/>
              <a:t> "</a:t>
            </a:r>
            <a:r>
              <a:rPr lang="en-US" dirty="0" err="1" smtClean="0"/>
              <a:t>vektör</a:t>
            </a:r>
            <a:r>
              <a:rPr lang="en-US" dirty="0" smtClean="0"/>
              <a:t>" </a:t>
            </a:r>
            <a:r>
              <a:rPr lang="en-US" dirty="0" err="1" smtClean="0"/>
              <a:t>denen</a:t>
            </a:r>
            <a:r>
              <a:rPr lang="en-US" dirty="0" smtClean="0"/>
              <a:t> </a:t>
            </a:r>
            <a:r>
              <a:rPr lang="en-US" dirty="0" err="1" smtClean="0"/>
              <a:t>uzun</a:t>
            </a:r>
            <a:r>
              <a:rPr lang="en-US" dirty="0" smtClean="0"/>
              <a:t> </a:t>
            </a:r>
            <a:r>
              <a:rPr lang="en-US" dirty="0" err="1" smtClean="0"/>
              <a:t>sayı</a:t>
            </a:r>
            <a:r>
              <a:rPr lang="en-US" dirty="0" smtClean="0"/>
              <a:t> </a:t>
            </a:r>
            <a:r>
              <a:rPr lang="en-US" dirty="0" err="1" smtClean="0"/>
              <a:t>dizilerine</a:t>
            </a:r>
            <a:r>
              <a:rPr lang="en-US" dirty="0" smtClean="0"/>
              <a:t> </a:t>
            </a:r>
            <a:r>
              <a:rPr lang="en-US" dirty="0" err="1" smtClean="0"/>
              <a:t>dönüştürüyor</a:t>
            </a:r>
            <a:r>
              <a:rPr lang="en-US" dirty="0" smtClean="0"/>
              <a:t>. </a:t>
            </a:r>
            <a:r>
              <a:rPr lang="en-US" dirty="0" err="1" smtClean="0"/>
              <a:t>Dil</a:t>
            </a:r>
            <a:r>
              <a:rPr lang="en-US" dirty="0" smtClean="0"/>
              <a:t>,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dev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koordinat</a:t>
            </a:r>
            <a:r>
              <a:rPr lang="en-US" dirty="0" smtClean="0"/>
              <a:t> </a:t>
            </a:r>
            <a:r>
              <a:rPr lang="en-US" dirty="0" err="1" smtClean="0"/>
              <a:t>sistemine</a:t>
            </a:r>
            <a:r>
              <a:rPr lang="en-US" dirty="0" smtClean="0"/>
              <a:t> </a:t>
            </a:r>
            <a:r>
              <a:rPr lang="en-US" dirty="0" err="1" smtClean="0"/>
              <a:t>dönüşüyor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 smtClean="0"/>
              <a:t>Asıl</a:t>
            </a:r>
            <a:r>
              <a:rPr lang="en-US" dirty="0" smtClean="0"/>
              <a:t> </a:t>
            </a:r>
            <a:r>
              <a:rPr lang="en-US" dirty="0" err="1" smtClean="0"/>
              <a:t>sihir</a:t>
            </a:r>
            <a:r>
              <a:rPr lang="en-US" dirty="0" smtClean="0"/>
              <a:t> de </a:t>
            </a:r>
            <a:r>
              <a:rPr lang="en-US" dirty="0" err="1" smtClean="0"/>
              <a:t>burada</a:t>
            </a:r>
            <a:r>
              <a:rPr lang="en-US" dirty="0" smtClean="0"/>
              <a:t> </a:t>
            </a:r>
            <a:r>
              <a:rPr lang="en-US" dirty="0" err="1" smtClean="0"/>
              <a:t>başlıyor</a:t>
            </a:r>
            <a:r>
              <a:rPr lang="en-US" dirty="0" smtClean="0"/>
              <a:t>. Model,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sayılar</a:t>
            </a:r>
            <a:r>
              <a:rPr lang="en-US" dirty="0" smtClean="0"/>
              <a:t> </a:t>
            </a:r>
            <a:r>
              <a:rPr lang="en-US" dirty="0" err="1" smtClean="0"/>
              <a:t>arasındaki</a:t>
            </a:r>
            <a:r>
              <a:rPr lang="en-US" dirty="0" smtClean="0"/>
              <a:t> </a:t>
            </a:r>
            <a:r>
              <a:rPr lang="en-US" dirty="0" err="1" smtClean="0"/>
              <a:t>istatistiksel</a:t>
            </a:r>
            <a:r>
              <a:rPr lang="en-US" dirty="0" smtClean="0"/>
              <a:t> </a:t>
            </a:r>
            <a:r>
              <a:rPr lang="en-US" dirty="0" err="1" smtClean="0"/>
              <a:t>ilişkileri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karmaşık</a:t>
            </a:r>
            <a:r>
              <a:rPr lang="en-US" dirty="0" smtClean="0"/>
              <a:t> </a:t>
            </a:r>
            <a:r>
              <a:rPr lang="en-US" dirty="0" err="1" smtClean="0"/>
              <a:t>kalıpları</a:t>
            </a:r>
            <a:r>
              <a:rPr lang="en-US" dirty="0" smtClean="0"/>
              <a:t> </a:t>
            </a:r>
            <a:r>
              <a:rPr lang="en-US" dirty="0" err="1" smtClean="0"/>
              <a:t>öğreniyor</a:t>
            </a:r>
            <a:r>
              <a:rPr lang="en-US" dirty="0" smtClean="0"/>
              <a:t>. </a:t>
            </a:r>
            <a:r>
              <a:rPr lang="en-US" dirty="0" err="1" smtClean="0"/>
              <a:t>Örneğin</a:t>
            </a:r>
            <a:r>
              <a:rPr lang="en-US" dirty="0" smtClean="0"/>
              <a:t>, "</a:t>
            </a:r>
            <a:r>
              <a:rPr lang="en-US" dirty="0" err="1" smtClean="0"/>
              <a:t>kral</a:t>
            </a:r>
            <a:r>
              <a:rPr lang="en-US" dirty="0" smtClean="0"/>
              <a:t>" </a:t>
            </a:r>
            <a:r>
              <a:rPr lang="en-US" dirty="0" err="1" smtClean="0"/>
              <a:t>vektörünün</a:t>
            </a:r>
            <a:r>
              <a:rPr lang="en-US" dirty="0" smtClean="0"/>
              <a:t> "</a:t>
            </a:r>
            <a:r>
              <a:rPr lang="en-US" dirty="0" err="1" smtClean="0"/>
              <a:t>taht</a:t>
            </a:r>
            <a:r>
              <a:rPr lang="en-US" dirty="0" smtClean="0"/>
              <a:t>" </a:t>
            </a:r>
            <a:r>
              <a:rPr lang="en-US" dirty="0" err="1" smtClean="0"/>
              <a:t>vektörüne</a:t>
            </a:r>
            <a:r>
              <a:rPr lang="en-US" dirty="0" smtClean="0"/>
              <a:t>, "</a:t>
            </a:r>
            <a:r>
              <a:rPr lang="en-US" dirty="0" err="1" smtClean="0"/>
              <a:t>doktor</a:t>
            </a:r>
            <a:r>
              <a:rPr lang="en-US" dirty="0" smtClean="0"/>
              <a:t>" </a:t>
            </a:r>
            <a:r>
              <a:rPr lang="en-US" dirty="0" err="1" smtClean="0"/>
              <a:t>vektörünün</a:t>
            </a:r>
            <a:r>
              <a:rPr lang="en-US" dirty="0" smtClean="0"/>
              <a:t> "</a:t>
            </a:r>
            <a:r>
              <a:rPr lang="en-US" dirty="0" err="1" smtClean="0"/>
              <a:t>stetoskop</a:t>
            </a:r>
            <a:r>
              <a:rPr lang="en-US" dirty="0" smtClean="0"/>
              <a:t>" </a:t>
            </a:r>
            <a:r>
              <a:rPr lang="en-US" dirty="0" err="1" smtClean="0"/>
              <a:t>vektörüne</a:t>
            </a:r>
            <a:r>
              <a:rPr lang="en-US" dirty="0" smtClean="0"/>
              <a:t> </a:t>
            </a:r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 smtClean="0"/>
              <a:t>yakın</a:t>
            </a:r>
            <a:r>
              <a:rPr lang="en-US" dirty="0" smtClean="0"/>
              <a:t> </a:t>
            </a:r>
            <a:r>
              <a:rPr lang="en-US" dirty="0" err="1" smtClean="0"/>
              <a:t>olduğunu</a:t>
            </a:r>
            <a:r>
              <a:rPr lang="en-US" dirty="0" smtClean="0"/>
              <a:t> </a:t>
            </a:r>
            <a:r>
              <a:rPr lang="en-US" dirty="0" err="1" smtClean="0"/>
              <a:t>hesaplıyor</a:t>
            </a:r>
            <a:r>
              <a:rPr lang="en-US" dirty="0" smtClean="0"/>
              <a:t>. </a:t>
            </a:r>
            <a:r>
              <a:rPr lang="en-US" dirty="0" err="1" smtClean="0"/>
              <a:t>Temelde</a:t>
            </a:r>
            <a:r>
              <a:rPr lang="en-US" dirty="0" smtClean="0"/>
              <a:t>, </a:t>
            </a:r>
            <a:r>
              <a:rPr lang="en-US" dirty="0" err="1" smtClean="0"/>
              <a:t>milyarlarca</a:t>
            </a:r>
            <a:r>
              <a:rPr lang="en-US" dirty="0" smtClean="0"/>
              <a:t> </a:t>
            </a:r>
            <a:r>
              <a:rPr lang="en-US" dirty="0" err="1" smtClean="0"/>
              <a:t>olasılık</a:t>
            </a:r>
            <a:r>
              <a:rPr lang="en-US" dirty="0" smtClean="0"/>
              <a:t> </a:t>
            </a:r>
            <a:r>
              <a:rPr lang="en-US" dirty="0" err="1" smtClean="0"/>
              <a:t>üzerinden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sonraki</a:t>
            </a:r>
            <a:r>
              <a:rPr lang="en-US" dirty="0" smtClean="0"/>
              <a:t> en </a:t>
            </a:r>
            <a:r>
              <a:rPr lang="en-US" dirty="0" err="1" smtClean="0"/>
              <a:t>olası</a:t>
            </a:r>
            <a:r>
              <a:rPr lang="en-US" dirty="0" smtClean="0"/>
              <a:t> </a:t>
            </a:r>
            <a:r>
              <a:rPr lang="en-US" dirty="0" err="1" smtClean="0"/>
              <a:t>kelimeyi</a:t>
            </a:r>
            <a:r>
              <a:rPr lang="en-US" dirty="0" smtClean="0"/>
              <a:t> </a:t>
            </a:r>
            <a:r>
              <a:rPr lang="en-US" dirty="0" err="1" smtClean="0"/>
              <a:t>tahmin</a:t>
            </a:r>
            <a:r>
              <a:rPr lang="en-US" dirty="0" smtClean="0"/>
              <a:t> </a:t>
            </a:r>
            <a:r>
              <a:rPr lang="en-US" dirty="0" err="1" smtClean="0"/>
              <a:t>etme</a:t>
            </a:r>
            <a:r>
              <a:rPr lang="en-US" dirty="0" smtClean="0"/>
              <a:t> </a:t>
            </a:r>
            <a:r>
              <a:rPr lang="en-US" dirty="0" err="1" smtClean="0"/>
              <a:t>oyunu</a:t>
            </a:r>
            <a:r>
              <a:rPr lang="en-US" dirty="0" smtClean="0"/>
              <a:t> </a:t>
            </a:r>
            <a:r>
              <a:rPr lang="en-US" dirty="0" err="1" smtClean="0"/>
              <a:t>oynuyor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Transformer </a:t>
            </a:r>
            <a:r>
              <a:rPr lang="en-US" b="1" dirty="0" err="1"/>
              <a:t>Mimarisi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Temel</a:t>
            </a:r>
            <a:r>
              <a:rPr lang="en-US" b="1" dirty="0"/>
              <a:t> </a:t>
            </a:r>
            <a:r>
              <a:rPr lang="en-US" b="1" dirty="0" err="1"/>
              <a:t>Prensipleri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Günümüzdeki</a:t>
            </a:r>
            <a:r>
              <a:rPr lang="en-US" dirty="0"/>
              <a:t> </a:t>
            </a:r>
            <a:r>
              <a:rPr lang="en-US" dirty="0" err="1"/>
              <a:t>LLM'lerin</a:t>
            </a:r>
            <a:r>
              <a:rPr lang="en-US" dirty="0"/>
              <a:t> </a:t>
            </a:r>
            <a:r>
              <a:rPr lang="en-US" dirty="0" err="1"/>
              <a:t>neredeyse</a:t>
            </a:r>
            <a:r>
              <a:rPr lang="en-US" dirty="0"/>
              <a:t> </a:t>
            </a:r>
            <a:r>
              <a:rPr lang="en-US" dirty="0" err="1"/>
              <a:t>tamamı</a:t>
            </a:r>
            <a:r>
              <a:rPr lang="en-US" dirty="0"/>
              <a:t>, </a:t>
            </a:r>
            <a:r>
              <a:rPr lang="en-US" dirty="0" err="1"/>
              <a:t>gücünü</a:t>
            </a:r>
            <a:r>
              <a:rPr lang="en-US" dirty="0"/>
              <a:t> Transformer </a:t>
            </a:r>
            <a:r>
              <a:rPr lang="en-US" dirty="0" err="1"/>
              <a:t>mimarisinden</a:t>
            </a:r>
            <a:r>
              <a:rPr lang="en-US" dirty="0"/>
              <a:t> </a:t>
            </a:r>
            <a:r>
              <a:rPr lang="en-US" dirty="0" err="1"/>
              <a:t>alıyor</a:t>
            </a:r>
            <a:r>
              <a:rPr lang="en-US" dirty="0"/>
              <a:t>. Bu </a:t>
            </a:r>
            <a:r>
              <a:rPr lang="en-US" dirty="0" err="1"/>
              <a:t>yapı</a:t>
            </a:r>
            <a:r>
              <a:rPr lang="en-US" dirty="0"/>
              <a:t>, 2017'de Google </a:t>
            </a:r>
            <a:r>
              <a:rPr lang="en-US" dirty="0" err="1"/>
              <a:t>araştırmacılarının</a:t>
            </a:r>
            <a:r>
              <a:rPr lang="en-US" dirty="0"/>
              <a:t> </a:t>
            </a:r>
            <a:r>
              <a:rPr lang="en-US" dirty="0" err="1"/>
              <a:t>yayınladığı</a:t>
            </a:r>
            <a:r>
              <a:rPr lang="en-US" dirty="0"/>
              <a:t> </a:t>
            </a:r>
            <a:r>
              <a:rPr lang="en-US" b="1" dirty="0"/>
              <a:t>"</a:t>
            </a:r>
            <a:r>
              <a:rPr lang="en-US" b="1" i="1" dirty="0"/>
              <a:t>Attention Is All You Need" (</a:t>
            </a:r>
            <a:r>
              <a:rPr lang="en-US" b="1" i="1" dirty="0" err="1"/>
              <a:t>Tüm</a:t>
            </a:r>
            <a:r>
              <a:rPr lang="en-US" b="1" i="1" dirty="0"/>
              <a:t> </a:t>
            </a:r>
            <a:r>
              <a:rPr lang="en-US" b="1" i="1" dirty="0" err="1"/>
              <a:t>İhtiyacınız</a:t>
            </a:r>
            <a:r>
              <a:rPr lang="en-US" b="1" i="1" dirty="0"/>
              <a:t> Olan </a:t>
            </a:r>
            <a:r>
              <a:rPr lang="en-US" b="1" i="1" dirty="0" err="1"/>
              <a:t>Şey</a:t>
            </a:r>
            <a:r>
              <a:rPr lang="en-US" b="1" i="1" dirty="0"/>
              <a:t> </a:t>
            </a:r>
            <a:r>
              <a:rPr lang="en-US" b="1" i="1" dirty="0" err="1"/>
              <a:t>Dikkat</a:t>
            </a:r>
            <a:r>
              <a:rPr lang="en-US" b="1" i="1" dirty="0"/>
              <a:t>)</a:t>
            </a:r>
            <a:r>
              <a:rPr lang="en-US" b="1" dirty="0"/>
              <a:t> </a:t>
            </a:r>
            <a:r>
              <a:rPr lang="en-US" dirty="0" err="1"/>
              <a:t>başlıklı</a:t>
            </a:r>
            <a:r>
              <a:rPr lang="en-US" dirty="0"/>
              <a:t> o </a:t>
            </a:r>
            <a:r>
              <a:rPr lang="en-US" dirty="0" err="1"/>
              <a:t>ünlü</a:t>
            </a:r>
            <a:r>
              <a:rPr lang="en-US" dirty="0"/>
              <a:t> </a:t>
            </a:r>
            <a:r>
              <a:rPr lang="en-US" b="1" dirty="0" err="1">
                <a:hlinkClick r:id="rId3"/>
              </a:rPr>
              <a:t>makaleyle</a:t>
            </a:r>
            <a:r>
              <a:rPr lang="en-US" b="1" dirty="0">
                <a:hlinkClick r:id="rId3"/>
              </a:rPr>
              <a:t>​</a:t>
            </a:r>
            <a:r>
              <a:rPr lang="en-US" dirty="0"/>
              <a:t> </a:t>
            </a:r>
            <a:r>
              <a:rPr lang="en-US" dirty="0" err="1"/>
              <a:t>hayatımıza</a:t>
            </a:r>
            <a:r>
              <a:rPr lang="en-US" dirty="0"/>
              <a:t> </a:t>
            </a:r>
            <a:r>
              <a:rPr lang="en-US" dirty="0" err="1"/>
              <a:t>girdi</a:t>
            </a:r>
            <a:r>
              <a:rPr lang="en-US" dirty="0"/>
              <a:t>.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girer</a:t>
            </a:r>
            <a:r>
              <a:rPr lang="en-US" dirty="0"/>
              <a:t> </a:t>
            </a:r>
            <a:r>
              <a:rPr lang="en-US" dirty="0" err="1"/>
              <a:t>girmez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sektörü</a:t>
            </a:r>
            <a:r>
              <a:rPr lang="en-US" dirty="0"/>
              <a:t> </a:t>
            </a:r>
            <a:r>
              <a:rPr lang="en-US" dirty="0" err="1"/>
              <a:t>değiştirdi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7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err="1"/>
              <a:t>Transformer'ın</a:t>
            </a:r>
            <a:r>
              <a:rPr lang="en-US" dirty="0"/>
              <a:t> </a:t>
            </a:r>
            <a:r>
              <a:rPr lang="en-US" dirty="0" err="1"/>
              <a:t>getirdiği</a:t>
            </a:r>
            <a:r>
              <a:rPr lang="en-US" dirty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devrim</a:t>
            </a:r>
            <a:r>
              <a:rPr lang="en-US" dirty="0"/>
              <a:t>, </a:t>
            </a:r>
            <a:r>
              <a:rPr lang="en-US" b="1" dirty="0"/>
              <a:t>"</a:t>
            </a:r>
            <a:r>
              <a:rPr lang="en-US" b="1" dirty="0" err="1"/>
              <a:t>Dikkat</a:t>
            </a:r>
            <a:r>
              <a:rPr lang="en-US" b="1" dirty="0"/>
              <a:t> </a:t>
            </a:r>
            <a:r>
              <a:rPr lang="en-US" b="1" dirty="0" err="1"/>
              <a:t>Mekanizması</a:t>
            </a:r>
            <a:r>
              <a:rPr lang="en-US" b="1" dirty="0"/>
              <a:t>" (Attention Mechanism)</a:t>
            </a:r>
            <a:r>
              <a:rPr lang="en-US" dirty="0"/>
              <a:t> </a:t>
            </a:r>
            <a:r>
              <a:rPr lang="en-US" dirty="0" err="1"/>
              <a:t>denilen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. </a:t>
            </a:r>
            <a:r>
              <a:rPr lang="en-US" b="1" dirty="0" err="1"/>
              <a:t>RNN'ler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 </a:t>
            </a:r>
            <a:r>
              <a:rPr lang="en-US" dirty="0" err="1"/>
              <a:t>dili</a:t>
            </a:r>
            <a:r>
              <a:rPr lang="en-US" dirty="0"/>
              <a:t> </a:t>
            </a:r>
            <a:r>
              <a:rPr lang="en-US" dirty="0" err="1"/>
              <a:t>işlerken</a:t>
            </a:r>
            <a:r>
              <a:rPr lang="en-US" dirty="0"/>
              <a:t> </a:t>
            </a:r>
            <a:r>
              <a:rPr lang="en-US" dirty="0" err="1"/>
              <a:t>zayıf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hafızaya</a:t>
            </a:r>
            <a:r>
              <a:rPr lang="en-US" dirty="0"/>
              <a:t> </a:t>
            </a:r>
            <a:r>
              <a:rPr lang="en-US" dirty="0" err="1"/>
              <a:t>sahipti</a:t>
            </a:r>
            <a:r>
              <a:rPr lang="en-US" dirty="0"/>
              <a:t>.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kelimeyi</a:t>
            </a:r>
            <a:r>
              <a:rPr lang="en-US" dirty="0"/>
              <a:t> </a:t>
            </a:r>
            <a:r>
              <a:rPr lang="en-US" dirty="0" err="1"/>
              <a:t>anlamak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genellikle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öncesine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sonrasına</a:t>
            </a:r>
            <a:r>
              <a:rPr lang="en-US" dirty="0"/>
              <a:t> </a:t>
            </a:r>
            <a:r>
              <a:rPr lang="en-US" dirty="0" err="1"/>
              <a:t>bakıyorlardı</a:t>
            </a:r>
            <a:r>
              <a:rPr lang="en-US" dirty="0"/>
              <a:t>. Transformer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. Model,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kelimenin</a:t>
            </a:r>
            <a:r>
              <a:rPr lang="en-US" dirty="0"/>
              <a:t> </a:t>
            </a:r>
            <a:r>
              <a:rPr lang="en-US" dirty="0" err="1"/>
              <a:t>anlamını</a:t>
            </a:r>
            <a:r>
              <a:rPr lang="en-US" dirty="0"/>
              <a:t> </a:t>
            </a:r>
            <a:r>
              <a:rPr lang="en-US" dirty="0" err="1"/>
              <a:t>çözmek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cümlenin</a:t>
            </a:r>
            <a:r>
              <a:rPr lang="en-US" dirty="0"/>
              <a:t> </a:t>
            </a:r>
            <a:r>
              <a:rPr lang="en-US" dirty="0" err="1"/>
              <a:t>tamamına</a:t>
            </a:r>
            <a:r>
              <a:rPr lang="en-US" dirty="0"/>
              <a:t> </a:t>
            </a:r>
            <a:r>
              <a:rPr lang="en-US" dirty="0" err="1"/>
              <a:t>bakıyor</a:t>
            </a:r>
            <a:r>
              <a:rPr lang="en-US" dirty="0"/>
              <a:t>.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da </a:t>
            </a:r>
            <a:r>
              <a:rPr lang="en-US" dirty="0" err="1"/>
              <a:t>değil</a:t>
            </a:r>
            <a:r>
              <a:rPr lang="en-US" dirty="0"/>
              <a:t>.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kelimelerin</a:t>
            </a:r>
            <a:r>
              <a:rPr lang="en-US" dirty="0"/>
              <a:t> o </a:t>
            </a:r>
            <a:r>
              <a:rPr lang="en-US" dirty="0" err="1"/>
              <a:t>anki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olduğuna</a:t>
            </a:r>
            <a:r>
              <a:rPr lang="en-US" dirty="0"/>
              <a:t>, </a:t>
            </a:r>
            <a:r>
              <a:rPr lang="en-US" dirty="0" err="1"/>
              <a:t>hangilerinin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olduğuna</a:t>
            </a:r>
            <a:r>
              <a:rPr lang="en-US" dirty="0"/>
              <a:t> </a:t>
            </a:r>
            <a:r>
              <a:rPr lang="en-US" dirty="0" err="1"/>
              <a:t>dinamik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veriyor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"</a:t>
            </a:r>
            <a:r>
              <a:rPr lang="en-US" dirty="0" err="1"/>
              <a:t>dikkat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 smtClean="0"/>
              <a:t>".</a:t>
            </a:r>
            <a:endParaRPr lang="tr-TR" dirty="0" smtClean="0"/>
          </a:p>
          <a:p>
            <a:pPr marL="0" indent="0">
              <a:buNone/>
            </a:pP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örnek</a:t>
            </a:r>
            <a:r>
              <a:rPr lang="en-US" i="1" dirty="0"/>
              <a:t> </a:t>
            </a:r>
            <a:r>
              <a:rPr lang="en-US" i="1" dirty="0" err="1"/>
              <a:t>verelim</a:t>
            </a:r>
            <a:r>
              <a:rPr lang="en-US" i="1" dirty="0"/>
              <a:t>: </a:t>
            </a:r>
            <a:r>
              <a:rPr lang="en-US" b="1" i="1" dirty="0"/>
              <a:t>"</a:t>
            </a:r>
            <a:r>
              <a:rPr lang="en-US" b="1" i="1" dirty="0" err="1"/>
              <a:t>Bankaya</a:t>
            </a:r>
            <a:r>
              <a:rPr lang="en-US" b="1" i="1" dirty="0"/>
              <a:t> para </a:t>
            </a:r>
            <a:r>
              <a:rPr lang="en-US" b="1" i="1" dirty="0" err="1"/>
              <a:t>yatırdı</a:t>
            </a:r>
            <a:r>
              <a:rPr lang="en-US" b="1" i="1" dirty="0"/>
              <a:t>." Model, "</a:t>
            </a:r>
            <a:r>
              <a:rPr lang="en-US" b="1" i="1" dirty="0" err="1"/>
              <a:t>banka</a:t>
            </a:r>
            <a:r>
              <a:rPr lang="en-US" b="1" i="1" dirty="0"/>
              <a:t>" </a:t>
            </a:r>
            <a:r>
              <a:rPr lang="en-US" i="1" dirty="0" err="1"/>
              <a:t>kelimesini</a:t>
            </a:r>
            <a:r>
              <a:rPr lang="en-US" i="1" dirty="0"/>
              <a:t> </a:t>
            </a:r>
            <a:r>
              <a:rPr lang="en-US" i="1" dirty="0" err="1"/>
              <a:t>görüyor</a:t>
            </a:r>
            <a:r>
              <a:rPr lang="en-US" i="1" dirty="0"/>
              <a:t> </a:t>
            </a:r>
            <a:r>
              <a:rPr lang="en-US" i="1" dirty="0" err="1"/>
              <a:t>ve</a:t>
            </a:r>
            <a:r>
              <a:rPr lang="en-US" i="1" dirty="0"/>
              <a:t> </a:t>
            </a:r>
            <a:r>
              <a:rPr lang="en-US" i="1" dirty="0" err="1"/>
              <a:t>hemen</a:t>
            </a:r>
            <a:r>
              <a:rPr lang="en-US" i="1" dirty="0"/>
              <a:t> </a:t>
            </a:r>
            <a:r>
              <a:rPr lang="en-US" b="1" i="1" dirty="0"/>
              <a:t>"para" </a:t>
            </a:r>
            <a:r>
              <a:rPr lang="en-US" i="1" dirty="0" err="1"/>
              <a:t>ile</a:t>
            </a:r>
            <a:r>
              <a:rPr lang="en-US" i="1" dirty="0"/>
              <a:t> </a:t>
            </a:r>
            <a:r>
              <a:rPr lang="en-US" b="1" i="1" dirty="0"/>
              <a:t>"</a:t>
            </a:r>
            <a:r>
              <a:rPr lang="en-US" b="1" i="1" dirty="0" err="1"/>
              <a:t>yatırmak</a:t>
            </a:r>
            <a:r>
              <a:rPr lang="en-US" b="1" i="1" dirty="0"/>
              <a:t>" </a:t>
            </a:r>
            <a:r>
              <a:rPr lang="en-US" i="1" dirty="0" err="1"/>
              <a:t>kelimelerine</a:t>
            </a:r>
            <a:r>
              <a:rPr lang="en-US" i="1" dirty="0"/>
              <a:t> </a:t>
            </a:r>
            <a:r>
              <a:rPr lang="en-US" i="1" dirty="0" err="1"/>
              <a:t>odaklanıyor</a:t>
            </a:r>
            <a:r>
              <a:rPr lang="en-US" i="1" dirty="0"/>
              <a:t>. Bu </a:t>
            </a:r>
            <a:r>
              <a:rPr lang="en-US" i="1" dirty="0" err="1"/>
              <a:t>kelimelerin</a:t>
            </a:r>
            <a:r>
              <a:rPr lang="en-US" i="1" dirty="0"/>
              <a:t> </a:t>
            </a:r>
            <a:r>
              <a:rPr lang="en-US" i="1" dirty="0" err="1"/>
              <a:t>ağırlığını</a:t>
            </a:r>
            <a:r>
              <a:rPr lang="en-US" i="1" dirty="0"/>
              <a:t> </a:t>
            </a:r>
            <a:r>
              <a:rPr lang="en-US" i="1" dirty="0" err="1"/>
              <a:t>artırıyor</a:t>
            </a:r>
            <a:r>
              <a:rPr lang="en-US" i="1" dirty="0"/>
              <a:t>. </a:t>
            </a:r>
            <a:r>
              <a:rPr lang="en-US" i="1" dirty="0" err="1"/>
              <a:t>Anlıyor</a:t>
            </a:r>
            <a:r>
              <a:rPr lang="en-US" i="1" dirty="0"/>
              <a:t> </a:t>
            </a:r>
            <a:r>
              <a:rPr lang="en-US" i="1" dirty="0" err="1"/>
              <a:t>ki</a:t>
            </a:r>
            <a:r>
              <a:rPr lang="en-US" i="1" dirty="0"/>
              <a:t> </a:t>
            </a:r>
            <a:r>
              <a:rPr lang="en-US" i="1" dirty="0" err="1"/>
              <a:t>bu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finans</a:t>
            </a:r>
            <a:r>
              <a:rPr lang="en-US" i="1" dirty="0"/>
              <a:t> </a:t>
            </a:r>
            <a:r>
              <a:rPr lang="en-US" i="1" dirty="0" err="1"/>
              <a:t>kurumu</a:t>
            </a:r>
            <a:r>
              <a:rPr lang="en-US" i="1" dirty="0"/>
              <a:t>. </a:t>
            </a:r>
            <a:r>
              <a:rPr lang="en-US" i="1" dirty="0" err="1"/>
              <a:t>Ama</a:t>
            </a:r>
            <a:r>
              <a:rPr lang="en-US" i="1" dirty="0"/>
              <a:t> </a:t>
            </a:r>
            <a:r>
              <a:rPr lang="en-US" i="1" dirty="0" err="1"/>
              <a:t>cümle</a:t>
            </a:r>
            <a:r>
              <a:rPr lang="en-US" i="1" dirty="0"/>
              <a:t> "</a:t>
            </a:r>
            <a:r>
              <a:rPr lang="en-US" i="1" dirty="0" err="1"/>
              <a:t>Nehir</a:t>
            </a:r>
            <a:r>
              <a:rPr lang="en-US" i="1" dirty="0"/>
              <a:t> </a:t>
            </a:r>
            <a:r>
              <a:rPr lang="en-US" i="1" dirty="0" err="1"/>
              <a:t>bankında</a:t>
            </a:r>
            <a:r>
              <a:rPr lang="en-US" i="1" dirty="0"/>
              <a:t> </a:t>
            </a:r>
            <a:r>
              <a:rPr lang="en-US" i="1" dirty="0" err="1"/>
              <a:t>oturdu</a:t>
            </a:r>
            <a:r>
              <a:rPr lang="en-US" i="1" dirty="0"/>
              <a:t>" </a:t>
            </a:r>
            <a:r>
              <a:rPr lang="en-US" i="1" dirty="0" err="1"/>
              <a:t>olsaydı</a:t>
            </a:r>
            <a:r>
              <a:rPr lang="en-US" i="1" dirty="0"/>
              <a:t>? Model </a:t>
            </a:r>
            <a:r>
              <a:rPr lang="en-US" i="1" dirty="0" err="1"/>
              <a:t>bu</a:t>
            </a:r>
            <a:r>
              <a:rPr lang="en-US" i="1" dirty="0"/>
              <a:t> </a:t>
            </a:r>
            <a:r>
              <a:rPr lang="en-US" i="1" dirty="0" err="1"/>
              <a:t>kez</a:t>
            </a:r>
            <a:r>
              <a:rPr lang="en-US" i="1" dirty="0"/>
              <a:t> </a:t>
            </a:r>
            <a:r>
              <a:rPr lang="en-US" i="1" dirty="0" err="1"/>
              <a:t>dikkatini</a:t>
            </a:r>
            <a:r>
              <a:rPr lang="en-US" i="1" dirty="0"/>
              <a:t> "</a:t>
            </a:r>
            <a:r>
              <a:rPr lang="en-US" i="1" dirty="0" err="1"/>
              <a:t>nehir</a:t>
            </a:r>
            <a:r>
              <a:rPr lang="en-US" i="1" dirty="0"/>
              <a:t>" </a:t>
            </a:r>
            <a:r>
              <a:rPr lang="en-US" i="1" dirty="0" err="1"/>
              <a:t>kelimesine</a:t>
            </a:r>
            <a:r>
              <a:rPr lang="en-US" i="1" dirty="0"/>
              <a:t> </a:t>
            </a:r>
            <a:r>
              <a:rPr lang="en-US" i="1" dirty="0" err="1"/>
              <a:t>verecek</a:t>
            </a:r>
            <a:r>
              <a:rPr lang="en-US" i="1" dirty="0"/>
              <a:t> </a:t>
            </a:r>
            <a:r>
              <a:rPr lang="en-US" i="1" dirty="0" err="1"/>
              <a:t>ve</a:t>
            </a:r>
            <a:r>
              <a:rPr lang="en-US" i="1" dirty="0"/>
              <a:t> </a:t>
            </a:r>
            <a:r>
              <a:rPr lang="en-US" i="1" dirty="0" err="1"/>
              <a:t>aynı</a:t>
            </a:r>
            <a:r>
              <a:rPr lang="en-US" i="1" dirty="0"/>
              <a:t> "bank" </a:t>
            </a:r>
            <a:r>
              <a:rPr lang="en-US" i="1" dirty="0" err="1"/>
              <a:t>kelimesinin</a:t>
            </a:r>
            <a:r>
              <a:rPr lang="en-US" i="1" dirty="0"/>
              <a:t> </a:t>
            </a:r>
            <a:r>
              <a:rPr lang="en-US" i="1" dirty="0" err="1"/>
              <a:t>artık</a:t>
            </a:r>
            <a:r>
              <a:rPr lang="en-US" i="1" dirty="0"/>
              <a:t> "</a:t>
            </a:r>
            <a:r>
              <a:rPr lang="en-US" i="1" dirty="0" err="1"/>
              <a:t>kıyıyı</a:t>
            </a:r>
            <a:r>
              <a:rPr lang="en-US" i="1" dirty="0"/>
              <a:t>” </a:t>
            </a:r>
            <a:r>
              <a:rPr lang="en-US" i="1" dirty="0" err="1"/>
              <a:t>ifade</a:t>
            </a:r>
            <a:r>
              <a:rPr lang="en-US" i="1" dirty="0"/>
              <a:t> </a:t>
            </a:r>
            <a:r>
              <a:rPr lang="en-US" i="1" dirty="0" err="1"/>
              <a:t>ettiğini</a:t>
            </a:r>
            <a:r>
              <a:rPr lang="en-US" i="1" dirty="0"/>
              <a:t> </a:t>
            </a:r>
            <a:r>
              <a:rPr lang="en-US" i="1" dirty="0" err="1"/>
              <a:t>anında</a:t>
            </a:r>
            <a:r>
              <a:rPr lang="en-US" i="1" dirty="0"/>
              <a:t> </a:t>
            </a:r>
            <a:r>
              <a:rPr lang="en-US" i="1" dirty="0" err="1"/>
              <a:t>çözecekti</a:t>
            </a:r>
            <a:r>
              <a:rPr lang="en-US" i="1" dirty="0"/>
              <a:t>. </a:t>
            </a:r>
            <a:r>
              <a:rPr lang="en-US" i="1" dirty="0" err="1"/>
              <a:t>İşte</a:t>
            </a:r>
            <a:r>
              <a:rPr lang="en-US" i="1" dirty="0"/>
              <a:t> </a:t>
            </a:r>
            <a:r>
              <a:rPr lang="en-US" i="1" dirty="0" err="1"/>
              <a:t>LLM'lerin</a:t>
            </a:r>
            <a:r>
              <a:rPr lang="en-US" i="1" dirty="0"/>
              <a:t> </a:t>
            </a:r>
            <a:r>
              <a:rPr lang="en-US" i="1" dirty="0" err="1"/>
              <a:t>bağlamı</a:t>
            </a:r>
            <a:r>
              <a:rPr lang="en-US" i="1" dirty="0"/>
              <a:t> </a:t>
            </a:r>
            <a:r>
              <a:rPr lang="en-US" i="1" dirty="0" err="1"/>
              <a:t>bu</a:t>
            </a:r>
            <a:r>
              <a:rPr lang="en-US" i="1" dirty="0"/>
              <a:t> </a:t>
            </a:r>
            <a:r>
              <a:rPr lang="en-US" i="1" dirty="0" err="1"/>
              <a:t>kadar</a:t>
            </a:r>
            <a:r>
              <a:rPr lang="en-US" i="1" dirty="0"/>
              <a:t> </a:t>
            </a:r>
            <a:r>
              <a:rPr lang="en-US" i="1" dirty="0" err="1"/>
              <a:t>keskin</a:t>
            </a:r>
            <a:r>
              <a:rPr lang="en-US" i="1" dirty="0"/>
              <a:t> </a:t>
            </a:r>
            <a:r>
              <a:rPr lang="en-US" i="1" dirty="0" err="1"/>
              <a:t>kavramasının</a:t>
            </a:r>
            <a:r>
              <a:rPr lang="en-US" i="1" dirty="0"/>
              <a:t> </a:t>
            </a:r>
            <a:r>
              <a:rPr lang="en-US" i="1" dirty="0" err="1"/>
              <a:t>sırrı</a:t>
            </a:r>
            <a:r>
              <a:rPr lang="en-US" i="1" dirty="0"/>
              <a:t> tam </a:t>
            </a:r>
            <a:r>
              <a:rPr lang="en-US" i="1" dirty="0" err="1"/>
              <a:t>olarak</a:t>
            </a:r>
            <a:r>
              <a:rPr lang="en-US" i="1" dirty="0"/>
              <a:t> </a:t>
            </a:r>
            <a:r>
              <a:rPr lang="en-US" i="1" dirty="0" err="1"/>
              <a:t>bu</a:t>
            </a:r>
            <a:r>
              <a:rPr lang="en-US" i="1" dirty="0"/>
              <a:t> </a:t>
            </a:r>
            <a:r>
              <a:rPr lang="en-US" i="1" dirty="0" err="1"/>
              <a:t>mekanizmada</a:t>
            </a:r>
            <a:r>
              <a:rPr lang="en-US" i="1" dirty="0"/>
              <a:t> </a:t>
            </a:r>
            <a:r>
              <a:rPr lang="en-US" i="1" dirty="0" err="1"/>
              <a:t>yatıyor</a:t>
            </a:r>
            <a:r>
              <a:rPr lang="en-US" i="1" dirty="0" smtClean="0"/>
              <a:t>.</a:t>
            </a:r>
            <a:endParaRPr lang="tr-TR" i="1" dirty="0" smtClean="0"/>
          </a:p>
          <a:p>
            <a:pPr marL="0" indent="0">
              <a:buNone/>
            </a:pPr>
            <a:r>
              <a:rPr lang="en-US" b="1" dirty="0" err="1"/>
              <a:t>Eğitim</a:t>
            </a:r>
            <a:r>
              <a:rPr lang="en-US" b="1" dirty="0"/>
              <a:t> </a:t>
            </a:r>
            <a:r>
              <a:rPr lang="en-US" b="1" dirty="0" err="1"/>
              <a:t>Süreci</a:t>
            </a:r>
            <a:r>
              <a:rPr lang="en-US" b="1" dirty="0"/>
              <a:t>: Pre-training </a:t>
            </a:r>
            <a:r>
              <a:rPr lang="en-US" b="1" dirty="0" err="1"/>
              <a:t>ve</a:t>
            </a:r>
            <a:r>
              <a:rPr lang="en-US" b="1" dirty="0"/>
              <a:t> Fine-tuning</a:t>
            </a:r>
          </a:p>
          <a:p>
            <a:pPr marL="0" indent="0">
              <a:buNone/>
            </a:pPr>
            <a:r>
              <a:rPr lang="en-US" b="1" dirty="0"/>
              <a:t>LLM </a:t>
            </a:r>
            <a:r>
              <a:rPr lang="en-US" b="1" dirty="0" err="1"/>
              <a:t>eğitimi</a:t>
            </a:r>
            <a:r>
              <a:rPr lang="en-US" b="1" dirty="0"/>
              <a:t> </a:t>
            </a:r>
            <a:r>
              <a:rPr lang="en-US" b="1" dirty="0" err="1"/>
              <a:t>genellikle</a:t>
            </a:r>
            <a:r>
              <a:rPr lang="en-US" b="1" dirty="0"/>
              <a:t> </a:t>
            </a:r>
            <a:r>
              <a:rPr lang="en-US" b="1" dirty="0" err="1"/>
              <a:t>iki</a:t>
            </a:r>
            <a:r>
              <a:rPr lang="en-US" b="1" dirty="0"/>
              <a:t> </a:t>
            </a:r>
            <a:r>
              <a:rPr lang="en-US" b="1" dirty="0" err="1"/>
              <a:t>ana</a:t>
            </a:r>
            <a:r>
              <a:rPr lang="en-US" b="1" dirty="0"/>
              <a:t> </a:t>
            </a:r>
            <a:r>
              <a:rPr lang="en-US" b="1" dirty="0" err="1"/>
              <a:t>aşamada</a:t>
            </a:r>
            <a:r>
              <a:rPr lang="en-US" b="1" dirty="0"/>
              <a:t> </a:t>
            </a:r>
            <a:r>
              <a:rPr lang="en-US" b="1" dirty="0" err="1"/>
              <a:t>gerçekleşiyor</a:t>
            </a:r>
            <a:r>
              <a:rPr lang="en-US" b="1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Ön</a:t>
            </a:r>
            <a:r>
              <a:rPr lang="en-US" b="1" dirty="0"/>
              <a:t> </a:t>
            </a:r>
            <a:r>
              <a:rPr lang="en-US" b="1" dirty="0" err="1"/>
              <a:t>eğitim</a:t>
            </a:r>
            <a:r>
              <a:rPr lang="en-US" b="1" dirty="0"/>
              <a:t> (Pre-training):</a:t>
            </a:r>
            <a:r>
              <a:rPr lang="en-US" dirty="0"/>
              <a:t> Bu ilk </a:t>
            </a:r>
            <a:r>
              <a:rPr lang="en-US" dirty="0" err="1"/>
              <a:t>ve</a:t>
            </a:r>
            <a:r>
              <a:rPr lang="en-US" dirty="0"/>
              <a:t> en </a:t>
            </a:r>
            <a:r>
              <a:rPr lang="en-US" dirty="0" err="1"/>
              <a:t>maliyetli</a:t>
            </a:r>
            <a:r>
              <a:rPr lang="en-US" dirty="0"/>
              <a:t> </a:t>
            </a:r>
            <a:r>
              <a:rPr lang="en-US" dirty="0" err="1"/>
              <a:t>aşamayı</a:t>
            </a:r>
            <a:r>
              <a:rPr lang="en-US" dirty="0"/>
              <a:t> </a:t>
            </a:r>
            <a:r>
              <a:rPr lang="en-US" dirty="0" err="1"/>
              <a:t>oluşturuyor</a:t>
            </a:r>
            <a:r>
              <a:rPr lang="en-US" dirty="0"/>
              <a:t>. Model, </a:t>
            </a:r>
            <a:r>
              <a:rPr lang="en-US" dirty="0" err="1"/>
              <a:t>internetin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bölümü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etiketlenmemiş</a:t>
            </a:r>
            <a:r>
              <a:rPr lang="en-US" dirty="0"/>
              <a:t>, ham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verileriyle</a:t>
            </a:r>
            <a:r>
              <a:rPr lang="en-US" dirty="0"/>
              <a:t> </a:t>
            </a:r>
            <a:r>
              <a:rPr lang="en-US" dirty="0" err="1"/>
              <a:t>eğitiliyor</a:t>
            </a:r>
            <a:r>
              <a:rPr lang="en-US" dirty="0"/>
              <a:t>. </a:t>
            </a:r>
            <a:r>
              <a:rPr lang="en-US" dirty="0" err="1"/>
              <a:t>Amaç</a:t>
            </a:r>
            <a:r>
              <a:rPr lang="en-US" dirty="0"/>
              <a:t>, </a:t>
            </a:r>
            <a:r>
              <a:rPr lang="en-US" dirty="0" err="1"/>
              <a:t>dilin</a:t>
            </a:r>
            <a:r>
              <a:rPr lang="en-US" dirty="0"/>
              <a:t> </a:t>
            </a:r>
            <a:r>
              <a:rPr lang="en-US" dirty="0" err="1"/>
              <a:t>kendisini</a:t>
            </a:r>
            <a:r>
              <a:rPr lang="en-US" dirty="0"/>
              <a:t>,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, </a:t>
            </a:r>
            <a:r>
              <a:rPr lang="en-US" dirty="0" err="1"/>
              <a:t>olgusal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akıl</a:t>
            </a:r>
            <a:r>
              <a:rPr lang="en-US" dirty="0"/>
              <a:t> </a:t>
            </a:r>
            <a:r>
              <a:rPr lang="en-US" dirty="0" err="1"/>
              <a:t>yürütme</a:t>
            </a:r>
            <a:r>
              <a:rPr lang="en-US" dirty="0"/>
              <a:t> </a:t>
            </a:r>
            <a:r>
              <a:rPr lang="en-US" dirty="0" err="1"/>
              <a:t>kalıplarını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. Model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aşamada</a:t>
            </a:r>
            <a:r>
              <a:rPr lang="en-US" dirty="0"/>
              <a:t>, </a:t>
            </a:r>
            <a:r>
              <a:rPr lang="en-US" dirty="0" err="1"/>
              <a:t>metinlerdeki</a:t>
            </a:r>
            <a:r>
              <a:rPr lang="en-US" dirty="0"/>
              <a:t> </a:t>
            </a:r>
            <a:r>
              <a:rPr lang="en-US" dirty="0" err="1"/>
              <a:t>boşlukları</a:t>
            </a:r>
            <a:r>
              <a:rPr lang="en-US" dirty="0"/>
              <a:t> </a:t>
            </a:r>
            <a:r>
              <a:rPr lang="en-US" dirty="0" err="1"/>
              <a:t>doldurmayı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kelimeyi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etmeyi</a:t>
            </a:r>
            <a:r>
              <a:rPr lang="en-US" dirty="0"/>
              <a:t> </a:t>
            </a:r>
            <a:r>
              <a:rPr lang="en-US" dirty="0" err="1"/>
              <a:t>öğreniyor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İnce</a:t>
            </a:r>
            <a:r>
              <a:rPr lang="en-US" b="1" dirty="0"/>
              <a:t> </a:t>
            </a:r>
            <a:r>
              <a:rPr lang="en-US" b="1" dirty="0" err="1"/>
              <a:t>ayar</a:t>
            </a:r>
            <a:r>
              <a:rPr lang="en-US" b="1" dirty="0"/>
              <a:t> (Fine-tuning):</a:t>
            </a:r>
            <a:r>
              <a:rPr lang="en-US" dirty="0"/>
              <a:t> </a:t>
            </a: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eğitimli</a:t>
            </a:r>
            <a:r>
              <a:rPr lang="en-US" dirty="0"/>
              <a:t> model,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görev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özelleştiriliyor</a:t>
            </a:r>
            <a:r>
              <a:rPr lang="en-US" dirty="0"/>
              <a:t>. Bu </a:t>
            </a:r>
            <a:r>
              <a:rPr lang="en-US" dirty="0" err="1"/>
              <a:t>aşamada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,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kaliteli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etiketli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seti</a:t>
            </a:r>
            <a:r>
              <a:rPr lang="en-US" dirty="0"/>
              <a:t> </a:t>
            </a:r>
            <a:r>
              <a:rPr lang="en-US" dirty="0" err="1"/>
              <a:t>kullanılıyor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sohbet</a:t>
            </a:r>
            <a:r>
              <a:rPr lang="en-US" dirty="0"/>
              <a:t> </a:t>
            </a:r>
            <a:r>
              <a:rPr lang="en-US" dirty="0" err="1"/>
              <a:t>botu</a:t>
            </a:r>
            <a:r>
              <a:rPr lang="en-US" dirty="0"/>
              <a:t> </a:t>
            </a:r>
            <a:r>
              <a:rPr lang="en-US" dirty="0" err="1"/>
              <a:t>yaratmak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model, </a:t>
            </a:r>
            <a:r>
              <a:rPr lang="en-US" dirty="0" err="1"/>
              <a:t>soru-cevap</a:t>
            </a:r>
            <a:r>
              <a:rPr lang="en-US" dirty="0"/>
              <a:t> </a:t>
            </a:r>
            <a:r>
              <a:rPr lang="en-US" dirty="0" err="1"/>
              <a:t>diyalogları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setiyle</a:t>
            </a:r>
            <a:r>
              <a:rPr lang="en-US" dirty="0"/>
              <a:t> </a:t>
            </a:r>
            <a:r>
              <a:rPr lang="en-US" dirty="0" err="1"/>
              <a:t>ince</a:t>
            </a:r>
            <a:r>
              <a:rPr lang="en-US" dirty="0"/>
              <a:t> </a:t>
            </a:r>
            <a:r>
              <a:rPr lang="en-US" dirty="0" err="1"/>
              <a:t>ayara</a:t>
            </a:r>
            <a:r>
              <a:rPr lang="en-US" dirty="0"/>
              <a:t> </a:t>
            </a:r>
            <a:r>
              <a:rPr lang="en-US" dirty="0" err="1"/>
              <a:t>alınıyor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660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Tokenizasyon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Dilin</a:t>
            </a:r>
            <a:r>
              <a:rPr lang="en-US" b="1" dirty="0"/>
              <a:t> </a:t>
            </a:r>
            <a:r>
              <a:rPr lang="en-US" b="1" dirty="0" err="1"/>
              <a:t>Matematiksel</a:t>
            </a:r>
            <a:r>
              <a:rPr lang="en-US" b="1" dirty="0"/>
              <a:t> </a:t>
            </a:r>
            <a:r>
              <a:rPr lang="en-US" b="1" dirty="0" err="1"/>
              <a:t>Temsili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LLM'ler</a:t>
            </a:r>
            <a:r>
              <a:rPr lang="en-US" dirty="0"/>
              <a:t> </a:t>
            </a:r>
            <a:r>
              <a:rPr lang="en-US" dirty="0" err="1"/>
              <a:t>metinleri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harf</a:t>
            </a:r>
            <a:r>
              <a:rPr lang="en-US" dirty="0"/>
              <a:t> </a:t>
            </a:r>
            <a:r>
              <a:rPr lang="en-US" dirty="0" err="1"/>
              <a:t>harf</a:t>
            </a:r>
            <a:r>
              <a:rPr lang="en-US" dirty="0"/>
              <a:t> </a:t>
            </a:r>
            <a:r>
              <a:rPr lang="en-US" dirty="0" err="1"/>
              <a:t>işlemiyor</a:t>
            </a:r>
            <a:r>
              <a:rPr lang="en-US" dirty="0"/>
              <a:t>. </a:t>
            </a:r>
            <a:r>
              <a:rPr lang="en-US" dirty="0" err="1"/>
              <a:t>Metinler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 </a:t>
            </a:r>
            <a:r>
              <a:rPr lang="en-US" b="1" dirty="0"/>
              <a:t>"token"</a:t>
            </a:r>
            <a:r>
              <a:rPr lang="en-US" dirty="0"/>
              <a:t> 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birimlere</a:t>
            </a:r>
            <a:r>
              <a:rPr lang="en-US" dirty="0"/>
              <a:t> </a:t>
            </a:r>
            <a:r>
              <a:rPr lang="en-US" dirty="0" err="1"/>
              <a:t>bölünüyor</a:t>
            </a:r>
            <a:r>
              <a:rPr lang="en-US" dirty="0"/>
              <a:t>. Bu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tokenizasyon</a:t>
            </a:r>
            <a:r>
              <a:rPr lang="en-US" dirty="0"/>
              <a:t> </a:t>
            </a:r>
            <a:r>
              <a:rPr lang="en-US" dirty="0" err="1"/>
              <a:t>deniyor</a:t>
            </a:r>
            <a:r>
              <a:rPr lang="en-US" dirty="0"/>
              <a:t>. </a:t>
            </a:r>
            <a:r>
              <a:rPr lang="en-US" dirty="0" err="1"/>
              <a:t>Tokenler</a:t>
            </a:r>
            <a:r>
              <a:rPr lang="en-US" dirty="0"/>
              <a:t>, </a:t>
            </a:r>
            <a:r>
              <a:rPr lang="en-US" dirty="0" err="1"/>
              <a:t>bazen</a:t>
            </a:r>
            <a:r>
              <a:rPr lang="en-US" dirty="0"/>
              <a:t> "</a:t>
            </a:r>
            <a:r>
              <a:rPr lang="en-US" dirty="0" err="1"/>
              <a:t>kedi</a:t>
            </a:r>
            <a:r>
              <a:rPr lang="en-US" dirty="0"/>
              <a:t>" </a:t>
            </a:r>
            <a:r>
              <a:rPr lang="en-US" dirty="0" err="1"/>
              <a:t>gibi</a:t>
            </a:r>
            <a:r>
              <a:rPr lang="en-US" dirty="0"/>
              <a:t> tam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, </a:t>
            </a:r>
            <a:r>
              <a:rPr lang="en-US" dirty="0" err="1"/>
              <a:t>bazen</a:t>
            </a:r>
            <a:r>
              <a:rPr lang="en-US" dirty="0"/>
              <a:t> "</a:t>
            </a:r>
            <a:r>
              <a:rPr lang="en-US" dirty="0" err="1"/>
              <a:t>koş</a:t>
            </a:r>
            <a:r>
              <a:rPr lang="en-US" dirty="0"/>
              <a:t>" </a:t>
            </a:r>
            <a:r>
              <a:rPr lang="en-US" dirty="0" err="1"/>
              <a:t>ve</a:t>
            </a:r>
            <a:r>
              <a:rPr lang="en-US" dirty="0"/>
              <a:t> "</a:t>
            </a:r>
            <a:r>
              <a:rPr lang="en-US" dirty="0" err="1"/>
              <a:t>uyor</a:t>
            </a:r>
            <a:r>
              <a:rPr lang="en-US" dirty="0"/>
              <a:t>"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parçaları</a:t>
            </a:r>
            <a:r>
              <a:rPr lang="en-US" dirty="0"/>
              <a:t> </a:t>
            </a:r>
            <a:r>
              <a:rPr lang="en-US" dirty="0" err="1"/>
              <a:t>olabiliyor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Her token, </a:t>
            </a:r>
            <a:r>
              <a:rPr lang="en-US" b="1" dirty="0"/>
              <a:t>“embedding”</a:t>
            </a:r>
            <a:r>
              <a:rPr lang="en-US" dirty="0"/>
              <a:t> 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süreçle</a:t>
            </a:r>
            <a:r>
              <a:rPr lang="en-US" dirty="0"/>
              <a:t> </a:t>
            </a:r>
            <a:r>
              <a:rPr lang="en-US" dirty="0" err="1"/>
              <a:t>matematiksel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vektöre</a:t>
            </a:r>
            <a:r>
              <a:rPr lang="en-US" dirty="0"/>
              <a:t>,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sayı</a:t>
            </a:r>
            <a:r>
              <a:rPr lang="en-US" dirty="0"/>
              <a:t> </a:t>
            </a:r>
            <a:r>
              <a:rPr lang="en-US" dirty="0" err="1"/>
              <a:t>dizisine</a:t>
            </a:r>
            <a:r>
              <a:rPr lang="en-US" dirty="0"/>
              <a:t> </a:t>
            </a:r>
            <a:r>
              <a:rPr lang="en-US" dirty="0" err="1"/>
              <a:t>dönüştürülüyor</a:t>
            </a:r>
            <a:r>
              <a:rPr lang="en-US" dirty="0"/>
              <a:t>. Bu </a:t>
            </a:r>
            <a:r>
              <a:rPr lang="en-US" dirty="0" err="1"/>
              <a:t>vektör</a:t>
            </a:r>
            <a:r>
              <a:rPr lang="en-US" dirty="0"/>
              <a:t>, </a:t>
            </a:r>
            <a:r>
              <a:rPr lang="en-US" dirty="0" err="1"/>
              <a:t>token'ın</a:t>
            </a:r>
            <a:r>
              <a:rPr lang="en-US" dirty="0"/>
              <a:t> </a:t>
            </a:r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konumunu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, "</a:t>
            </a:r>
            <a:r>
              <a:rPr lang="en-US" dirty="0" err="1"/>
              <a:t>kral</a:t>
            </a:r>
            <a:r>
              <a:rPr lang="en-US" dirty="0"/>
              <a:t>" </a:t>
            </a:r>
            <a:r>
              <a:rPr lang="en-US" dirty="0" err="1"/>
              <a:t>ve</a:t>
            </a:r>
            <a:r>
              <a:rPr lang="en-US" dirty="0"/>
              <a:t> "</a:t>
            </a:r>
            <a:r>
              <a:rPr lang="en-US" dirty="0" err="1"/>
              <a:t>kraliçe</a:t>
            </a:r>
            <a:r>
              <a:rPr lang="en-US" dirty="0"/>
              <a:t>" </a:t>
            </a:r>
            <a:r>
              <a:rPr lang="en-US" dirty="0" err="1"/>
              <a:t>vektörleri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, "</a:t>
            </a:r>
            <a:r>
              <a:rPr lang="en-US" dirty="0" err="1"/>
              <a:t>adam</a:t>
            </a:r>
            <a:r>
              <a:rPr lang="en-US" dirty="0"/>
              <a:t>" </a:t>
            </a:r>
            <a:r>
              <a:rPr lang="en-US" dirty="0" err="1"/>
              <a:t>ve</a:t>
            </a:r>
            <a:r>
              <a:rPr lang="en-US" dirty="0"/>
              <a:t> "</a:t>
            </a:r>
            <a:r>
              <a:rPr lang="en-US" dirty="0" err="1"/>
              <a:t>kadın</a:t>
            </a:r>
            <a:r>
              <a:rPr lang="en-US" dirty="0"/>
              <a:t>" </a:t>
            </a:r>
            <a:r>
              <a:rPr lang="en-US" dirty="0" err="1"/>
              <a:t>vektörleri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ilişkiye</a:t>
            </a:r>
            <a:r>
              <a:rPr lang="en-US" dirty="0"/>
              <a:t> </a:t>
            </a:r>
            <a:r>
              <a:rPr lang="en-US" dirty="0" err="1"/>
              <a:t>benziyor</a:t>
            </a:r>
            <a:r>
              <a:rPr lang="en-US" dirty="0"/>
              <a:t>.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, </a:t>
            </a:r>
            <a:r>
              <a:rPr lang="en-US" dirty="0" err="1"/>
              <a:t>dili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sayılar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aralarındaki</a:t>
            </a:r>
            <a:r>
              <a:rPr lang="en-US" dirty="0"/>
              <a:t> </a:t>
            </a:r>
            <a:r>
              <a:rPr lang="en-US" dirty="0" err="1"/>
              <a:t>matematiksel</a:t>
            </a:r>
            <a:r>
              <a:rPr lang="en-US" dirty="0"/>
              <a:t> </a:t>
            </a:r>
            <a:r>
              <a:rPr lang="en-US" dirty="0" err="1"/>
              <a:t>ilişkiler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anlıyor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LLM’lerde</a:t>
            </a:r>
            <a:r>
              <a:rPr lang="en-US" b="1" dirty="0"/>
              <a:t> “Hallucination” </a:t>
            </a:r>
            <a:r>
              <a:rPr lang="en-US" b="1" dirty="0" err="1"/>
              <a:t>Problemi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LLM'ler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anlayış</a:t>
            </a:r>
            <a:r>
              <a:rPr lang="en-US" dirty="0"/>
              <a:t> </a:t>
            </a:r>
            <a:r>
              <a:rPr lang="en-US" dirty="0" err="1"/>
              <a:t>mekanizmasından</a:t>
            </a:r>
            <a:r>
              <a:rPr lang="en-US" dirty="0"/>
              <a:t> </a:t>
            </a:r>
            <a:r>
              <a:rPr lang="en-US" dirty="0" err="1"/>
              <a:t>yoksun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.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işlevleri</a:t>
            </a:r>
            <a:r>
              <a:rPr lang="en-US" dirty="0"/>
              <a:t>, </a:t>
            </a:r>
            <a:r>
              <a:rPr lang="en-US" dirty="0" err="1"/>
              <a:t>öğrendikleri</a:t>
            </a:r>
            <a:r>
              <a:rPr lang="en-US" dirty="0"/>
              <a:t> </a:t>
            </a:r>
            <a:r>
              <a:rPr lang="en-US" dirty="0" err="1"/>
              <a:t>istatistiksel</a:t>
            </a:r>
            <a:r>
              <a:rPr lang="en-US" dirty="0"/>
              <a:t> </a:t>
            </a:r>
            <a:r>
              <a:rPr lang="en-US" dirty="0" err="1"/>
              <a:t>kalıplara</a:t>
            </a:r>
            <a:r>
              <a:rPr lang="en-US" dirty="0"/>
              <a:t> </a:t>
            </a:r>
            <a:r>
              <a:rPr lang="en-US" dirty="0" err="1"/>
              <a:t>dayanarak</a:t>
            </a:r>
            <a:r>
              <a:rPr lang="en-US" dirty="0"/>
              <a:t> en </a:t>
            </a:r>
            <a:r>
              <a:rPr lang="en-US" dirty="0" err="1"/>
              <a:t>olası</a:t>
            </a:r>
            <a:r>
              <a:rPr lang="en-US" dirty="0"/>
              <a:t> </a:t>
            </a:r>
            <a:r>
              <a:rPr lang="en-US" dirty="0" err="1"/>
              <a:t>metni</a:t>
            </a:r>
            <a:r>
              <a:rPr lang="en-US" dirty="0"/>
              <a:t> </a:t>
            </a:r>
            <a:r>
              <a:rPr lang="en-US" dirty="0" err="1"/>
              <a:t>üretmek</a:t>
            </a:r>
            <a:r>
              <a:rPr lang="en-US" dirty="0"/>
              <a:t>. Bu </a:t>
            </a:r>
            <a:r>
              <a:rPr lang="en-US" dirty="0" err="1"/>
              <a:t>süreç</a:t>
            </a:r>
            <a:r>
              <a:rPr lang="en-US" dirty="0"/>
              <a:t>, </a:t>
            </a:r>
            <a:r>
              <a:rPr lang="en-US" dirty="0" err="1"/>
              <a:t>halüsinasyon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uydurma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bilinen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soruna</a:t>
            </a:r>
            <a:r>
              <a:rPr lang="en-US" dirty="0"/>
              <a:t> </a:t>
            </a:r>
            <a:r>
              <a:rPr lang="en-US" dirty="0" err="1"/>
              <a:t>zemin</a:t>
            </a:r>
            <a:r>
              <a:rPr lang="en-US" dirty="0"/>
              <a:t> </a:t>
            </a:r>
            <a:r>
              <a:rPr lang="en-US" dirty="0" err="1"/>
              <a:t>hazırlıyor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Halüsinasyon</a:t>
            </a:r>
            <a:r>
              <a:rPr lang="en-US" dirty="0"/>
              <a:t>, </a:t>
            </a:r>
            <a:r>
              <a:rPr lang="en-US" dirty="0" err="1"/>
              <a:t>modelin</a:t>
            </a:r>
            <a:r>
              <a:rPr lang="en-US" dirty="0"/>
              <a:t> son </a:t>
            </a:r>
            <a:r>
              <a:rPr lang="en-US" dirty="0" err="1"/>
              <a:t>derece</a:t>
            </a:r>
            <a:r>
              <a:rPr lang="en-US" dirty="0"/>
              <a:t> </a:t>
            </a:r>
            <a:r>
              <a:rPr lang="en-US" dirty="0" err="1"/>
              <a:t>ikna</a:t>
            </a:r>
            <a:r>
              <a:rPr lang="en-US" dirty="0"/>
              <a:t> </a:t>
            </a:r>
            <a:r>
              <a:rPr lang="en-US" dirty="0" err="1"/>
              <a:t>edici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akıcı</a:t>
            </a:r>
            <a:r>
              <a:rPr lang="en-US" dirty="0"/>
              <a:t> </a:t>
            </a:r>
            <a:r>
              <a:rPr lang="en-US" dirty="0" err="1"/>
              <a:t>görünen</a:t>
            </a:r>
            <a:r>
              <a:rPr lang="en-US" dirty="0"/>
              <a:t>,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uydurma</a:t>
            </a:r>
            <a:r>
              <a:rPr lang="en-US" dirty="0"/>
              <a:t> </a:t>
            </a:r>
            <a:r>
              <a:rPr lang="en-US" dirty="0" err="1"/>
              <a:t>bilgiler</a:t>
            </a:r>
            <a:r>
              <a:rPr lang="en-US" dirty="0"/>
              <a:t> </a:t>
            </a:r>
            <a:r>
              <a:rPr lang="en-US" dirty="0" err="1"/>
              <a:t>üretmesi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geliyor</a:t>
            </a:r>
            <a:r>
              <a:rPr lang="en-US" dirty="0"/>
              <a:t>. Model </a:t>
            </a:r>
            <a:r>
              <a:rPr lang="en-US" dirty="0" err="1"/>
              <a:t>bilmediğini</a:t>
            </a:r>
            <a:r>
              <a:rPr lang="en-US" dirty="0"/>
              <a:t> </a:t>
            </a:r>
            <a:r>
              <a:rPr lang="en-US" dirty="0" err="1"/>
              <a:t>bilmiyor</a:t>
            </a:r>
            <a:r>
              <a:rPr lang="en-US" dirty="0"/>
              <a:t>. </a:t>
            </a: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en </a:t>
            </a:r>
            <a:r>
              <a:rPr lang="en-US" dirty="0" err="1"/>
              <a:t>olası</a:t>
            </a:r>
            <a:r>
              <a:rPr lang="en-US" dirty="0"/>
              <a:t> </a:t>
            </a:r>
            <a:r>
              <a:rPr lang="en-US" dirty="0" err="1"/>
              <a:t>kelimelerle</a:t>
            </a:r>
            <a:r>
              <a:rPr lang="en-US" dirty="0"/>
              <a:t> </a:t>
            </a:r>
            <a:r>
              <a:rPr lang="en-US" dirty="0" err="1"/>
              <a:t>boşluğu</a:t>
            </a:r>
            <a:r>
              <a:rPr lang="en-US" dirty="0"/>
              <a:t> </a:t>
            </a:r>
            <a:r>
              <a:rPr lang="en-US" dirty="0" err="1"/>
              <a:t>doldurmaya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213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LLM’lerin</a:t>
            </a:r>
            <a:r>
              <a:rPr lang="en-US" b="1" dirty="0"/>
              <a:t> </a:t>
            </a:r>
            <a:r>
              <a:rPr lang="en-US" b="1" dirty="0" err="1"/>
              <a:t>Tarihçesi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Evrimi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, on </a:t>
            </a:r>
            <a:r>
              <a:rPr lang="en-US" dirty="0" err="1"/>
              <a:t>yılı</a:t>
            </a:r>
            <a:r>
              <a:rPr lang="en-US" dirty="0"/>
              <a:t> </a:t>
            </a:r>
            <a:r>
              <a:rPr lang="en-US" dirty="0" err="1"/>
              <a:t>aşkın</a:t>
            </a:r>
            <a:r>
              <a:rPr lang="en-US" dirty="0"/>
              <a:t> </a:t>
            </a:r>
            <a:r>
              <a:rPr lang="en-US" dirty="0" err="1"/>
              <a:t>zamandır</a:t>
            </a:r>
            <a:r>
              <a:rPr lang="en-US" dirty="0"/>
              <a:t> </a:t>
            </a:r>
            <a:r>
              <a:rPr lang="en-US" dirty="0" err="1"/>
              <a:t>süren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bilim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bilgisayar</a:t>
            </a:r>
            <a:r>
              <a:rPr lang="en-US" dirty="0"/>
              <a:t> </a:t>
            </a:r>
            <a:r>
              <a:rPr lang="en-US" dirty="0" err="1"/>
              <a:t>bilimi</a:t>
            </a:r>
            <a:r>
              <a:rPr lang="en-US" dirty="0"/>
              <a:t> </a:t>
            </a:r>
            <a:r>
              <a:rPr lang="en-US" dirty="0" err="1"/>
              <a:t>araştırmalarının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ürünü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İlk </a:t>
            </a: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Modellerinden</a:t>
            </a:r>
            <a:r>
              <a:rPr lang="en-US" b="1" dirty="0"/>
              <a:t> GPT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BERT’e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modelleme</a:t>
            </a:r>
            <a:r>
              <a:rPr lang="en-US" dirty="0"/>
              <a:t> </a:t>
            </a:r>
            <a:r>
              <a:rPr lang="en-US" dirty="0" err="1"/>
              <a:t>çabaları</a:t>
            </a:r>
            <a:r>
              <a:rPr lang="en-US" dirty="0"/>
              <a:t> 1960'lardaki </a:t>
            </a:r>
            <a:r>
              <a:rPr lang="en-US" b="1" dirty="0"/>
              <a:t>ELIZA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kural</a:t>
            </a:r>
            <a:r>
              <a:rPr lang="en-US" dirty="0"/>
              <a:t>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sistemlere</a:t>
            </a:r>
            <a:r>
              <a:rPr lang="en-US" dirty="0"/>
              <a:t> </a:t>
            </a:r>
            <a:r>
              <a:rPr lang="en-US" dirty="0" err="1"/>
              <a:t>dayanıyor</a:t>
            </a:r>
            <a:r>
              <a:rPr lang="en-US" dirty="0"/>
              <a:t>.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ilerleme</a:t>
            </a:r>
            <a:r>
              <a:rPr lang="en-US" dirty="0"/>
              <a:t>, </a:t>
            </a:r>
            <a:r>
              <a:rPr lang="en-US" dirty="0" err="1"/>
              <a:t>istatistiksel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2010'larda RNN </a:t>
            </a:r>
            <a:r>
              <a:rPr lang="en-US" dirty="0" err="1"/>
              <a:t>ve</a:t>
            </a:r>
            <a:r>
              <a:rPr lang="en-US" dirty="0"/>
              <a:t> LSTM </a:t>
            </a:r>
            <a:r>
              <a:rPr lang="en-US" dirty="0" err="1"/>
              <a:t>ağları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başlıyor</a:t>
            </a:r>
            <a:r>
              <a:rPr lang="en-US" dirty="0"/>
              <a:t>. 2018 </a:t>
            </a:r>
            <a:r>
              <a:rPr lang="en-US" dirty="0" err="1"/>
              <a:t>yılı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dönüm</a:t>
            </a:r>
            <a:r>
              <a:rPr lang="en-US" dirty="0"/>
              <a:t> </a:t>
            </a:r>
            <a:r>
              <a:rPr lang="en-US" dirty="0" err="1"/>
              <a:t>noktası</a:t>
            </a:r>
            <a:r>
              <a:rPr lang="en-US" dirty="0"/>
              <a:t> </a:t>
            </a:r>
            <a:r>
              <a:rPr lang="en-US" dirty="0" err="1"/>
              <a:t>oluyor</a:t>
            </a:r>
            <a:r>
              <a:rPr lang="en-US" dirty="0"/>
              <a:t>. </a:t>
            </a:r>
            <a:r>
              <a:rPr lang="en-US" b="1" dirty="0" err="1"/>
              <a:t>Google'ın</a:t>
            </a:r>
            <a:r>
              <a:rPr lang="en-US" dirty="0"/>
              <a:t> </a:t>
            </a:r>
            <a:r>
              <a:rPr lang="en-US" b="1" dirty="0"/>
              <a:t>BERT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, </a:t>
            </a:r>
            <a:r>
              <a:rPr lang="en-US" dirty="0" err="1"/>
              <a:t>metni</a:t>
            </a:r>
            <a:r>
              <a:rPr lang="en-US" dirty="0"/>
              <a:t> </a:t>
            </a:r>
            <a:r>
              <a:rPr lang="en-US" dirty="0" err="1"/>
              <a:t>çift</a:t>
            </a:r>
            <a:r>
              <a:rPr lang="en-US" dirty="0"/>
              <a:t> </a:t>
            </a:r>
            <a:r>
              <a:rPr lang="en-US" dirty="0" err="1"/>
              <a:t>yönlü</a:t>
            </a:r>
            <a:r>
              <a:rPr lang="en-US" dirty="0"/>
              <a:t> </a:t>
            </a:r>
            <a:r>
              <a:rPr lang="en-US" dirty="0" err="1"/>
              <a:t>okuyarak</a:t>
            </a:r>
            <a:r>
              <a:rPr lang="en-US" dirty="0"/>
              <a:t> </a:t>
            </a:r>
            <a:r>
              <a:rPr lang="en-US" dirty="0" err="1"/>
              <a:t>bağlamı</a:t>
            </a:r>
            <a:r>
              <a:rPr lang="en-US" dirty="0"/>
              <a:t> </a:t>
            </a:r>
            <a:r>
              <a:rPr lang="en-US" dirty="0" err="1"/>
              <a:t>anlamada</a:t>
            </a:r>
            <a:r>
              <a:rPr lang="en-US" dirty="0"/>
              <a:t> </a:t>
            </a:r>
            <a:r>
              <a:rPr lang="en-US" dirty="0" err="1"/>
              <a:t>çığır</a:t>
            </a:r>
            <a:r>
              <a:rPr lang="en-US" dirty="0"/>
              <a:t> </a:t>
            </a:r>
            <a:r>
              <a:rPr lang="en-US" dirty="0" err="1"/>
              <a:t>açıyor</a:t>
            </a:r>
            <a:r>
              <a:rPr lang="en-US" dirty="0"/>
              <a:t>. </a:t>
            </a:r>
            <a:r>
              <a:rPr lang="en-US" b="1" dirty="0"/>
              <a:t>BERT</a:t>
            </a:r>
            <a:r>
              <a:rPr lang="en-US" dirty="0"/>
              <a:t>, </a:t>
            </a:r>
            <a:r>
              <a:rPr lang="en-US" dirty="0" err="1"/>
              <a:t>özellikle</a:t>
            </a:r>
            <a:r>
              <a:rPr lang="en-US" dirty="0"/>
              <a:t> </a:t>
            </a: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sınıflandırma</a:t>
            </a:r>
            <a:r>
              <a:rPr lang="en-US" dirty="0"/>
              <a:t> </a:t>
            </a:r>
            <a:r>
              <a:rPr lang="en-US" dirty="0" err="1"/>
              <a:t>görevlerinde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veriyor</a:t>
            </a:r>
            <a:r>
              <a:rPr lang="en-US" dirty="0"/>
              <a:t>. </a:t>
            </a:r>
            <a:r>
              <a:rPr lang="en-US" b="1" dirty="0" err="1"/>
              <a:t>OpenAI'ın</a:t>
            </a:r>
            <a:r>
              <a:rPr lang="en-US" dirty="0"/>
              <a:t> </a:t>
            </a:r>
            <a:r>
              <a:rPr lang="en-US" b="1" dirty="0"/>
              <a:t>GPT</a:t>
            </a:r>
            <a:r>
              <a:rPr lang="en-US" dirty="0"/>
              <a:t> </a:t>
            </a:r>
            <a:r>
              <a:rPr lang="en-US" dirty="0" err="1"/>
              <a:t>serisi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üretken</a:t>
            </a:r>
            <a:r>
              <a:rPr lang="en-US" dirty="0"/>
              <a:t> </a:t>
            </a:r>
            <a:r>
              <a:rPr lang="en-US" dirty="0" err="1"/>
              <a:t>yeteneklere</a:t>
            </a:r>
            <a:r>
              <a:rPr lang="en-US" dirty="0"/>
              <a:t> </a:t>
            </a:r>
            <a:r>
              <a:rPr lang="en-US" dirty="0" err="1"/>
              <a:t>odaklanıyor</a:t>
            </a:r>
            <a:r>
              <a:rPr lang="en-US" dirty="0"/>
              <a:t>.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anlamakla</a:t>
            </a:r>
            <a:r>
              <a:rPr lang="en-US" dirty="0"/>
              <a:t> </a:t>
            </a:r>
            <a:r>
              <a:rPr lang="en-US" dirty="0" err="1"/>
              <a:t>kalmıyor</a:t>
            </a:r>
            <a:r>
              <a:rPr lang="en-US" dirty="0"/>
              <a:t>,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yaratıcı</a:t>
            </a:r>
            <a:r>
              <a:rPr lang="en-US" dirty="0"/>
              <a:t> </a:t>
            </a:r>
            <a:r>
              <a:rPr lang="en-US" dirty="0" err="1"/>
              <a:t>metinler</a:t>
            </a:r>
            <a:r>
              <a:rPr lang="en-US" dirty="0"/>
              <a:t> </a:t>
            </a:r>
            <a:r>
              <a:rPr lang="en-US" dirty="0" err="1"/>
              <a:t>üretmeyi</a:t>
            </a:r>
            <a:r>
              <a:rPr lang="en-US" dirty="0"/>
              <a:t> </a:t>
            </a:r>
            <a:r>
              <a:rPr lang="en-US" dirty="0" err="1"/>
              <a:t>hedefliyor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GPT-3, GPT-4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Yeni</a:t>
            </a:r>
            <a:r>
              <a:rPr lang="en-US" b="1" dirty="0"/>
              <a:t> </a:t>
            </a:r>
            <a:r>
              <a:rPr lang="en-US" b="1" dirty="0" err="1"/>
              <a:t>Nesil</a:t>
            </a:r>
            <a:r>
              <a:rPr lang="en-US" b="1" dirty="0"/>
              <a:t> </a:t>
            </a:r>
            <a:r>
              <a:rPr lang="en-US" b="1" dirty="0" err="1"/>
              <a:t>Modeller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2020'de </a:t>
            </a:r>
            <a:r>
              <a:rPr lang="en-US" dirty="0" err="1"/>
              <a:t>tanıtılan</a:t>
            </a:r>
            <a:r>
              <a:rPr lang="en-US" dirty="0"/>
              <a:t> GPT-3, 175 </a:t>
            </a:r>
            <a:r>
              <a:rPr lang="en-US" dirty="0" err="1"/>
              <a:t>milyar</a:t>
            </a:r>
            <a:r>
              <a:rPr lang="en-US" dirty="0"/>
              <a:t> </a:t>
            </a:r>
            <a:r>
              <a:rPr lang="en-US" dirty="0" err="1"/>
              <a:t>parametresi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ölçeğin</a:t>
            </a:r>
            <a:r>
              <a:rPr lang="en-US" dirty="0"/>
              <a:t> </a:t>
            </a:r>
            <a:r>
              <a:rPr lang="en-US" dirty="0" err="1"/>
              <a:t>gücünü</a:t>
            </a:r>
            <a:r>
              <a:rPr lang="en-US" dirty="0"/>
              <a:t> </a:t>
            </a:r>
            <a:r>
              <a:rPr lang="en-US" dirty="0" err="1"/>
              <a:t>herkese</a:t>
            </a:r>
            <a:r>
              <a:rPr lang="en-US" dirty="0"/>
              <a:t> </a:t>
            </a:r>
            <a:r>
              <a:rPr lang="en-US" dirty="0" err="1"/>
              <a:t>kanıtlıyor</a:t>
            </a:r>
            <a:r>
              <a:rPr lang="en-US" dirty="0"/>
              <a:t>.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üretme</a:t>
            </a:r>
            <a:r>
              <a:rPr lang="en-US" dirty="0"/>
              <a:t>, </a:t>
            </a:r>
            <a:r>
              <a:rPr lang="en-US" dirty="0" err="1"/>
              <a:t>çeviri</a:t>
            </a:r>
            <a:r>
              <a:rPr lang="en-US" dirty="0"/>
              <a:t> </a:t>
            </a:r>
            <a:r>
              <a:rPr lang="en-US" dirty="0" err="1"/>
              <a:t>yapma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basit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yazma</a:t>
            </a:r>
            <a:r>
              <a:rPr lang="en-US" dirty="0"/>
              <a:t> </a:t>
            </a:r>
            <a:r>
              <a:rPr lang="en-US" dirty="0" err="1"/>
              <a:t>yetenekleri</a:t>
            </a:r>
            <a:r>
              <a:rPr lang="en-US" dirty="0"/>
              <a:t>,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zekanın</a:t>
            </a:r>
            <a:r>
              <a:rPr lang="en-US" dirty="0"/>
              <a:t> </a:t>
            </a:r>
            <a:r>
              <a:rPr lang="en-US" dirty="0" err="1"/>
              <a:t>potansiyelini</a:t>
            </a:r>
            <a:r>
              <a:rPr lang="en-US" dirty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kitlelere</a:t>
            </a:r>
            <a:r>
              <a:rPr lang="en-US" dirty="0"/>
              <a:t> </a:t>
            </a:r>
            <a:r>
              <a:rPr lang="en-US" dirty="0" err="1"/>
              <a:t>gösteriyor</a:t>
            </a:r>
            <a:r>
              <a:rPr lang="en-US" dirty="0"/>
              <a:t>. GPT-4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sonrasındaki</a:t>
            </a:r>
            <a:r>
              <a:rPr lang="en-US" dirty="0"/>
              <a:t> GPT-4o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yetenekleri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da </a:t>
            </a:r>
            <a:r>
              <a:rPr lang="en-US" dirty="0" err="1"/>
              <a:t>ileri</a:t>
            </a:r>
            <a:r>
              <a:rPr lang="en-US" dirty="0"/>
              <a:t> </a:t>
            </a:r>
            <a:r>
              <a:rPr lang="en-US" dirty="0" err="1"/>
              <a:t>taşıyor</a:t>
            </a:r>
            <a:r>
              <a:rPr lang="en-US" dirty="0"/>
              <a:t>. </a:t>
            </a:r>
            <a:r>
              <a:rPr lang="en-US" dirty="0" err="1"/>
              <a:t>Modeller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metinle</a:t>
            </a:r>
            <a:r>
              <a:rPr lang="en-US" dirty="0"/>
              <a:t> </a:t>
            </a:r>
            <a:r>
              <a:rPr lang="en-US" dirty="0" err="1"/>
              <a:t>sınırlı</a:t>
            </a:r>
            <a:r>
              <a:rPr lang="en-US" dirty="0"/>
              <a:t> </a:t>
            </a:r>
            <a:r>
              <a:rPr lang="en-US" dirty="0" err="1"/>
              <a:t>kalmıyor</a:t>
            </a:r>
            <a:r>
              <a:rPr lang="en-US" dirty="0"/>
              <a:t>. </a:t>
            </a:r>
            <a:r>
              <a:rPr lang="en-US" dirty="0" err="1"/>
              <a:t>Görüntü</a:t>
            </a:r>
            <a:r>
              <a:rPr lang="en-US" dirty="0"/>
              <a:t>,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videoyu</a:t>
            </a:r>
            <a:r>
              <a:rPr lang="en-US" dirty="0"/>
              <a:t> da </a:t>
            </a:r>
            <a:r>
              <a:rPr lang="en-US" dirty="0" err="1"/>
              <a:t>anlayabilen</a:t>
            </a:r>
            <a:r>
              <a:rPr lang="en-US" dirty="0"/>
              <a:t> </a:t>
            </a:r>
            <a:r>
              <a:rPr lang="en-US" dirty="0" err="1"/>
              <a:t>çoklu</a:t>
            </a:r>
            <a:r>
              <a:rPr lang="en-US" dirty="0"/>
              <a:t> modal </a:t>
            </a:r>
            <a:r>
              <a:rPr lang="en-US" dirty="0" err="1"/>
              <a:t>sistemlere</a:t>
            </a:r>
            <a:r>
              <a:rPr lang="en-US" dirty="0"/>
              <a:t> </a:t>
            </a:r>
            <a:r>
              <a:rPr lang="en-US" dirty="0" err="1"/>
              <a:t>dönüşüyor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69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Açık</a:t>
            </a:r>
            <a:r>
              <a:rPr lang="en-US" b="1" dirty="0"/>
              <a:t> </a:t>
            </a:r>
            <a:r>
              <a:rPr lang="en-US" b="1" dirty="0" err="1"/>
              <a:t>Kaynak</a:t>
            </a:r>
            <a:r>
              <a:rPr lang="en-US" b="1" dirty="0"/>
              <a:t> </a:t>
            </a:r>
            <a:r>
              <a:rPr lang="en-US" b="1" dirty="0" err="1"/>
              <a:t>LLM’ler</a:t>
            </a:r>
            <a:r>
              <a:rPr lang="en-US" b="1" dirty="0"/>
              <a:t> (</a:t>
            </a:r>
            <a:r>
              <a:rPr lang="en-US" b="1" dirty="0" err="1"/>
              <a:t>LLaMA</a:t>
            </a:r>
            <a:r>
              <a:rPr lang="en-US" b="1" dirty="0"/>
              <a:t>, Falcon, Mistral vb.)</a:t>
            </a:r>
          </a:p>
          <a:p>
            <a:pPr marL="0" indent="0">
              <a:buNone/>
            </a:pPr>
            <a:r>
              <a:rPr lang="en-US" dirty="0" err="1"/>
              <a:t>Başlangıçta</a:t>
            </a:r>
            <a:r>
              <a:rPr lang="en-US" dirty="0"/>
              <a:t> </a:t>
            </a:r>
            <a:r>
              <a:rPr lang="en-US" dirty="0" err="1"/>
              <a:t>pazar</a:t>
            </a:r>
            <a:r>
              <a:rPr lang="en-US" dirty="0"/>
              <a:t>, </a:t>
            </a:r>
            <a:r>
              <a:rPr lang="en-US" dirty="0" err="1"/>
              <a:t>kapalı</a:t>
            </a:r>
            <a:r>
              <a:rPr lang="en-US" dirty="0"/>
              <a:t> </a:t>
            </a:r>
            <a:r>
              <a:rPr lang="en-US" dirty="0" err="1"/>
              <a:t>kaynak</a:t>
            </a:r>
            <a:r>
              <a:rPr lang="en-US" dirty="0"/>
              <a:t> </a:t>
            </a: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hakimiyetindeydi</a:t>
            </a:r>
            <a:r>
              <a:rPr lang="en-US" dirty="0"/>
              <a:t>. </a:t>
            </a:r>
            <a:r>
              <a:rPr lang="en-US" dirty="0" err="1">
                <a:hlinkClick r:id="rId2"/>
              </a:rPr>
              <a:t>Meta'nın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LLaMA</a:t>
            </a:r>
            <a:r>
              <a:rPr lang="en-US" dirty="0">
                <a:hlinkClick r:id="rId2"/>
              </a:rPr>
              <a:t>​</a:t>
            </a:r>
            <a:r>
              <a:rPr lang="en-US" dirty="0"/>
              <a:t> </a:t>
            </a:r>
            <a:r>
              <a:rPr lang="en-US" dirty="0" err="1"/>
              <a:t>serisini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kaynak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yayınlaması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dinamiği</a:t>
            </a:r>
            <a:r>
              <a:rPr lang="en-US" dirty="0"/>
              <a:t> </a:t>
            </a:r>
            <a:r>
              <a:rPr lang="en-US" dirty="0" err="1"/>
              <a:t>kökten</a:t>
            </a:r>
            <a:r>
              <a:rPr lang="en-US" dirty="0"/>
              <a:t> </a:t>
            </a:r>
            <a:r>
              <a:rPr lang="en-US" dirty="0" err="1"/>
              <a:t>değiştiriyor</a:t>
            </a:r>
            <a:r>
              <a:rPr lang="en-US" dirty="0"/>
              <a:t>.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kaynak</a:t>
            </a:r>
            <a:r>
              <a:rPr lang="en-US" dirty="0"/>
              <a:t>, </a:t>
            </a:r>
            <a:r>
              <a:rPr lang="en-US" dirty="0" err="1"/>
              <a:t>araştırmacıların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modellerini</a:t>
            </a:r>
            <a:r>
              <a:rPr lang="en-US" dirty="0"/>
              <a:t> </a:t>
            </a:r>
            <a:r>
              <a:rPr lang="en-US" dirty="0" err="1"/>
              <a:t>eğitmesine</a:t>
            </a:r>
            <a:r>
              <a:rPr lang="en-US" dirty="0"/>
              <a:t> </a:t>
            </a:r>
            <a:r>
              <a:rPr lang="en-US" dirty="0" err="1"/>
              <a:t>olanak</a:t>
            </a:r>
            <a:r>
              <a:rPr lang="en-US" dirty="0"/>
              <a:t> </a:t>
            </a:r>
            <a:r>
              <a:rPr lang="en-US" dirty="0" err="1"/>
              <a:t>tanıyor</a:t>
            </a:r>
            <a:r>
              <a:rPr lang="en-US" dirty="0"/>
              <a:t>. </a:t>
            </a:r>
            <a:r>
              <a:rPr lang="en-US" dirty="0" err="1"/>
              <a:t>LLaMA'yı</a:t>
            </a:r>
            <a:r>
              <a:rPr lang="en-US" dirty="0"/>
              <a:t>, Falcon </a:t>
            </a:r>
            <a:r>
              <a:rPr lang="en-US" dirty="0" err="1"/>
              <a:t>ve</a:t>
            </a:r>
            <a:r>
              <a:rPr lang="en-US" dirty="0"/>
              <a:t> Mistral AI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performanslı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kaynak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takip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i="1" dirty="0" err="1"/>
              <a:t>Büyük</a:t>
            </a:r>
            <a:r>
              <a:rPr lang="en-US" i="1" dirty="0"/>
              <a:t> </a:t>
            </a:r>
            <a:r>
              <a:rPr lang="en-US" i="1" dirty="0" err="1"/>
              <a:t>dil</a:t>
            </a:r>
            <a:r>
              <a:rPr lang="en-US" i="1" dirty="0"/>
              <a:t> </a:t>
            </a:r>
            <a:r>
              <a:rPr lang="en-US" i="1" dirty="0" err="1"/>
              <a:t>modelleri</a:t>
            </a:r>
            <a:r>
              <a:rPr lang="en-US" i="1" dirty="0"/>
              <a:t>, </a:t>
            </a:r>
            <a:r>
              <a:rPr lang="en-US" i="1" dirty="0" err="1"/>
              <a:t>muazzam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hesaplama</a:t>
            </a:r>
            <a:r>
              <a:rPr lang="en-US" i="1" dirty="0"/>
              <a:t> </a:t>
            </a:r>
            <a:r>
              <a:rPr lang="en-US" i="1" dirty="0" err="1"/>
              <a:t>gücü</a:t>
            </a:r>
            <a:r>
              <a:rPr lang="en-US" i="1" dirty="0"/>
              <a:t> </a:t>
            </a:r>
            <a:r>
              <a:rPr lang="en-US" i="1" dirty="0" err="1"/>
              <a:t>gerektiriyor</a:t>
            </a:r>
            <a:r>
              <a:rPr lang="en-US" i="1" dirty="0"/>
              <a:t>. Bu durum </a:t>
            </a:r>
            <a:r>
              <a:rPr lang="en-US" i="1" dirty="0" err="1"/>
              <a:t>ciddi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enerji</a:t>
            </a:r>
            <a:r>
              <a:rPr lang="en-US" i="1" dirty="0"/>
              <a:t> </a:t>
            </a:r>
            <a:r>
              <a:rPr lang="en-US" i="1" dirty="0" err="1"/>
              <a:t>tüketimi</a:t>
            </a:r>
            <a:r>
              <a:rPr lang="en-US" i="1" dirty="0"/>
              <a:t> </a:t>
            </a:r>
            <a:r>
              <a:rPr lang="en-US" i="1" dirty="0" err="1"/>
              <a:t>sorununu</a:t>
            </a:r>
            <a:r>
              <a:rPr lang="en-US" i="1" dirty="0"/>
              <a:t> da </a:t>
            </a:r>
            <a:r>
              <a:rPr lang="en-US" i="1" dirty="0" err="1"/>
              <a:t>beraberinde</a:t>
            </a:r>
            <a:r>
              <a:rPr lang="en-US" i="1" dirty="0"/>
              <a:t> </a:t>
            </a:r>
            <a:r>
              <a:rPr lang="en-US" i="1" dirty="0" err="1"/>
              <a:t>getiriyor</a:t>
            </a:r>
            <a:r>
              <a:rPr lang="en-US" i="1" dirty="0"/>
              <a:t>. Stanford </a:t>
            </a:r>
            <a:r>
              <a:rPr lang="en-US" i="1" dirty="0" err="1"/>
              <a:t>Üniversitesinin</a:t>
            </a:r>
            <a:r>
              <a:rPr lang="en-US" i="1" dirty="0"/>
              <a:t> </a:t>
            </a:r>
            <a:r>
              <a:rPr lang="en-US" b="1" i="1" dirty="0"/>
              <a:t>2024 AI Index </a:t>
            </a:r>
            <a:r>
              <a:rPr lang="en-US" b="1" i="1" dirty="0" err="1"/>
              <a:t>Raporu</a:t>
            </a:r>
            <a:r>
              <a:rPr lang="en-US" i="1" dirty="0" err="1"/>
              <a:t>'na</a:t>
            </a:r>
            <a:r>
              <a:rPr lang="en-US" i="1" dirty="0"/>
              <a:t> </a:t>
            </a:r>
            <a:r>
              <a:rPr lang="en-US" i="1" dirty="0" err="1"/>
              <a:t>göre</a:t>
            </a:r>
            <a:r>
              <a:rPr lang="en-US" i="1" dirty="0"/>
              <a:t>, </a:t>
            </a:r>
            <a:r>
              <a:rPr lang="en-US" i="1" dirty="0" err="1"/>
              <a:t>sadece</a:t>
            </a:r>
            <a:r>
              <a:rPr lang="en-US" i="1" dirty="0"/>
              <a:t> </a:t>
            </a:r>
            <a:r>
              <a:rPr lang="en-US" b="1" i="1" dirty="0"/>
              <a:t>GPT-3</a:t>
            </a:r>
            <a:r>
              <a:rPr lang="en-US" i="1" dirty="0"/>
              <a:t> </a:t>
            </a:r>
            <a:r>
              <a:rPr lang="en-US" i="1" dirty="0" err="1"/>
              <a:t>modelinin</a:t>
            </a:r>
            <a:r>
              <a:rPr lang="en-US" i="1" dirty="0"/>
              <a:t> (2020)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eğitim</a:t>
            </a:r>
            <a:r>
              <a:rPr lang="en-US" i="1" dirty="0"/>
              <a:t> </a:t>
            </a:r>
            <a:r>
              <a:rPr lang="en-US" i="1" dirty="0" err="1"/>
              <a:t>süreci</a:t>
            </a:r>
            <a:r>
              <a:rPr lang="en-US" i="1" dirty="0"/>
              <a:t> </a:t>
            </a:r>
            <a:r>
              <a:rPr lang="en-US" i="1" dirty="0" err="1"/>
              <a:t>yaklaşık</a:t>
            </a:r>
            <a:r>
              <a:rPr lang="en-US" i="1" dirty="0"/>
              <a:t> 1,287 Megawatt-</a:t>
            </a:r>
            <a:r>
              <a:rPr lang="en-US" i="1" dirty="0" err="1"/>
              <a:t>saat</a:t>
            </a:r>
            <a:r>
              <a:rPr lang="en-US" i="1" dirty="0"/>
              <a:t> (</a:t>
            </a:r>
            <a:r>
              <a:rPr lang="en-US" i="1" dirty="0" err="1"/>
              <a:t>MWh</a:t>
            </a:r>
            <a:r>
              <a:rPr lang="en-US" i="1" dirty="0"/>
              <a:t>) </a:t>
            </a:r>
            <a:r>
              <a:rPr lang="en-US" i="1" dirty="0" err="1"/>
              <a:t>enerji</a:t>
            </a:r>
            <a:r>
              <a:rPr lang="en-US" i="1" dirty="0"/>
              <a:t> </a:t>
            </a:r>
            <a:r>
              <a:rPr lang="en-US" i="1" dirty="0" err="1"/>
              <a:t>tüketmiş</a:t>
            </a:r>
            <a:r>
              <a:rPr lang="en-US" i="1" dirty="0"/>
              <a:t>. Bu </a:t>
            </a:r>
            <a:r>
              <a:rPr lang="en-US" i="1" dirty="0" err="1"/>
              <a:t>miktar</a:t>
            </a:r>
            <a:r>
              <a:rPr lang="en-US" i="1" dirty="0"/>
              <a:t>, </a:t>
            </a:r>
            <a:r>
              <a:rPr lang="en-US" i="1" dirty="0" err="1"/>
              <a:t>yüzlerce</a:t>
            </a:r>
            <a:r>
              <a:rPr lang="en-US" i="1" dirty="0"/>
              <a:t> </a:t>
            </a:r>
            <a:r>
              <a:rPr lang="en-US" i="1" dirty="0" err="1"/>
              <a:t>hanenin</a:t>
            </a:r>
            <a:r>
              <a:rPr lang="en-US" i="1" dirty="0"/>
              <a:t> </a:t>
            </a:r>
            <a:r>
              <a:rPr lang="en-US" i="1" dirty="0" err="1"/>
              <a:t>yıllık</a:t>
            </a:r>
            <a:r>
              <a:rPr lang="en-US" i="1" dirty="0"/>
              <a:t> </a:t>
            </a:r>
            <a:r>
              <a:rPr lang="en-US" i="1" dirty="0" err="1"/>
              <a:t>ortalama</a:t>
            </a:r>
            <a:r>
              <a:rPr lang="en-US" i="1" dirty="0"/>
              <a:t> </a:t>
            </a:r>
            <a:r>
              <a:rPr lang="en-US" i="1" dirty="0" err="1"/>
              <a:t>elektrik</a:t>
            </a:r>
            <a:r>
              <a:rPr lang="en-US" i="1" dirty="0"/>
              <a:t> </a:t>
            </a:r>
            <a:r>
              <a:rPr lang="en-US" i="1" dirty="0" err="1"/>
              <a:t>tüketimine</a:t>
            </a:r>
            <a:r>
              <a:rPr lang="en-US" i="1" dirty="0"/>
              <a:t> </a:t>
            </a:r>
            <a:r>
              <a:rPr lang="en-US" i="1" dirty="0" err="1"/>
              <a:t>eş</a:t>
            </a:r>
            <a:r>
              <a:rPr lang="en-US" i="1" dirty="0"/>
              <a:t> </a:t>
            </a:r>
            <a:r>
              <a:rPr lang="en-US" i="1" dirty="0" err="1"/>
              <a:t>değer</a:t>
            </a:r>
            <a:r>
              <a:rPr lang="en-US" i="1" dirty="0"/>
              <a:t>. </a:t>
            </a:r>
            <a:r>
              <a:rPr lang="en-US" i="1" dirty="0" err="1"/>
              <a:t>Günümüzün</a:t>
            </a:r>
            <a:r>
              <a:rPr lang="en-US" i="1" dirty="0"/>
              <a:t> </a:t>
            </a:r>
            <a:r>
              <a:rPr lang="en-US" i="1" dirty="0" err="1"/>
              <a:t>çok</a:t>
            </a:r>
            <a:r>
              <a:rPr lang="en-US" i="1" dirty="0"/>
              <a:t> </a:t>
            </a:r>
            <a:r>
              <a:rPr lang="en-US" i="1" dirty="0" err="1"/>
              <a:t>daha</a:t>
            </a:r>
            <a:r>
              <a:rPr lang="en-US" i="1" dirty="0"/>
              <a:t> </a:t>
            </a:r>
            <a:r>
              <a:rPr lang="en-US" i="1" dirty="0" err="1"/>
              <a:t>büyük</a:t>
            </a:r>
            <a:r>
              <a:rPr lang="en-US" i="1" dirty="0"/>
              <a:t> </a:t>
            </a:r>
            <a:r>
              <a:rPr lang="en-US" i="1" dirty="0" err="1"/>
              <a:t>ve</a:t>
            </a:r>
            <a:r>
              <a:rPr lang="en-US" i="1" dirty="0"/>
              <a:t> multimodal </a:t>
            </a:r>
            <a:r>
              <a:rPr lang="en-US" i="1" dirty="0" err="1"/>
              <a:t>modellerinin</a:t>
            </a:r>
            <a:r>
              <a:rPr lang="en-US" i="1" dirty="0"/>
              <a:t> </a:t>
            </a:r>
            <a:r>
              <a:rPr lang="en-US" i="1" dirty="0" err="1"/>
              <a:t>eğitim</a:t>
            </a:r>
            <a:r>
              <a:rPr lang="en-US" i="1" dirty="0"/>
              <a:t> </a:t>
            </a:r>
            <a:r>
              <a:rPr lang="en-US" i="1" dirty="0" err="1"/>
              <a:t>ve</a:t>
            </a:r>
            <a:r>
              <a:rPr lang="en-US" i="1" dirty="0"/>
              <a:t> </a:t>
            </a:r>
            <a:r>
              <a:rPr lang="en-US" i="1" dirty="0" err="1"/>
              <a:t>işletme</a:t>
            </a:r>
            <a:r>
              <a:rPr lang="en-US" i="1" dirty="0"/>
              <a:t> </a:t>
            </a:r>
            <a:r>
              <a:rPr lang="en-US" i="1" dirty="0" err="1"/>
              <a:t>maliyetleri</a:t>
            </a:r>
            <a:r>
              <a:rPr lang="en-US" i="1" dirty="0"/>
              <a:t>, </a:t>
            </a:r>
            <a:r>
              <a:rPr lang="en-US" i="1" dirty="0" err="1"/>
              <a:t>sürdürülebilirlik</a:t>
            </a:r>
            <a:r>
              <a:rPr lang="en-US" i="1" dirty="0"/>
              <a:t> </a:t>
            </a:r>
            <a:r>
              <a:rPr lang="en-US" i="1" dirty="0" err="1"/>
              <a:t>ve</a:t>
            </a:r>
            <a:r>
              <a:rPr lang="en-US" i="1" dirty="0"/>
              <a:t> </a:t>
            </a:r>
            <a:r>
              <a:rPr lang="en-US" i="1" dirty="0" err="1"/>
              <a:t>çevresel</a:t>
            </a:r>
            <a:r>
              <a:rPr lang="en-US" i="1" dirty="0"/>
              <a:t> </a:t>
            </a:r>
            <a:r>
              <a:rPr lang="en-US" i="1" dirty="0" err="1"/>
              <a:t>etki</a:t>
            </a:r>
            <a:r>
              <a:rPr lang="en-US" i="1" dirty="0"/>
              <a:t> </a:t>
            </a:r>
            <a:r>
              <a:rPr lang="en-US" i="1" dirty="0" err="1"/>
              <a:t>konusunda</a:t>
            </a:r>
            <a:r>
              <a:rPr lang="en-US" i="1" dirty="0"/>
              <a:t> </a:t>
            </a:r>
            <a:r>
              <a:rPr lang="en-US" i="1" dirty="0" err="1"/>
              <a:t>önemli</a:t>
            </a:r>
            <a:r>
              <a:rPr lang="en-US" i="1" dirty="0"/>
              <a:t> </a:t>
            </a:r>
            <a:r>
              <a:rPr lang="en-US" i="1" dirty="0" err="1"/>
              <a:t>etik</a:t>
            </a:r>
            <a:r>
              <a:rPr lang="en-US" i="1" dirty="0"/>
              <a:t> </a:t>
            </a:r>
            <a:r>
              <a:rPr lang="en-US" i="1" dirty="0" err="1"/>
              <a:t>tartışmaları</a:t>
            </a:r>
            <a:r>
              <a:rPr lang="en-US" i="1" dirty="0"/>
              <a:t> </a:t>
            </a:r>
            <a:r>
              <a:rPr lang="en-US" i="1" dirty="0" err="1"/>
              <a:t>tetikliyor</a:t>
            </a:r>
            <a:r>
              <a:rPr lang="en-US" i="1" dirty="0" smtClean="0"/>
              <a:t>.</a:t>
            </a:r>
            <a:endParaRPr lang="tr-TR" i="1" dirty="0" smtClean="0"/>
          </a:p>
          <a:p>
            <a:pPr marL="0" indent="0">
              <a:buNone/>
            </a:pPr>
            <a:r>
              <a:rPr lang="en-US" b="1" dirty="0"/>
              <a:t>Large Language Models </a:t>
            </a:r>
            <a:r>
              <a:rPr lang="en-US" b="1" dirty="0" err="1"/>
              <a:t>Kullanım</a:t>
            </a:r>
            <a:r>
              <a:rPr lang="en-US" b="1" dirty="0"/>
              <a:t> </a:t>
            </a:r>
            <a:r>
              <a:rPr lang="en-US" b="1" dirty="0" err="1"/>
              <a:t>Alanları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LLM'lerin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yönlülüğü</a:t>
            </a:r>
            <a:r>
              <a:rPr lang="en-US" dirty="0"/>
              <a:t>,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hızla</a:t>
            </a:r>
            <a:r>
              <a:rPr lang="en-US" dirty="0"/>
              <a:t> her </a:t>
            </a:r>
            <a:r>
              <a:rPr lang="en-US" dirty="0" err="1"/>
              <a:t>sektöre</a:t>
            </a:r>
            <a:r>
              <a:rPr lang="en-US" dirty="0"/>
              <a:t> </a:t>
            </a:r>
            <a:r>
              <a:rPr lang="en-US" dirty="0" err="1"/>
              <a:t>sokuyor</a:t>
            </a:r>
            <a:r>
              <a:rPr lang="en-US" dirty="0"/>
              <a:t>.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gücü</a:t>
            </a:r>
            <a:r>
              <a:rPr lang="en-US" dirty="0"/>
              <a:t> </a:t>
            </a:r>
            <a:r>
              <a:rPr lang="en-US" dirty="0" err="1"/>
              <a:t>günlük</a:t>
            </a:r>
            <a:r>
              <a:rPr lang="en-US" dirty="0"/>
              <a:t> </a:t>
            </a:r>
            <a:r>
              <a:rPr lang="en-US" dirty="0" err="1"/>
              <a:t>hayatımızda</a:t>
            </a:r>
            <a:r>
              <a:rPr lang="en-US" dirty="0"/>
              <a:t> </a:t>
            </a:r>
            <a:r>
              <a:rPr lang="en-US" dirty="0" err="1"/>
              <a:t>fark</a:t>
            </a:r>
            <a:r>
              <a:rPr lang="en-US" dirty="0"/>
              <a:t>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başladık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Sohbet</a:t>
            </a:r>
            <a:r>
              <a:rPr lang="en-US" b="1" dirty="0"/>
              <a:t> </a:t>
            </a:r>
            <a:r>
              <a:rPr lang="en-US" b="1" dirty="0" err="1"/>
              <a:t>Botları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Sanal</a:t>
            </a:r>
            <a:r>
              <a:rPr lang="en-US" b="1" dirty="0"/>
              <a:t> </a:t>
            </a:r>
            <a:r>
              <a:rPr lang="en-US" b="1" dirty="0" err="1"/>
              <a:t>Asistanlar</a:t>
            </a:r>
            <a:r>
              <a:rPr lang="en-US" b="1" dirty="0"/>
              <a:t> (</a:t>
            </a:r>
            <a:r>
              <a:rPr lang="en-US" b="1" dirty="0" err="1"/>
              <a:t>ChatGPT</a:t>
            </a:r>
            <a:r>
              <a:rPr lang="en-US" b="1" dirty="0"/>
              <a:t>, Gemini)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teknolojiyi</a:t>
            </a:r>
            <a:r>
              <a:rPr lang="en-US" dirty="0"/>
              <a:t> </a:t>
            </a:r>
            <a:r>
              <a:rPr lang="en-US" dirty="0" err="1"/>
              <a:t>muhtemelen</a:t>
            </a:r>
            <a:r>
              <a:rPr lang="en-US" dirty="0"/>
              <a:t> 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buralardan</a:t>
            </a:r>
            <a:r>
              <a:rPr lang="en-US" dirty="0"/>
              <a:t> </a:t>
            </a:r>
            <a:r>
              <a:rPr lang="en-US" dirty="0" err="1"/>
              <a:t>tanıyoruz</a:t>
            </a:r>
            <a:r>
              <a:rPr lang="en-US" dirty="0"/>
              <a:t>. </a:t>
            </a:r>
            <a:r>
              <a:rPr lang="en-US" dirty="0" err="1">
                <a:hlinkClick r:id="rId3"/>
              </a:rPr>
              <a:t>ChatGPT</a:t>
            </a:r>
            <a:r>
              <a:rPr lang="en-US" dirty="0">
                <a:hlinkClick r:id="rId3"/>
              </a:rPr>
              <a:t>​</a:t>
            </a:r>
            <a:r>
              <a:rPr lang="en-US" dirty="0"/>
              <a:t>, Google </a:t>
            </a:r>
            <a:r>
              <a:rPr lang="en-US" dirty="0">
                <a:hlinkClick r:id="rId4"/>
              </a:rPr>
              <a:t>Gemini</a:t>
            </a:r>
            <a:r>
              <a:rPr lang="en-US" dirty="0"/>
              <a:t> </a:t>
            </a:r>
            <a:r>
              <a:rPr lang="en-US" dirty="0" err="1"/>
              <a:t>veya</a:t>
            </a:r>
            <a:r>
              <a:rPr lang="en-US" dirty="0"/>
              <a:t> </a:t>
            </a:r>
            <a:r>
              <a:rPr lang="en-US" dirty="0">
                <a:hlinkClick r:id="rId5"/>
              </a:rPr>
              <a:t>Claude</a:t>
            </a:r>
            <a:r>
              <a:rPr lang="en-US" dirty="0"/>
              <a:t> 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güncel</a:t>
            </a:r>
            <a:r>
              <a:rPr lang="en-US" dirty="0"/>
              <a:t> </a:t>
            </a:r>
            <a:r>
              <a:rPr lang="en-US" dirty="0" err="1"/>
              <a:t>araçlar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basit</a:t>
            </a:r>
            <a:r>
              <a:rPr lang="en-US" dirty="0"/>
              <a:t> </a:t>
            </a:r>
            <a:r>
              <a:rPr lang="en-US" dirty="0" err="1"/>
              <a:t>birer</a:t>
            </a:r>
            <a:r>
              <a:rPr lang="en-US" dirty="0"/>
              <a:t> </a:t>
            </a:r>
            <a:r>
              <a:rPr lang="en-US" dirty="0" err="1"/>
              <a:t>komut</a:t>
            </a:r>
            <a:r>
              <a:rPr lang="en-US" dirty="0"/>
              <a:t> </a:t>
            </a:r>
            <a:r>
              <a:rPr lang="en-US" dirty="0" err="1"/>
              <a:t>alıcı</a:t>
            </a:r>
            <a:r>
              <a:rPr lang="en-US" dirty="0"/>
              <a:t> </a:t>
            </a:r>
            <a:r>
              <a:rPr lang="en-US" dirty="0" err="1"/>
              <a:t>değiller</a:t>
            </a:r>
            <a:r>
              <a:rPr lang="en-US" dirty="0"/>
              <a:t>. O </a:t>
            </a:r>
            <a:r>
              <a:rPr lang="en-US" dirty="0" err="1"/>
              <a:t>sınırı</a:t>
            </a:r>
            <a:r>
              <a:rPr lang="en-US" dirty="0"/>
              <a:t> </a:t>
            </a:r>
            <a:r>
              <a:rPr lang="en-US" dirty="0" err="1"/>
              <a:t>çoktan</a:t>
            </a:r>
            <a:r>
              <a:rPr lang="en-US" dirty="0"/>
              <a:t> </a:t>
            </a:r>
            <a:r>
              <a:rPr lang="en-US" dirty="0" err="1"/>
              <a:t>aştılar</a:t>
            </a:r>
            <a:r>
              <a:rPr lang="en-US" dirty="0"/>
              <a:t>. </a:t>
            </a:r>
            <a:r>
              <a:rPr lang="en-US" dirty="0" err="1"/>
              <a:t>İnsanlarla</a:t>
            </a:r>
            <a:r>
              <a:rPr lang="en-US" dirty="0"/>
              <a:t>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dilde</a:t>
            </a:r>
            <a:r>
              <a:rPr lang="en-US" dirty="0"/>
              <a:t> </a:t>
            </a:r>
            <a:r>
              <a:rPr lang="en-US" dirty="0" err="1"/>
              <a:t>sohbet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,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sorulara</a:t>
            </a:r>
            <a:r>
              <a:rPr lang="en-US" dirty="0"/>
              <a:t> </a:t>
            </a:r>
            <a:r>
              <a:rPr lang="en-US" dirty="0" err="1"/>
              <a:t>şaşırtıcı</a:t>
            </a:r>
            <a:r>
              <a:rPr lang="en-US" dirty="0"/>
              <a:t> </a:t>
            </a:r>
            <a:r>
              <a:rPr lang="en-US" dirty="0" err="1"/>
              <a:t>derecede</a:t>
            </a:r>
            <a:r>
              <a:rPr lang="en-US" dirty="0"/>
              <a:t> </a:t>
            </a:r>
            <a:r>
              <a:rPr lang="en-US" dirty="0" err="1"/>
              <a:t>isabetli</a:t>
            </a:r>
            <a:r>
              <a:rPr lang="en-US" dirty="0"/>
              <a:t> </a:t>
            </a:r>
            <a:r>
              <a:rPr lang="en-US" dirty="0" err="1"/>
              <a:t>yanıtlar</a:t>
            </a:r>
            <a:r>
              <a:rPr lang="en-US" dirty="0"/>
              <a:t> </a:t>
            </a:r>
            <a:r>
              <a:rPr lang="en-US" dirty="0" err="1"/>
              <a:t>buluyor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hatta</a:t>
            </a:r>
            <a:r>
              <a:rPr lang="en-US" dirty="0"/>
              <a:t> </a:t>
            </a:r>
            <a:r>
              <a:rPr lang="en-US" dirty="0" err="1"/>
              <a:t>yaratıcı</a:t>
            </a:r>
            <a:r>
              <a:rPr lang="en-US" dirty="0"/>
              <a:t> </a:t>
            </a:r>
            <a:r>
              <a:rPr lang="en-US" dirty="0" err="1"/>
              <a:t>görevlerde</a:t>
            </a:r>
            <a:r>
              <a:rPr lang="en-US" dirty="0"/>
              <a:t> 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asistanlık</a:t>
            </a:r>
            <a:r>
              <a:rPr lang="en-US" dirty="0"/>
              <a:t> </a:t>
            </a:r>
            <a:r>
              <a:rPr lang="en-US" dirty="0" err="1"/>
              <a:t>yapıyorlar</a:t>
            </a:r>
            <a:r>
              <a:rPr lang="en-US" dirty="0"/>
              <a:t>. </a:t>
            </a:r>
            <a:r>
              <a:rPr lang="en-US" dirty="0" err="1"/>
              <a:t>Bugün</a:t>
            </a:r>
            <a:r>
              <a:rPr lang="en-US" dirty="0"/>
              <a:t> </a:t>
            </a:r>
            <a:r>
              <a:rPr lang="en-US" dirty="0" err="1"/>
              <a:t>müşteri</a:t>
            </a:r>
            <a:r>
              <a:rPr lang="en-US" dirty="0"/>
              <a:t> </a:t>
            </a:r>
            <a:r>
              <a:rPr lang="en-US" dirty="0" err="1"/>
              <a:t>hizmetleri</a:t>
            </a:r>
            <a:r>
              <a:rPr lang="en-US" dirty="0"/>
              <a:t> </a:t>
            </a:r>
            <a:r>
              <a:rPr lang="en-US" dirty="0" err="1"/>
              <a:t>otomasyonundan</a:t>
            </a:r>
            <a:r>
              <a:rPr lang="en-US" dirty="0"/>
              <a:t> </a:t>
            </a:r>
            <a:r>
              <a:rPr lang="en-US" dirty="0" err="1"/>
              <a:t>kişisel</a:t>
            </a:r>
            <a:r>
              <a:rPr lang="en-US" dirty="0"/>
              <a:t> </a:t>
            </a:r>
            <a:r>
              <a:rPr lang="en-US" dirty="0" err="1"/>
              <a:t>takvimleri</a:t>
            </a:r>
            <a:r>
              <a:rPr lang="en-US" dirty="0"/>
              <a:t> </a:t>
            </a:r>
            <a:r>
              <a:rPr lang="en-US" dirty="0" err="1"/>
              <a:t>yöneten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asistana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alanda</a:t>
            </a:r>
            <a:r>
              <a:rPr lang="en-US" dirty="0"/>
              <a:t> </a:t>
            </a:r>
            <a:r>
              <a:rPr lang="en-US" dirty="0" err="1"/>
              <a:t>karşımıza</a:t>
            </a:r>
            <a:r>
              <a:rPr lang="en-US" dirty="0"/>
              <a:t> </a:t>
            </a:r>
            <a:r>
              <a:rPr lang="en-US" dirty="0" err="1"/>
              <a:t>çıkıyorlar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67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İçerik</a:t>
            </a:r>
            <a:r>
              <a:rPr lang="en-US" b="1" dirty="0"/>
              <a:t> </a:t>
            </a:r>
            <a:r>
              <a:rPr lang="en-US" b="1" dirty="0" err="1"/>
              <a:t>Üretimi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Metin</a:t>
            </a:r>
            <a:r>
              <a:rPr lang="en-US" b="1" dirty="0"/>
              <a:t> </a:t>
            </a:r>
            <a:r>
              <a:rPr lang="en-US" b="1" dirty="0" err="1"/>
              <a:t>Tamamlama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Pazarlama</a:t>
            </a:r>
            <a:r>
              <a:rPr lang="en-US" dirty="0"/>
              <a:t> </a:t>
            </a:r>
            <a:r>
              <a:rPr lang="en-US" dirty="0" err="1"/>
              <a:t>metinleri</a:t>
            </a:r>
            <a:r>
              <a:rPr lang="en-US" dirty="0"/>
              <a:t>, blog </a:t>
            </a:r>
            <a:r>
              <a:rPr lang="en-US" dirty="0" err="1"/>
              <a:t>taslakları</a:t>
            </a:r>
            <a:r>
              <a:rPr lang="en-US" dirty="0"/>
              <a:t>, e-</a:t>
            </a:r>
            <a:r>
              <a:rPr lang="en-US" dirty="0" err="1"/>
              <a:t>postalar</a:t>
            </a:r>
            <a:r>
              <a:rPr lang="en-US" dirty="0"/>
              <a:t>... </a:t>
            </a:r>
            <a:r>
              <a:rPr lang="en-US" dirty="0" err="1"/>
              <a:t>LLM'ler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alanlarda</a:t>
            </a:r>
            <a:r>
              <a:rPr lang="en-US" dirty="0"/>
              <a:t> </a:t>
            </a:r>
            <a:r>
              <a:rPr lang="en-US" dirty="0" err="1"/>
              <a:t>içerik</a:t>
            </a:r>
            <a:r>
              <a:rPr lang="en-US" dirty="0"/>
              <a:t> </a:t>
            </a:r>
            <a:r>
              <a:rPr lang="en-US" dirty="0" err="1"/>
              <a:t>üreticilere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oluyor</a:t>
            </a:r>
            <a:r>
              <a:rPr lang="en-US" dirty="0"/>
              <a:t>. </a:t>
            </a:r>
            <a:r>
              <a:rPr lang="en-US" dirty="0" err="1"/>
              <a:t>Kullanıcının</a:t>
            </a:r>
            <a:r>
              <a:rPr lang="en-US" dirty="0"/>
              <a:t> </a:t>
            </a:r>
            <a:r>
              <a:rPr lang="en-US" dirty="0" err="1"/>
              <a:t>verdiği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prompt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komut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, </a:t>
            </a:r>
            <a:r>
              <a:rPr lang="en-US" dirty="0" err="1"/>
              <a:t>istenen</a:t>
            </a:r>
            <a:r>
              <a:rPr lang="en-US" dirty="0"/>
              <a:t> ton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stilde</a:t>
            </a:r>
            <a:r>
              <a:rPr lang="en-US" dirty="0"/>
              <a:t> </a:t>
            </a:r>
            <a:r>
              <a:rPr lang="en-US" dirty="0" err="1"/>
              <a:t>şaşırtıcı</a:t>
            </a:r>
            <a:r>
              <a:rPr lang="en-US" dirty="0"/>
              <a:t> </a:t>
            </a:r>
            <a:r>
              <a:rPr lang="en-US" dirty="0" err="1"/>
              <a:t>derecede</a:t>
            </a:r>
            <a:r>
              <a:rPr lang="en-US" dirty="0"/>
              <a:t>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metinler</a:t>
            </a:r>
            <a:r>
              <a:rPr lang="en-US" dirty="0"/>
              <a:t> </a:t>
            </a:r>
            <a:r>
              <a:rPr lang="en-US" dirty="0" err="1"/>
              <a:t>oluşturuyorlar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Kod</a:t>
            </a:r>
            <a:r>
              <a:rPr lang="en-US" b="1" dirty="0"/>
              <a:t> </a:t>
            </a:r>
            <a:r>
              <a:rPr lang="en-US" b="1" dirty="0" err="1"/>
              <a:t>Yazma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Hata</a:t>
            </a:r>
            <a:r>
              <a:rPr lang="en-US" b="1" dirty="0"/>
              <a:t> </a:t>
            </a:r>
            <a:r>
              <a:rPr lang="en-US" b="1" dirty="0" err="1"/>
              <a:t>Ayıklama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Yazılımcılar</a:t>
            </a:r>
            <a:r>
              <a:rPr lang="en-US" dirty="0"/>
              <a:t>,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yazdırmak</a:t>
            </a:r>
            <a:r>
              <a:rPr lang="en-US" dirty="0"/>
              <a:t>,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koddaki</a:t>
            </a:r>
            <a:r>
              <a:rPr lang="en-US" dirty="0"/>
              <a:t> </a:t>
            </a:r>
            <a:r>
              <a:rPr lang="en-US" dirty="0" err="1"/>
              <a:t>hataları</a:t>
            </a:r>
            <a:r>
              <a:rPr lang="en-US" dirty="0"/>
              <a:t> </a:t>
            </a:r>
            <a:r>
              <a:rPr lang="en-US" dirty="0" err="1"/>
              <a:t>bulmak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dile</a:t>
            </a:r>
            <a:r>
              <a:rPr lang="en-US" dirty="0"/>
              <a:t> </a:t>
            </a:r>
            <a:r>
              <a:rPr lang="en-US" dirty="0" err="1"/>
              <a:t>çevirmek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LLM'leri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kullanıyor</a:t>
            </a:r>
            <a:r>
              <a:rPr lang="en-US" dirty="0"/>
              <a:t>. </a:t>
            </a:r>
            <a:r>
              <a:rPr lang="en-US" dirty="0" err="1"/>
              <a:t>GitHub</a:t>
            </a:r>
            <a:r>
              <a:rPr lang="en-US" dirty="0"/>
              <a:t> Copilot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araçlar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teknolojiyi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editörünün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taşıyor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Çeviri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Çok</a:t>
            </a:r>
            <a:r>
              <a:rPr lang="en-US" b="1" dirty="0"/>
              <a:t> </a:t>
            </a:r>
            <a:r>
              <a:rPr lang="en-US" b="1" dirty="0" err="1"/>
              <a:t>Dilli</a:t>
            </a:r>
            <a:r>
              <a:rPr lang="en-US" b="1" dirty="0"/>
              <a:t> </a:t>
            </a:r>
            <a:r>
              <a:rPr lang="en-US" b="1" dirty="0" err="1"/>
              <a:t>Uygulamalar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Geleneksel</a:t>
            </a:r>
            <a:r>
              <a:rPr lang="en-US" dirty="0"/>
              <a:t> </a:t>
            </a:r>
            <a:r>
              <a:rPr lang="en-US" dirty="0" err="1"/>
              <a:t>çeviri</a:t>
            </a:r>
            <a:r>
              <a:rPr lang="en-US" dirty="0"/>
              <a:t> </a:t>
            </a:r>
            <a:r>
              <a:rPr lang="en-US" dirty="0" err="1"/>
              <a:t>motorları</a:t>
            </a:r>
            <a:r>
              <a:rPr lang="en-US" dirty="0"/>
              <a:t> </a:t>
            </a:r>
            <a:r>
              <a:rPr lang="en-US" dirty="0" err="1"/>
              <a:t>kelimeleri</a:t>
            </a:r>
            <a:r>
              <a:rPr lang="en-US" dirty="0"/>
              <a:t> </a:t>
            </a:r>
            <a:r>
              <a:rPr lang="en-US" dirty="0" err="1"/>
              <a:t>çeviriyordu</a:t>
            </a:r>
            <a:r>
              <a:rPr lang="en-US" dirty="0"/>
              <a:t>. </a:t>
            </a:r>
            <a:r>
              <a:rPr lang="en-US" dirty="0" err="1"/>
              <a:t>LLM'ler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anlamı</a:t>
            </a:r>
            <a:r>
              <a:rPr lang="en-US" dirty="0"/>
              <a:t> </a:t>
            </a:r>
            <a:r>
              <a:rPr lang="en-US" dirty="0" err="1"/>
              <a:t>çeviriyor</a:t>
            </a:r>
            <a:r>
              <a:rPr lang="en-US" dirty="0"/>
              <a:t>. Diller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kültürel</a:t>
            </a:r>
            <a:r>
              <a:rPr lang="en-US" dirty="0"/>
              <a:t> </a:t>
            </a:r>
            <a:r>
              <a:rPr lang="en-US" dirty="0" err="1"/>
              <a:t>nüansları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deyimleri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iyi</a:t>
            </a:r>
            <a:r>
              <a:rPr lang="en-US" dirty="0"/>
              <a:t> </a:t>
            </a:r>
            <a:r>
              <a:rPr lang="en-US" dirty="0" err="1"/>
              <a:t>kavrıyorlar</a:t>
            </a:r>
            <a:r>
              <a:rPr lang="en-US" dirty="0"/>
              <a:t>. Bu </a:t>
            </a:r>
            <a:r>
              <a:rPr lang="en-US" dirty="0" err="1"/>
              <a:t>sayede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akıcı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çıkıyor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Arama</a:t>
            </a:r>
            <a:r>
              <a:rPr lang="en-US" b="1" dirty="0"/>
              <a:t> </a:t>
            </a:r>
            <a:r>
              <a:rPr lang="en-US" b="1" dirty="0" err="1"/>
              <a:t>Motorları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Bilgi</a:t>
            </a:r>
            <a:r>
              <a:rPr lang="en-US" b="1" dirty="0"/>
              <a:t> </a:t>
            </a:r>
            <a:r>
              <a:rPr lang="en-US" b="1" dirty="0" err="1"/>
              <a:t>Erişimi</a:t>
            </a:r>
            <a:r>
              <a:rPr lang="en-US" b="1" dirty="0"/>
              <a:t> (AI Overviews)</a:t>
            </a:r>
          </a:p>
          <a:p>
            <a:pPr marL="0" indent="0">
              <a:buNone/>
            </a:pPr>
            <a:r>
              <a:rPr lang="en-US" dirty="0" err="1"/>
              <a:t>Bilgiye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şekli</a:t>
            </a:r>
            <a:r>
              <a:rPr lang="en-US" dirty="0"/>
              <a:t> </a:t>
            </a:r>
            <a:r>
              <a:rPr lang="en-US" dirty="0" err="1"/>
              <a:t>değişiyor</a:t>
            </a:r>
            <a:r>
              <a:rPr lang="en-US" dirty="0"/>
              <a:t>. </a:t>
            </a: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motorları</a:t>
            </a:r>
            <a:r>
              <a:rPr lang="en-US" dirty="0"/>
              <a:t>, </a:t>
            </a:r>
            <a:r>
              <a:rPr lang="en-US" dirty="0" err="1"/>
              <a:t>mavi</a:t>
            </a:r>
            <a:r>
              <a:rPr lang="en-US" dirty="0"/>
              <a:t> </a:t>
            </a:r>
            <a:r>
              <a:rPr lang="en-US" dirty="0" err="1"/>
              <a:t>linkleri</a:t>
            </a:r>
            <a:r>
              <a:rPr lang="en-US" dirty="0"/>
              <a:t> </a:t>
            </a:r>
            <a:r>
              <a:rPr lang="en-US" dirty="0" err="1"/>
              <a:t>sıralamak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yanıtlar</a:t>
            </a:r>
            <a:r>
              <a:rPr lang="en-US" dirty="0"/>
              <a:t> </a:t>
            </a:r>
            <a:r>
              <a:rPr lang="en-US" dirty="0" err="1"/>
              <a:t>sunmak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LLM'leri</a:t>
            </a:r>
            <a:r>
              <a:rPr lang="en-US" dirty="0"/>
              <a:t> </a:t>
            </a:r>
            <a:r>
              <a:rPr lang="en-US" dirty="0" err="1"/>
              <a:t>entegre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. </a:t>
            </a:r>
            <a:r>
              <a:rPr lang="en-US" dirty="0" err="1"/>
              <a:t>Google'ın</a:t>
            </a:r>
            <a:r>
              <a:rPr lang="en-US" dirty="0"/>
              <a:t> "AI Overviews" (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Özeti</a:t>
            </a:r>
            <a:r>
              <a:rPr lang="en-US" dirty="0"/>
              <a:t>) </a:t>
            </a:r>
            <a:r>
              <a:rPr lang="en-US" dirty="0" err="1"/>
              <a:t>özelliği</a:t>
            </a:r>
            <a:r>
              <a:rPr lang="en-US" dirty="0"/>
              <a:t>, tam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yapıyor</a:t>
            </a:r>
            <a:r>
              <a:rPr lang="en-US" dirty="0"/>
              <a:t>. </a:t>
            </a: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sonuçlarını</a:t>
            </a:r>
            <a:r>
              <a:rPr lang="en-US" dirty="0"/>
              <a:t> </a:t>
            </a:r>
            <a:r>
              <a:rPr lang="en-US" dirty="0" err="1"/>
              <a:t>tarayıp</a:t>
            </a:r>
            <a:r>
              <a:rPr lang="en-US" dirty="0"/>
              <a:t>,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sorulara</a:t>
            </a:r>
            <a:r>
              <a:rPr lang="en-US" dirty="0"/>
              <a:t> </a:t>
            </a:r>
            <a:r>
              <a:rPr lang="en-US" dirty="0" err="1"/>
              <a:t>özet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yanıt</a:t>
            </a:r>
            <a:r>
              <a:rPr lang="en-US" dirty="0"/>
              <a:t> </a:t>
            </a:r>
            <a:r>
              <a:rPr lang="en-US" dirty="0" err="1"/>
              <a:t>derliyor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1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LLM’lerin</a:t>
            </a:r>
            <a:r>
              <a:rPr lang="en-US" b="1" dirty="0"/>
              <a:t> </a:t>
            </a:r>
            <a:r>
              <a:rPr lang="en-US" b="1" dirty="0" err="1"/>
              <a:t>Avantajları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Zorlukları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teknoloji</a:t>
            </a:r>
            <a:r>
              <a:rPr lang="en-US" dirty="0"/>
              <a:t>,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faydaların</a:t>
            </a:r>
            <a:r>
              <a:rPr lang="en-US" dirty="0"/>
              <a:t> </a:t>
            </a:r>
            <a:r>
              <a:rPr lang="en-US" dirty="0" err="1"/>
              <a:t>yanında</a:t>
            </a:r>
            <a:r>
              <a:rPr lang="en-US" dirty="0"/>
              <a:t> </a:t>
            </a:r>
            <a:r>
              <a:rPr lang="en-US" dirty="0" err="1"/>
              <a:t>çözülmeyi</a:t>
            </a:r>
            <a:r>
              <a:rPr lang="en-US" dirty="0"/>
              <a:t> </a:t>
            </a:r>
            <a:r>
              <a:rPr lang="en-US" dirty="0" err="1"/>
              <a:t>bekleyen</a:t>
            </a:r>
            <a:r>
              <a:rPr lang="en-US" dirty="0"/>
              <a:t> </a:t>
            </a:r>
            <a:r>
              <a:rPr lang="en-US" dirty="0" err="1"/>
              <a:t>sorunları</a:t>
            </a:r>
            <a:r>
              <a:rPr lang="en-US" dirty="0"/>
              <a:t> da </a:t>
            </a:r>
            <a:r>
              <a:rPr lang="en-US" dirty="0" err="1"/>
              <a:t>beraberinde</a:t>
            </a:r>
            <a:r>
              <a:rPr lang="en-US" dirty="0"/>
              <a:t> </a:t>
            </a:r>
            <a:r>
              <a:rPr lang="en-US" dirty="0" err="1"/>
              <a:t>getirebiliyor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Avantajlar</a:t>
            </a:r>
            <a:r>
              <a:rPr lang="en-US" b="1" dirty="0"/>
              <a:t>: </a:t>
            </a:r>
            <a:r>
              <a:rPr lang="en-US" b="1" dirty="0" err="1"/>
              <a:t>Çok</a:t>
            </a:r>
            <a:r>
              <a:rPr lang="en-US" b="1" dirty="0"/>
              <a:t> </a:t>
            </a:r>
            <a:r>
              <a:rPr lang="en-US" b="1" dirty="0" err="1"/>
              <a:t>Yönlülük</a:t>
            </a:r>
            <a:r>
              <a:rPr lang="en-US" b="1" dirty="0"/>
              <a:t>, </a:t>
            </a:r>
            <a:r>
              <a:rPr lang="en-US" b="1" dirty="0" err="1"/>
              <a:t>Üretkenlik</a:t>
            </a:r>
            <a:r>
              <a:rPr lang="en-US" b="1" dirty="0"/>
              <a:t>, </a:t>
            </a:r>
            <a:r>
              <a:rPr lang="en-US" b="1" dirty="0" err="1"/>
              <a:t>Hız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LLM'lerin</a:t>
            </a:r>
            <a:r>
              <a:rPr lang="en-US" dirty="0"/>
              <a:t> en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avantajının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yönlülüğü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söylemek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.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model,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görevler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ince</a:t>
            </a:r>
            <a:r>
              <a:rPr lang="en-US" dirty="0"/>
              <a:t> </a:t>
            </a:r>
            <a:r>
              <a:rPr lang="en-US" dirty="0" err="1"/>
              <a:t>ayar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kullanılabiliyor</a:t>
            </a:r>
            <a:r>
              <a:rPr lang="en-US" dirty="0"/>
              <a:t>. </a:t>
            </a:r>
            <a:r>
              <a:rPr lang="en-US" dirty="0" err="1"/>
              <a:t>Rutin</a:t>
            </a:r>
            <a:r>
              <a:rPr lang="en-US" dirty="0"/>
              <a:t> </a:t>
            </a:r>
            <a:r>
              <a:rPr lang="en-US" dirty="0" err="1"/>
              <a:t>görevleri</a:t>
            </a:r>
            <a:r>
              <a:rPr lang="en-US" dirty="0"/>
              <a:t> </a:t>
            </a:r>
            <a:r>
              <a:rPr lang="en-US" dirty="0" err="1"/>
              <a:t>otomatikleştirerek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üretkenliğini</a:t>
            </a:r>
            <a:r>
              <a:rPr lang="en-US" dirty="0"/>
              <a:t> </a:t>
            </a:r>
            <a:r>
              <a:rPr lang="en-US" dirty="0" err="1"/>
              <a:t>artırıyorlar</a:t>
            </a:r>
            <a:r>
              <a:rPr lang="en-US" dirty="0"/>
              <a:t>. </a:t>
            </a:r>
            <a:r>
              <a:rPr lang="en-US" dirty="0" err="1"/>
              <a:t>Bilgiye</a:t>
            </a:r>
            <a:r>
              <a:rPr lang="en-US" dirty="0"/>
              <a:t> </a:t>
            </a:r>
            <a:r>
              <a:rPr lang="en-US" dirty="0" err="1"/>
              <a:t>erişimi</a:t>
            </a:r>
            <a:r>
              <a:rPr lang="en-US" dirty="0"/>
              <a:t> </a:t>
            </a:r>
            <a:r>
              <a:rPr lang="en-US" dirty="0" err="1"/>
              <a:t>hızlandırıyor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verilerin</a:t>
            </a:r>
            <a:r>
              <a:rPr lang="en-US" dirty="0"/>
              <a:t> </a:t>
            </a:r>
            <a:r>
              <a:rPr lang="en-US" dirty="0" err="1"/>
              <a:t>özetlenmesini</a:t>
            </a:r>
            <a:r>
              <a:rPr lang="en-US" dirty="0"/>
              <a:t> </a:t>
            </a:r>
            <a:r>
              <a:rPr lang="en-US" dirty="0" err="1"/>
              <a:t>saniyelere</a:t>
            </a:r>
            <a:r>
              <a:rPr lang="en-US" dirty="0"/>
              <a:t> </a:t>
            </a:r>
            <a:r>
              <a:rPr lang="en-US" dirty="0" err="1"/>
              <a:t>indiriyorlar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Zorluklar</a:t>
            </a:r>
            <a:r>
              <a:rPr lang="en-US" b="1" dirty="0"/>
              <a:t>: </a:t>
            </a:r>
            <a:r>
              <a:rPr lang="en-US" b="1" dirty="0" err="1"/>
              <a:t>Yüksek</a:t>
            </a:r>
            <a:r>
              <a:rPr lang="en-US" b="1" dirty="0"/>
              <a:t> </a:t>
            </a:r>
            <a:r>
              <a:rPr lang="en-US" b="1" dirty="0" err="1"/>
              <a:t>Maliyet</a:t>
            </a:r>
            <a:r>
              <a:rPr lang="en-US" b="1" dirty="0"/>
              <a:t>, </a:t>
            </a:r>
            <a:r>
              <a:rPr lang="en-US" b="1" dirty="0" err="1"/>
              <a:t>Enerji</a:t>
            </a:r>
            <a:r>
              <a:rPr lang="en-US" b="1" dirty="0"/>
              <a:t> </a:t>
            </a:r>
            <a:r>
              <a:rPr lang="en-US" b="1" dirty="0" err="1"/>
              <a:t>Tüketimi</a:t>
            </a:r>
            <a:r>
              <a:rPr lang="en-US" b="1" dirty="0"/>
              <a:t>, </a:t>
            </a:r>
            <a:r>
              <a:rPr lang="en-US" b="1" dirty="0" err="1"/>
              <a:t>Doğruluk</a:t>
            </a:r>
            <a:r>
              <a:rPr lang="en-US" b="1" dirty="0"/>
              <a:t> </a:t>
            </a:r>
            <a:r>
              <a:rPr lang="en-US" b="1" dirty="0" err="1"/>
              <a:t>Sorunları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eğitimi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çalıştırılması</a:t>
            </a:r>
            <a:r>
              <a:rPr lang="en-US" dirty="0"/>
              <a:t> </a:t>
            </a:r>
            <a:r>
              <a:rPr lang="en-US" dirty="0" err="1"/>
              <a:t>milyonlarca</a:t>
            </a:r>
            <a:r>
              <a:rPr lang="en-US" dirty="0"/>
              <a:t> </a:t>
            </a:r>
            <a:r>
              <a:rPr lang="en-US" dirty="0" err="1"/>
              <a:t>dolarlık</a:t>
            </a:r>
            <a:r>
              <a:rPr lang="en-US" dirty="0"/>
              <a:t> </a:t>
            </a:r>
            <a:r>
              <a:rPr lang="en-US" dirty="0" err="1"/>
              <a:t>donanım</a:t>
            </a:r>
            <a:r>
              <a:rPr lang="en-US" dirty="0"/>
              <a:t> </a:t>
            </a:r>
            <a:r>
              <a:rPr lang="en-US" dirty="0" err="1"/>
              <a:t>yatırımı</a:t>
            </a:r>
            <a:r>
              <a:rPr lang="en-US" dirty="0"/>
              <a:t> </a:t>
            </a:r>
            <a:r>
              <a:rPr lang="en-US" dirty="0" err="1"/>
              <a:t>gerektiriyor</a:t>
            </a:r>
            <a:r>
              <a:rPr lang="en-US" dirty="0"/>
              <a:t>. </a:t>
            </a:r>
            <a:r>
              <a:rPr lang="en-US" dirty="0" err="1"/>
              <a:t>Süreç</a:t>
            </a:r>
            <a:r>
              <a:rPr lang="en-US" dirty="0"/>
              <a:t>, </a:t>
            </a:r>
            <a:r>
              <a:rPr lang="en-US" dirty="0" err="1"/>
              <a:t>devasa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tüketimine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oluyor</a:t>
            </a:r>
            <a:r>
              <a:rPr lang="en-US" dirty="0"/>
              <a:t>. </a:t>
            </a:r>
            <a:r>
              <a:rPr lang="en-US" dirty="0" err="1"/>
              <a:t>Doğruluk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en </a:t>
            </a:r>
            <a:r>
              <a:rPr lang="en-US" dirty="0" err="1"/>
              <a:t>kritik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zorluk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öne</a:t>
            </a:r>
            <a:r>
              <a:rPr lang="en-US" dirty="0"/>
              <a:t> </a:t>
            </a:r>
            <a:r>
              <a:rPr lang="en-US" dirty="0" err="1"/>
              <a:t>çıkıyor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Etik</a:t>
            </a:r>
            <a:r>
              <a:rPr lang="en-US" b="1" dirty="0"/>
              <a:t> </a:t>
            </a:r>
            <a:r>
              <a:rPr lang="en-US" b="1" dirty="0" err="1"/>
              <a:t>Konular</a:t>
            </a:r>
            <a:r>
              <a:rPr lang="en-US" b="1" dirty="0"/>
              <a:t>: </a:t>
            </a:r>
            <a:r>
              <a:rPr lang="en-US" b="1" dirty="0" err="1"/>
              <a:t>Yanlılık</a:t>
            </a:r>
            <a:r>
              <a:rPr lang="en-US" b="1" dirty="0"/>
              <a:t>, </a:t>
            </a:r>
            <a:r>
              <a:rPr lang="en-US" b="1" dirty="0" err="1"/>
              <a:t>Yanlış</a:t>
            </a:r>
            <a:r>
              <a:rPr lang="en-US" b="1" dirty="0"/>
              <a:t> </a:t>
            </a:r>
            <a:r>
              <a:rPr lang="en-US" b="1" dirty="0" err="1"/>
              <a:t>Bilgi</a:t>
            </a:r>
            <a:r>
              <a:rPr lang="en-US" b="1" dirty="0"/>
              <a:t>, </a:t>
            </a:r>
            <a:r>
              <a:rPr lang="en-US" b="1" dirty="0" err="1"/>
              <a:t>Veri</a:t>
            </a:r>
            <a:r>
              <a:rPr lang="en-US" b="1" dirty="0"/>
              <a:t> </a:t>
            </a:r>
            <a:r>
              <a:rPr lang="en-US" b="1" dirty="0" err="1"/>
              <a:t>Gizliliği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LLM'ler</a:t>
            </a:r>
            <a:r>
              <a:rPr lang="en-US" dirty="0"/>
              <a:t>, </a:t>
            </a:r>
            <a:r>
              <a:rPr lang="en-US" dirty="0" err="1"/>
              <a:t>eğitildikleri</a:t>
            </a:r>
            <a:r>
              <a:rPr lang="en-US" dirty="0"/>
              <a:t> internet </a:t>
            </a:r>
            <a:r>
              <a:rPr lang="en-US" dirty="0" err="1"/>
              <a:t>verilerindeki</a:t>
            </a:r>
            <a:r>
              <a:rPr lang="en-US" dirty="0"/>
              <a:t> </a:t>
            </a: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yargıları</a:t>
            </a:r>
            <a:r>
              <a:rPr lang="en-US" dirty="0"/>
              <a:t> </a:t>
            </a:r>
            <a:r>
              <a:rPr lang="en-US" dirty="0" err="1"/>
              <a:t>öğreniyor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yargıları</a:t>
            </a:r>
            <a:r>
              <a:rPr lang="en-US" dirty="0"/>
              <a:t> </a:t>
            </a:r>
            <a:r>
              <a:rPr lang="en-US" dirty="0" err="1"/>
              <a:t>ürettikleri</a:t>
            </a:r>
            <a:r>
              <a:rPr lang="en-US" dirty="0"/>
              <a:t> </a:t>
            </a:r>
            <a:r>
              <a:rPr lang="en-US" dirty="0" err="1"/>
              <a:t>içeriklere</a:t>
            </a:r>
            <a:r>
              <a:rPr lang="en-US" dirty="0"/>
              <a:t> </a:t>
            </a:r>
            <a:r>
              <a:rPr lang="en-US" dirty="0" err="1"/>
              <a:t>yansıtıyor</a:t>
            </a:r>
            <a:r>
              <a:rPr lang="en-US" dirty="0"/>
              <a:t>. </a:t>
            </a:r>
            <a:r>
              <a:rPr lang="en-US" dirty="0" err="1"/>
              <a:t>Kötü</a:t>
            </a:r>
            <a:r>
              <a:rPr lang="en-US" dirty="0"/>
              <a:t> </a:t>
            </a:r>
            <a:r>
              <a:rPr lang="en-US" dirty="0" err="1"/>
              <a:t>niyetli</a:t>
            </a:r>
            <a:r>
              <a:rPr lang="en-US" dirty="0"/>
              <a:t> </a:t>
            </a:r>
            <a:r>
              <a:rPr lang="en-US" dirty="0" err="1"/>
              <a:t>aktörler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bilginin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kitlesel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kullanılabiliyorlar</a:t>
            </a:r>
            <a:r>
              <a:rPr lang="en-US" dirty="0"/>
              <a:t>. </a:t>
            </a:r>
            <a:r>
              <a:rPr lang="en-US" dirty="0" err="1"/>
              <a:t>Kullanıcıların</a:t>
            </a:r>
            <a:r>
              <a:rPr lang="en-US" dirty="0"/>
              <a:t> </a:t>
            </a:r>
            <a:r>
              <a:rPr lang="en-US" dirty="0" err="1"/>
              <a:t>modellere</a:t>
            </a:r>
            <a:r>
              <a:rPr lang="en-US" dirty="0"/>
              <a:t> </a:t>
            </a:r>
            <a:r>
              <a:rPr lang="en-US" dirty="0" err="1"/>
              <a:t>girdiği</a:t>
            </a:r>
            <a:r>
              <a:rPr lang="en-US" dirty="0"/>
              <a:t> </a:t>
            </a:r>
            <a:r>
              <a:rPr lang="en-US" dirty="0" err="1"/>
              <a:t>verilerin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saklandığı</a:t>
            </a:r>
            <a:r>
              <a:rPr lang="en-US" dirty="0"/>
              <a:t>,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gizliliği</a:t>
            </a:r>
            <a:r>
              <a:rPr lang="en-US" dirty="0"/>
              <a:t> </a:t>
            </a:r>
            <a:r>
              <a:rPr lang="en-US" dirty="0" err="1"/>
              <a:t>konusunda</a:t>
            </a:r>
            <a:r>
              <a:rPr lang="en-US" dirty="0"/>
              <a:t> </a:t>
            </a:r>
            <a:r>
              <a:rPr lang="en-US" dirty="0" err="1"/>
              <a:t>ciddi</a:t>
            </a:r>
            <a:r>
              <a:rPr lang="en-US" dirty="0"/>
              <a:t> </a:t>
            </a:r>
            <a:r>
              <a:rPr lang="en-US" dirty="0" err="1"/>
              <a:t>endişeler</a:t>
            </a:r>
            <a:r>
              <a:rPr lang="en-US" dirty="0"/>
              <a:t> </a:t>
            </a:r>
            <a:r>
              <a:rPr lang="en-US" dirty="0" err="1"/>
              <a:t>yaratıyor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764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 smtClean="0"/>
              <a:t>LLM’lerin</a:t>
            </a:r>
            <a:r>
              <a:rPr lang="en-US" b="1" dirty="0" smtClean="0"/>
              <a:t> </a:t>
            </a:r>
            <a:r>
              <a:rPr lang="en-US" b="1" dirty="0" err="1" smtClean="0"/>
              <a:t>Geleceği</a:t>
            </a:r>
            <a:endParaRPr lang="en-US" b="1" dirty="0" smtClean="0"/>
          </a:p>
          <a:p>
            <a:pPr marL="0" indent="0">
              <a:buNone/>
            </a:pPr>
            <a:r>
              <a:rPr lang="en-US" dirty="0" err="1"/>
              <a:t>Hızla</a:t>
            </a:r>
            <a:r>
              <a:rPr lang="en-US" dirty="0"/>
              <a:t> </a:t>
            </a:r>
            <a:r>
              <a:rPr lang="en-US" dirty="0" err="1"/>
              <a:t>gelişmeye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LLM </a:t>
            </a:r>
            <a:r>
              <a:rPr lang="en-US" dirty="0" err="1"/>
              <a:t>teknolojisinin</a:t>
            </a:r>
            <a:r>
              <a:rPr lang="en-US" dirty="0"/>
              <a:t> </a:t>
            </a:r>
            <a:r>
              <a:rPr lang="en-US" dirty="0" err="1"/>
              <a:t>gelecekte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da </a:t>
            </a:r>
            <a:r>
              <a:rPr lang="en-US" dirty="0" err="1"/>
              <a:t>yetenekli</a:t>
            </a:r>
            <a:r>
              <a:rPr lang="en-US" dirty="0"/>
              <a:t> hale </a:t>
            </a:r>
            <a:r>
              <a:rPr lang="en-US" dirty="0" err="1"/>
              <a:t>gelmesi</a:t>
            </a:r>
            <a:r>
              <a:rPr lang="en-US" dirty="0"/>
              <a:t> </a:t>
            </a:r>
            <a:r>
              <a:rPr lang="en-US" dirty="0" err="1"/>
              <a:t>bekleniyor</a:t>
            </a:r>
            <a:r>
              <a:rPr lang="en-US" dirty="0"/>
              <a:t>. </a:t>
            </a:r>
            <a:r>
              <a:rPr lang="en-US" dirty="0" err="1"/>
              <a:t>LLM'in</a:t>
            </a:r>
            <a:r>
              <a:rPr lang="en-US" dirty="0"/>
              <a:t> </a:t>
            </a:r>
            <a:r>
              <a:rPr lang="en-US" dirty="0" err="1"/>
              <a:t>gelecek</a:t>
            </a:r>
            <a:r>
              <a:rPr lang="en-US" dirty="0"/>
              <a:t> </a:t>
            </a:r>
            <a:r>
              <a:rPr lang="en-US" dirty="0" err="1"/>
              <a:t>projeksiyonunda</a:t>
            </a:r>
            <a:r>
              <a:rPr lang="en-US" dirty="0"/>
              <a:t> </a:t>
            </a:r>
            <a:r>
              <a:rPr lang="en-US" dirty="0" err="1"/>
              <a:t>öne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başlıklar</a:t>
            </a:r>
            <a:r>
              <a:rPr lang="en-US" dirty="0"/>
              <a:t> </a:t>
            </a:r>
            <a:r>
              <a:rPr lang="en-US" dirty="0" err="1"/>
              <a:t>şunlar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Multimodal </a:t>
            </a:r>
            <a:r>
              <a:rPr lang="en-US" b="1" dirty="0" err="1"/>
              <a:t>Modeller</a:t>
            </a:r>
            <a:r>
              <a:rPr lang="en-US" b="1" dirty="0"/>
              <a:t> (</a:t>
            </a:r>
            <a:r>
              <a:rPr lang="en-US" b="1" dirty="0" err="1"/>
              <a:t>Metin</a:t>
            </a:r>
            <a:r>
              <a:rPr lang="en-US" b="1" dirty="0"/>
              <a:t> + </a:t>
            </a:r>
            <a:r>
              <a:rPr lang="en-US" b="1" dirty="0" err="1"/>
              <a:t>Görsel</a:t>
            </a:r>
            <a:r>
              <a:rPr lang="en-US" b="1" dirty="0"/>
              <a:t> + </a:t>
            </a:r>
            <a:r>
              <a:rPr lang="en-US" b="1" dirty="0" err="1"/>
              <a:t>Ses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 err="1"/>
              <a:t>Gelecek</a:t>
            </a:r>
            <a:r>
              <a:rPr lang="en-US" dirty="0"/>
              <a:t>, multimodal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çoklu</a:t>
            </a:r>
            <a:r>
              <a:rPr lang="en-US" dirty="0"/>
              <a:t> </a:t>
            </a:r>
            <a:r>
              <a:rPr lang="en-US" dirty="0" err="1"/>
              <a:t>modalite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kuruluyor</a:t>
            </a:r>
            <a:r>
              <a:rPr lang="en-US" dirty="0"/>
              <a:t>.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metni</a:t>
            </a:r>
            <a:r>
              <a:rPr lang="en-US" dirty="0"/>
              <a:t> </a:t>
            </a:r>
            <a:r>
              <a:rPr lang="en-US" dirty="0" err="1"/>
              <a:t>anlamakla</a:t>
            </a:r>
            <a:r>
              <a:rPr lang="en-US" dirty="0"/>
              <a:t> </a:t>
            </a:r>
            <a:r>
              <a:rPr lang="en-US" dirty="0" err="1"/>
              <a:t>kalmıyor</a:t>
            </a:r>
            <a:r>
              <a:rPr lang="en-US" dirty="0"/>
              <a:t>. GPT-4o </a:t>
            </a:r>
            <a:r>
              <a:rPr lang="en-US" dirty="0" err="1"/>
              <a:t>ve</a:t>
            </a:r>
            <a:r>
              <a:rPr lang="en-US" dirty="0"/>
              <a:t> Gemini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, </a:t>
            </a:r>
            <a:r>
              <a:rPr lang="en-US" dirty="0" err="1"/>
              <a:t>görüntüleri</a:t>
            </a:r>
            <a:r>
              <a:rPr lang="en-US" dirty="0"/>
              <a:t>, </a:t>
            </a:r>
            <a:r>
              <a:rPr lang="en-US" dirty="0" err="1"/>
              <a:t>sesleri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videoları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işleyebiliyor</a:t>
            </a:r>
            <a:r>
              <a:rPr lang="en-US" dirty="0"/>
              <a:t>. </a:t>
            </a:r>
            <a:r>
              <a:rPr lang="en-US" dirty="0" err="1"/>
              <a:t>Kullanıcılar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görüntü</a:t>
            </a:r>
            <a:r>
              <a:rPr lang="en-US" dirty="0"/>
              <a:t>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soru</a:t>
            </a:r>
            <a:r>
              <a:rPr lang="en-US" dirty="0"/>
              <a:t> </a:t>
            </a:r>
            <a:r>
              <a:rPr lang="en-US" dirty="0" err="1"/>
              <a:t>sorabiliyor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kaydını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ettirebiliyor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Sektörel</a:t>
            </a:r>
            <a:r>
              <a:rPr lang="en-US" b="1" dirty="0"/>
              <a:t> </a:t>
            </a:r>
            <a:r>
              <a:rPr lang="en-US" b="1" dirty="0" err="1"/>
              <a:t>Özelleştirilmiş</a:t>
            </a:r>
            <a:r>
              <a:rPr lang="en-US" b="1" dirty="0"/>
              <a:t> </a:t>
            </a:r>
            <a:r>
              <a:rPr lang="en-US" b="1" dirty="0" err="1"/>
              <a:t>LLM’ler</a:t>
            </a:r>
            <a:r>
              <a:rPr lang="en-US" b="1" dirty="0"/>
              <a:t> (</a:t>
            </a:r>
            <a:r>
              <a:rPr lang="en-US" b="1" dirty="0" err="1"/>
              <a:t>Finans</a:t>
            </a:r>
            <a:r>
              <a:rPr lang="en-US" b="1" dirty="0"/>
              <a:t>, </a:t>
            </a:r>
            <a:r>
              <a:rPr lang="en-US" b="1" dirty="0" err="1"/>
              <a:t>Sağlık</a:t>
            </a:r>
            <a:r>
              <a:rPr lang="en-US" b="1" dirty="0"/>
              <a:t>, </a:t>
            </a:r>
            <a:r>
              <a:rPr lang="en-US" b="1" dirty="0" err="1"/>
              <a:t>Hukuk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amaçlı</a:t>
            </a:r>
            <a:r>
              <a:rPr lang="en-US" dirty="0"/>
              <a:t> </a:t>
            </a: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yanı</a:t>
            </a:r>
            <a:r>
              <a:rPr lang="en-US" dirty="0"/>
              <a:t> </a:t>
            </a:r>
            <a:r>
              <a:rPr lang="en-US" dirty="0" err="1"/>
              <a:t>sıra</a:t>
            </a:r>
            <a:r>
              <a:rPr lang="en-US" dirty="0"/>
              <a:t>,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sektörler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optimize </a:t>
            </a:r>
            <a:r>
              <a:rPr lang="en-US" dirty="0" err="1"/>
              <a:t>edilmiş</a:t>
            </a:r>
            <a:r>
              <a:rPr lang="en-US" dirty="0"/>
              <a:t> </a:t>
            </a:r>
            <a:r>
              <a:rPr lang="en-US" dirty="0" err="1"/>
              <a:t>dikey</a:t>
            </a:r>
            <a:r>
              <a:rPr lang="en-US" dirty="0"/>
              <a:t> </a:t>
            </a:r>
            <a:r>
              <a:rPr lang="en-US" b="1" dirty="0" err="1"/>
              <a:t>LLM'ler</a:t>
            </a:r>
            <a:r>
              <a:rPr lang="en-US" dirty="0"/>
              <a:t> </a:t>
            </a:r>
            <a:r>
              <a:rPr lang="en-US" dirty="0" err="1"/>
              <a:t>gelişiyor</a:t>
            </a:r>
            <a:r>
              <a:rPr lang="en-US" dirty="0"/>
              <a:t>. </a:t>
            </a:r>
            <a:r>
              <a:rPr lang="en-US" dirty="0" err="1"/>
              <a:t>Finansal</a:t>
            </a:r>
            <a:r>
              <a:rPr lang="en-US" dirty="0"/>
              <a:t> </a:t>
            </a:r>
            <a:r>
              <a:rPr lang="en-US" dirty="0" err="1"/>
              <a:t>verilerle</a:t>
            </a:r>
            <a:r>
              <a:rPr lang="en-US" dirty="0"/>
              <a:t> </a:t>
            </a:r>
            <a:r>
              <a:rPr lang="en-US" dirty="0" err="1"/>
              <a:t>eğitilmiş</a:t>
            </a:r>
            <a:r>
              <a:rPr lang="en-US" dirty="0"/>
              <a:t> </a:t>
            </a:r>
            <a:r>
              <a:rPr lang="en-US" b="1" dirty="0" err="1"/>
              <a:t>BloombergGPT</a:t>
            </a:r>
            <a:r>
              <a:rPr lang="en-US" dirty="0"/>
              <a:t>, tıp </a:t>
            </a:r>
            <a:r>
              <a:rPr lang="en-US" dirty="0" err="1"/>
              <a:t>literatürü</a:t>
            </a:r>
            <a:r>
              <a:rPr lang="en-US" dirty="0"/>
              <a:t> </a:t>
            </a:r>
            <a:r>
              <a:rPr lang="en-US" dirty="0" err="1"/>
              <a:t>odaklı</a:t>
            </a:r>
            <a:r>
              <a:rPr lang="en-US" dirty="0"/>
              <a:t> </a:t>
            </a:r>
            <a:r>
              <a:rPr lang="en-US" b="1" dirty="0"/>
              <a:t>Med-</a:t>
            </a:r>
            <a:r>
              <a:rPr lang="en-US" b="1" dirty="0" err="1"/>
              <a:t>PaLM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hukuk</a:t>
            </a:r>
            <a:r>
              <a:rPr lang="en-US" dirty="0"/>
              <a:t> </a:t>
            </a:r>
            <a:r>
              <a:rPr lang="en-US" dirty="0" err="1"/>
              <a:t>metinleri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uzmanlaşmış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, o </a:t>
            </a:r>
            <a:r>
              <a:rPr lang="en-US" dirty="0" err="1"/>
              <a:t>alana</a:t>
            </a:r>
            <a:r>
              <a:rPr lang="en-US" dirty="0"/>
              <a:t> </a:t>
            </a:r>
            <a:r>
              <a:rPr lang="en-US" dirty="0" err="1"/>
              <a:t>özgü</a:t>
            </a:r>
            <a:r>
              <a:rPr lang="en-US" dirty="0"/>
              <a:t> </a:t>
            </a:r>
            <a:r>
              <a:rPr lang="en-US" dirty="0" err="1"/>
              <a:t>terminolojide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doğruluk</a:t>
            </a:r>
            <a:r>
              <a:rPr lang="en-US" dirty="0"/>
              <a:t> </a:t>
            </a:r>
            <a:r>
              <a:rPr lang="en-US" dirty="0" err="1"/>
              <a:t>sunuyor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 err="1"/>
              <a:t>Yapay</a:t>
            </a:r>
            <a:r>
              <a:rPr lang="en-US" b="1" dirty="0"/>
              <a:t> </a:t>
            </a:r>
            <a:r>
              <a:rPr lang="en-US" b="1" dirty="0" err="1"/>
              <a:t>Genel</a:t>
            </a:r>
            <a:r>
              <a:rPr lang="en-US" b="1" dirty="0"/>
              <a:t> </a:t>
            </a:r>
            <a:r>
              <a:rPr lang="en-US" b="1" dirty="0" err="1"/>
              <a:t>Zeka</a:t>
            </a:r>
            <a:r>
              <a:rPr lang="en-US" b="1" dirty="0"/>
              <a:t> (AGI)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Bağlantısı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LLM'ler</a:t>
            </a:r>
            <a:r>
              <a:rPr lang="en-US" dirty="0"/>
              <a:t>,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uzman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Zekaya</a:t>
            </a:r>
            <a:r>
              <a:rPr lang="en-US" dirty="0"/>
              <a:t> (AGI) </a:t>
            </a:r>
            <a:r>
              <a:rPr lang="en-US" dirty="0" err="1"/>
              <a:t>giden</a:t>
            </a:r>
            <a:r>
              <a:rPr lang="en-US" dirty="0"/>
              <a:t> </a:t>
            </a:r>
            <a:r>
              <a:rPr lang="en-US" dirty="0" err="1"/>
              <a:t>yolda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görülüyor</a:t>
            </a:r>
            <a:r>
              <a:rPr lang="en-US" dirty="0"/>
              <a:t>. AGI,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bilişsel</a:t>
            </a:r>
            <a:r>
              <a:rPr lang="en-US" dirty="0"/>
              <a:t> </a:t>
            </a:r>
            <a:r>
              <a:rPr lang="en-US" dirty="0" err="1"/>
              <a:t>görevleri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getirebilen</a:t>
            </a:r>
            <a:r>
              <a:rPr lang="en-US" dirty="0"/>
              <a:t> </a:t>
            </a:r>
            <a:r>
              <a:rPr lang="en-US" dirty="0" err="1"/>
              <a:t>sistemleri</a:t>
            </a:r>
            <a:r>
              <a:rPr lang="en-US" dirty="0"/>
              <a:t> </a:t>
            </a:r>
            <a:r>
              <a:rPr lang="en-US" dirty="0" err="1"/>
              <a:t>tanımlıyor</a:t>
            </a:r>
            <a:r>
              <a:rPr lang="en-US" dirty="0"/>
              <a:t>.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AGI </a:t>
            </a:r>
            <a:r>
              <a:rPr lang="en-US" dirty="0" err="1"/>
              <a:t>statüsünde</a:t>
            </a:r>
            <a:r>
              <a:rPr lang="en-US" dirty="0"/>
              <a:t> </a:t>
            </a:r>
            <a:r>
              <a:rPr lang="en-US" dirty="0" err="1"/>
              <a:t>bulunmuyor</a:t>
            </a:r>
            <a:r>
              <a:rPr lang="en-US" dirty="0"/>
              <a:t>. </a:t>
            </a:r>
            <a:r>
              <a:rPr lang="en-US" dirty="0" err="1"/>
              <a:t>Bilinçleri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anlayışları</a:t>
            </a:r>
            <a:r>
              <a:rPr lang="en-US" dirty="0"/>
              <a:t> </a:t>
            </a:r>
            <a:r>
              <a:rPr lang="en-US" dirty="0" err="1"/>
              <a:t>yok</a:t>
            </a:r>
            <a:r>
              <a:rPr lang="en-US" dirty="0"/>
              <a:t>.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gösterdikleri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akıl</a:t>
            </a:r>
            <a:r>
              <a:rPr lang="en-US" dirty="0"/>
              <a:t> </a:t>
            </a:r>
            <a:r>
              <a:rPr lang="en-US" dirty="0" err="1"/>
              <a:t>yürütme</a:t>
            </a:r>
            <a:r>
              <a:rPr lang="en-US" dirty="0"/>
              <a:t> 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yetenekler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nihai</a:t>
            </a:r>
            <a:r>
              <a:rPr lang="en-US" dirty="0"/>
              <a:t> </a:t>
            </a:r>
            <a:r>
              <a:rPr lang="en-US" dirty="0" err="1"/>
              <a:t>hedefe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araştırmaları</a:t>
            </a:r>
            <a:r>
              <a:rPr lang="en-US" dirty="0"/>
              <a:t> </a:t>
            </a:r>
            <a:r>
              <a:rPr lang="en-US" dirty="0" err="1"/>
              <a:t>hızlandırıyor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05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MCP(Model Context Protocol) </a:t>
            </a:r>
            <a:r>
              <a:rPr lang="en-US" b="1" dirty="0" err="1"/>
              <a:t>Nedir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Model </a:t>
            </a:r>
            <a:r>
              <a:rPr lang="en-US" b="1" dirty="0" err="1"/>
              <a:t>Bağlam</a:t>
            </a:r>
            <a:r>
              <a:rPr lang="en-US" b="1" dirty="0"/>
              <a:t> </a:t>
            </a:r>
            <a:r>
              <a:rPr lang="en-US" b="1" dirty="0" err="1"/>
              <a:t>Protokolü</a:t>
            </a:r>
            <a:r>
              <a:rPr lang="en-US" b="1" dirty="0"/>
              <a:t> (MCP), LLM</a:t>
            </a:r>
            <a:r>
              <a:rPr lang="en-US" dirty="0"/>
              <a:t>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harici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kaynakları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araçları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sorunsuz</a:t>
            </a:r>
            <a:r>
              <a:rPr lang="en-US" dirty="0"/>
              <a:t> </a:t>
            </a:r>
            <a:r>
              <a:rPr lang="en-US" dirty="0" err="1"/>
              <a:t>entegrasyon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protokoldür</a:t>
            </a:r>
            <a:r>
              <a:rPr lang="en-US" dirty="0"/>
              <a:t>. </a:t>
            </a:r>
            <a:r>
              <a:rPr lang="en-US" dirty="0" err="1"/>
              <a:t>İster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destekli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IDE </a:t>
            </a:r>
            <a:r>
              <a:rPr lang="en-US" dirty="0" err="1"/>
              <a:t>oluşturuyor</a:t>
            </a:r>
            <a:r>
              <a:rPr lang="en-US" dirty="0"/>
              <a:t>, </a:t>
            </a:r>
            <a:r>
              <a:rPr lang="en-US" dirty="0" err="1"/>
              <a:t>ister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sohbet</a:t>
            </a:r>
            <a:r>
              <a:rPr lang="en-US" dirty="0"/>
              <a:t> </a:t>
            </a:r>
            <a:r>
              <a:rPr lang="en-US" dirty="0" err="1"/>
              <a:t>arayüzünü</a:t>
            </a:r>
            <a:r>
              <a:rPr lang="en-US" dirty="0"/>
              <a:t> </a:t>
            </a:r>
            <a:r>
              <a:rPr lang="en-US" dirty="0" err="1"/>
              <a:t>geliştiriyor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akışları</a:t>
            </a:r>
            <a:r>
              <a:rPr lang="en-US" dirty="0"/>
              <a:t> </a:t>
            </a:r>
            <a:r>
              <a:rPr lang="en-US" dirty="0" err="1"/>
              <a:t>oluşturuyor</a:t>
            </a:r>
            <a:r>
              <a:rPr lang="en-US" dirty="0"/>
              <a:t> </a:t>
            </a:r>
            <a:r>
              <a:rPr lang="en-US" dirty="0" err="1"/>
              <a:t>olun</a:t>
            </a:r>
            <a:r>
              <a:rPr lang="en-US" dirty="0"/>
              <a:t>, </a:t>
            </a:r>
            <a:r>
              <a:rPr lang="en-US" b="1" dirty="0"/>
              <a:t>MCP</a:t>
            </a:r>
            <a:r>
              <a:rPr lang="en-US" dirty="0"/>
              <a:t>, </a:t>
            </a:r>
            <a:r>
              <a:rPr lang="en-US" b="1" dirty="0" err="1"/>
              <a:t>LLM’leri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duydukları</a:t>
            </a:r>
            <a:r>
              <a:rPr lang="en-US" dirty="0"/>
              <a:t> </a:t>
            </a:r>
            <a:r>
              <a:rPr lang="en-US" dirty="0" err="1"/>
              <a:t>bağlama</a:t>
            </a:r>
            <a:r>
              <a:rPr lang="en-US" dirty="0"/>
              <a:t> </a:t>
            </a:r>
            <a:r>
              <a:rPr lang="en-US" dirty="0" err="1"/>
              <a:t>bağlamak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standartlaştırılmış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 err="1"/>
              <a:t>Kapsam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1nci </a:t>
            </a:r>
            <a:r>
              <a:rPr lang="en-US" b="1" dirty="0" err="1"/>
              <a:t>Aşama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OpenAI</a:t>
            </a:r>
            <a:r>
              <a:rPr lang="en-US" dirty="0"/>
              <a:t> ilk </a:t>
            </a:r>
            <a:r>
              <a:rPr lang="en-US" dirty="0" err="1"/>
              <a:t>çıktığında</a:t>
            </a:r>
            <a:r>
              <a:rPr lang="en-US" dirty="0"/>
              <a:t> LLM (Large Language Models)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ChatGPT</a:t>
            </a:r>
            <a:r>
              <a:rPr lang="en-US" dirty="0"/>
              <a:t> </a:t>
            </a:r>
            <a:r>
              <a:rPr lang="en-US" dirty="0" err="1"/>
              <a:t>arayüzünden</a:t>
            </a:r>
            <a:r>
              <a:rPr lang="en-US" dirty="0"/>
              <a:t> </a:t>
            </a:r>
            <a:r>
              <a:rPr lang="en-US" b="1" dirty="0" err="1"/>
              <a:t>soru</a:t>
            </a:r>
            <a:r>
              <a:rPr lang="en-US" b="1" dirty="0"/>
              <a:t>/</a:t>
            </a:r>
            <a:r>
              <a:rPr lang="en-US" b="1" dirty="0" err="1"/>
              <a:t>cevap</a:t>
            </a:r>
            <a:r>
              <a:rPr lang="en-US" dirty="0"/>
              <a:t> </a:t>
            </a:r>
            <a:r>
              <a:rPr lang="en-US" dirty="0" err="1"/>
              <a:t>ilerleyebildiğimiz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arayüzü</a:t>
            </a:r>
            <a:r>
              <a:rPr lang="en-US" dirty="0"/>
              <a:t> </a:t>
            </a:r>
            <a:r>
              <a:rPr lang="en-US" dirty="0" err="1"/>
              <a:t>sundu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LLM</a:t>
            </a:r>
            <a:r>
              <a:rPr lang="en-US" dirty="0"/>
              <a:t> (Large Language Model), </a:t>
            </a:r>
            <a:r>
              <a:rPr lang="en-US" dirty="0" err="1"/>
              <a:t>yani</a:t>
            </a:r>
            <a:r>
              <a:rPr lang="en-US" dirty="0"/>
              <a:t> </a:t>
            </a:r>
            <a:r>
              <a:rPr lang="en-US" b="1" dirty="0" err="1"/>
              <a:t>Büyük</a:t>
            </a:r>
            <a:r>
              <a:rPr lang="en-US" b="1" dirty="0"/>
              <a:t> </a:t>
            </a: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Modeli</a:t>
            </a:r>
            <a:r>
              <a:rPr lang="en-US" dirty="0"/>
              <a:t>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miktarda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eğitilmiş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modelidir</a:t>
            </a:r>
            <a:r>
              <a:rPr lang="en-US" dirty="0"/>
              <a:t>. Bu </a:t>
            </a:r>
            <a:r>
              <a:rPr lang="en-US" dirty="0" err="1"/>
              <a:t>modeller</a:t>
            </a:r>
            <a:r>
              <a:rPr lang="en-US" dirty="0"/>
              <a:t>, </a:t>
            </a:r>
            <a:r>
              <a:rPr lang="en-US" dirty="0" err="1"/>
              <a:t>dilin</a:t>
            </a:r>
            <a:r>
              <a:rPr lang="en-US" dirty="0"/>
              <a:t> </a:t>
            </a:r>
            <a:r>
              <a:rPr lang="en-US" dirty="0" err="1"/>
              <a:t>yapısını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anlamını</a:t>
            </a:r>
            <a:r>
              <a:rPr lang="en-US" dirty="0"/>
              <a:t> </a:t>
            </a:r>
            <a:r>
              <a:rPr lang="en-US" dirty="0" err="1"/>
              <a:t>öğrenerek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metinler</a:t>
            </a:r>
            <a:r>
              <a:rPr lang="en-US" dirty="0"/>
              <a:t> </a:t>
            </a:r>
            <a:r>
              <a:rPr lang="en-US" dirty="0" err="1"/>
              <a:t>üretebilir</a:t>
            </a:r>
            <a:r>
              <a:rPr lang="en-US" dirty="0"/>
              <a:t>, </a:t>
            </a:r>
            <a:r>
              <a:rPr lang="en-US" dirty="0" err="1"/>
              <a:t>soruları</a:t>
            </a:r>
            <a:r>
              <a:rPr lang="en-US" dirty="0"/>
              <a:t> </a:t>
            </a:r>
            <a:r>
              <a:rPr lang="en-US" dirty="0" err="1"/>
              <a:t>cevaplayabilir</a:t>
            </a:r>
            <a:r>
              <a:rPr lang="en-US" dirty="0"/>
              <a:t>, </a:t>
            </a:r>
            <a:r>
              <a:rPr lang="en-US" dirty="0" err="1"/>
              <a:t>özet</a:t>
            </a:r>
            <a:r>
              <a:rPr lang="en-US" dirty="0"/>
              <a:t> </a:t>
            </a:r>
            <a:r>
              <a:rPr lang="en-US" dirty="0" err="1"/>
              <a:t>çıkarabilir</a:t>
            </a:r>
            <a:r>
              <a:rPr lang="en-US" dirty="0"/>
              <a:t>, </a:t>
            </a:r>
            <a:r>
              <a:rPr lang="en-US" dirty="0" err="1"/>
              <a:t>çeviri</a:t>
            </a:r>
            <a:r>
              <a:rPr lang="en-US" dirty="0"/>
              <a:t> </a:t>
            </a:r>
            <a:r>
              <a:rPr lang="en-US" dirty="0" err="1"/>
              <a:t>yapabilir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pek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görevi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getirebilir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722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2nci </a:t>
            </a:r>
            <a:r>
              <a:rPr lang="en-US" b="1" dirty="0" err="1"/>
              <a:t>Aşama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LLM’lerin</a:t>
            </a:r>
            <a:r>
              <a:rPr lang="en-US" dirty="0"/>
              <a:t> </a:t>
            </a:r>
            <a:r>
              <a:rPr lang="en-US" dirty="0" err="1"/>
              <a:t>çevresindeki</a:t>
            </a:r>
            <a:r>
              <a:rPr lang="en-US" dirty="0"/>
              <a:t> </a:t>
            </a:r>
            <a:r>
              <a:rPr lang="en-US" dirty="0" err="1"/>
              <a:t>araçlar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etkileşime</a:t>
            </a:r>
            <a:r>
              <a:rPr lang="en-US" dirty="0"/>
              <a:t> </a:t>
            </a:r>
            <a:r>
              <a:rPr lang="en-US" dirty="0" err="1"/>
              <a:t>geçip</a:t>
            </a:r>
            <a:r>
              <a:rPr lang="en-US" dirty="0"/>
              <a:t> </a:t>
            </a:r>
            <a:r>
              <a:rPr lang="en-US" dirty="0" err="1"/>
              <a:t>bunları</a:t>
            </a:r>
            <a:r>
              <a:rPr lang="en-US" dirty="0"/>
              <a:t> </a:t>
            </a:r>
            <a:r>
              <a:rPr lang="en-US" dirty="0" err="1"/>
              <a:t>kullandığı</a:t>
            </a:r>
            <a:r>
              <a:rPr lang="en-US" dirty="0"/>
              <a:t> </a:t>
            </a:r>
            <a:r>
              <a:rPr lang="en-US" dirty="0" err="1"/>
              <a:t>senaryolar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kaynaklarından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çekip</a:t>
            </a:r>
            <a:r>
              <a:rPr lang="en-US" dirty="0"/>
              <a:t>, </a:t>
            </a:r>
            <a:r>
              <a:rPr lang="en-US" dirty="0" err="1"/>
              <a:t>bunları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edip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analizler</a:t>
            </a:r>
            <a:r>
              <a:rPr lang="en-US" dirty="0"/>
              <a:t> </a:t>
            </a:r>
            <a:r>
              <a:rPr lang="en-US" dirty="0" err="1"/>
              <a:t>doğrultusunda</a:t>
            </a:r>
            <a:r>
              <a:rPr lang="en-US" dirty="0"/>
              <a:t> </a:t>
            </a:r>
            <a:r>
              <a:rPr lang="en-US" dirty="0" err="1"/>
              <a:t>işlemler</a:t>
            </a:r>
            <a:r>
              <a:rPr lang="en-US" dirty="0"/>
              <a:t> </a:t>
            </a:r>
            <a:r>
              <a:rPr lang="en-US" dirty="0" err="1"/>
              <a:t>gerçekleştirdiği</a:t>
            </a:r>
            <a:r>
              <a:rPr lang="en-US" dirty="0"/>
              <a:t> </a:t>
            </a:r>
            <a:r>
              <a:rPr lang="en-US" dirty="0" err="1"/>
              <a:t>dönem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en-US" dirty="0"/>
              <a:t>LLM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araçlar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konuşurken</a:t>
            </a:r>
            <a:r>
              <a:rPr lang="en-US" dirty="0"/>
              <a:t> </a:t>
            </a:r>
            <a:r>
              <a:rPr lang="en-US" dirty="0" err="1"/>
              <a:t>API’ler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konuşacaktır</a:t>
            </a:r>
            <a:r>
              <a:rPr lang="en-US" dirty="0"/>
              <a:t>. </a:t>
            </a:r>
            <a:r>
              <a:rPr lang="en-US" dirty="0" err="1"/>
              <a:t>WebAPI</a:t>
            </a:r>
            <a:r>
              <a:rPr lang="en-US" dirty="0"/>
              <a:t> </a:t>
            </a:r>
            <a:r>
              <a:rPr lang="en-US" dirty="0" err="1"/>
              <a:t>dediğimiz</a:t>
            </a:r>
            <a:r>
              <a:rPr lang="en-US" dirty="0"/>
              <a:t> </a:t>
            </a:r>
            <a:r>
              <a:rPr lang="en-US" dirty="0" err="1"/>
              <a:t>kısımda</a:t>
            </a:r>
            <a:r>
              <a:rPr lang="en-US" dirty="0"/>
              <a:t> </a:t>
            </a:r>
            <a:r>
              <a:rPr lang="en-US" dirty="0" err="1"/>
              <a:t>genellikle</a:t>
            </a:r>
            <a:r>
              <a:rPr lang="en-US" dirty="0"/>
              <a:t> </a:t>
            </a:r>
            <a:r>
              <a:rPr lang="en-US" dirty="0" err="1"/>
              <a:t>defacto</a:t>
            </a:r>
            <a:r>
              <a:rPr lang="en-US" dirty="0"/>
              <a:t> </a:t>
            </a:r>
            <a:r>
              <a:rPr lang="en-US" dirty="0" err="1"/>
              <a:t>olmuş</a:t>
            </a:r>
            <a:r>
              <a:rPr lang="en-US" dirty="0"/>
              <a:t> </a:t>
            </a:r>
            <a:r>
              <a:rPr lang="en-US" b="1" dirty="0"/>
              <a:t>REST, </a:t>
            </a:r>
            <a:r>
              <a:rPr lang="en-US" b="1" dirty="0" err="1"/>
              <a:t>GraphQL</a:t>
            </a:r>
            <a:r>
              <a:rPr lang="en-US" b="1" dirty="0"/>
              <a:t>, SSE, </a:t>
            </a:r>
            <a:r>
              <a:rPr lang="en-US" b="1" dirty="0" err="1"/>
              <a:t>WebSocket</a:t>
            </a:r>
            <a:r>
              <a:rPr lang="en-US" b="1" dirty="0"/>
              <a:t>, </a:t>
            </a:r>
            <a:r>
              <a:rPr lang="en-US" b="1" dirty="0" err="1"/>
              <a:t>Webhook</a:t>
            </a:r>
            <a:r>
              <a:rPr lang="en-US" b="1" dirty="0"/>
              <a:t> 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yapılar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entegrasyon</a:t>
            </a:r>
            <a:r>
              <a:rPr lang="en-US" dirty="0"/>
              <a:t> </a:t>
            </a:r>
            <a:r>
              <a:rPr lang="en-US" dirty="0" err="1"/>
              <a:t>sağlanır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03" y="1861073"/>
            <a:ext cx="9690598" cy="35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8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Tabi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kullanılacak</a:t>
            </a:r>
            <a:r>
              <a:rPr lang="en-US" dirty="0"/>
              <a:t> </a:t>
            </a:r>
            <a:r>
              <a:rPr lang="en-US" dirty="0" err="1"/>
              <a:t>araç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sayısını</a:t>
            </a:r>
            <a:r>
              <a:rPr lang="en-US" dirty="0"/>
              <a:t> </a:t>
            </a:r>
            <a:r>
              <a:rPr lang="en-US" dirty="0" err="1"/>
              <a:t>yukarıdakiler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sınırlı</a:t>
            </a:r>
            <a:r>
              <a:rPr lang="en-US" dirty="0"/>
              <a:t> </a:t>
            </a:r>
            <a:r>
              <a:rPr lang="en-US" dirty="0" err="1"/>
              <a:t>tutmayın</a:t>
            </a:r>
            <a:r>
              <a:rPr lang="en-US" dirty="0"/>
              <a:t>, </a:t>
            </a:r>
            <a:r>
              <a:rPr lang="en-US" dirty="0" err="1"/>
              <a:t>dünyada</a:t>
            </a:r>
            <a:r>
              <a:rPr lang="en-US" dirty="0"/>
              <a:t> </a:t>
            </a:r>
            <a:r>
              <a:rPr lang="en-US" dirty="0" err="1"/>
              <a:t>birbiri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konuşması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, 100 </a:t>
            </a:r>
            <a:r>
              <a:rPr lang="en-US" dirty="0" err="1"/>
              <a:t>binlerce</a:t>
            </a:r>
            <a:r>
              <a:rPr lang="en-US" dirty="0"/>
              <a:t>, </a:t>
            </a:r>
            <a:r>
              <a:rPr lang="en-US" dirty="0" err="1"/>
              <a:t>milyonlarca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bulunuyor</a:t>
            </a:r>
            <a:r>
              <a:rPr lang="en-US" dirty="0"/>
              <a:t>.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geliştiricinin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servisler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entegrasyon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yazması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de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API’lerinde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değişiklikler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kendilerini</a:t>
            </a:r>
            <a:r>
              <a:rPr lang="en-US" dirty="0"/>
              <a:t> </a:t>
            </a:r>
            <a:r>
              <a:rPr lang="en-US" dirty="0" err="1"/>
              <a:t>güncel</a:t>
            </a:r>
            <a:r>
              <a:rPr lang="en-US" dirty="0"/>
              <a:t> </a:t>
            </a:r>
            <a:r>
              <a:rPr lang="en-US" dirty="0" err="1"/>
              <a:t>tutmaları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3ncü </a:t>
            </a:r>
            <a:r>
              <a:rPr lang="en-US" b="1" dirty="0" err="1"/>
              <a:t>Aşama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aşamada</a:t>
            </a:r>
            <a:r>
              <a:rPr lang="en-US" dirty="0"/>
              <a:t> </a:t>
            </a:r>
            <a:r>
              <a:rPr lang="en-US" dirty="0" err="1"/>
              <a:t>araya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b="1" dirty="0"/>
              <a:t>MCP</a:t>
            </a:r>
            <a:r>
              <a:rPr lang="en-US" dirty="0"/>
              <a:t> </a:t>
            </a:r>
            <a:r>
              <a:rPr lang="en-US" dirty="0" err="1"/>
              <a:t>katmanı</a:t>
            </a:r>
            <a:r>
              <a:rPr lang="en-US" dirty="0"/>
              <a:t> </a:t>
            </a:r>
            <a:r>
              <a:rPr lang="en-US" dirty="0" err="1"/>
              <a:t>koyarak</a:t>
            </a:r>
            <a:r>
              <a:rPr lang="en-US" dirty="0"/>
              <a:t> </a:t>
            </a:r>
            <a:r>
              <a:rPr lang="en-US" b="1" dirty="0"/>
              <a:t>LLM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gerçekleştirim</a:t>
            </a:r>
            <a:r>
              <a:rPr lang="en-US" dirty="0"/>
              <a:t> </a:t>
            </a:r>
            <a:r>
              <a:rPr lang="en-US" dirty="0" err="1"/>
              <a:t>detaylarını</a:t>
            </a:r>
            <a:r>
              <a:rPr lang="en-US" dirty="0"/>
              <a:t> </a:t>
            </a:r>
            <a:r>
              <a:rPr lang="en-US" dirty="0" err="1"/>
              <a:t>soyutlamaya</a:t>
            </a:r>
            <a:r>
              <a:rPr lang="en-US" dirty="0"/>
              <a:t> </a:t>
            </a:r>
            <a:r>
              <a:rPr lang="en-US" dirty="0" err="1"/>
              <a:t>çalışıyorlar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 err="1" smtClean="0"/>
              <a:t>Bir</a:t>
            </a:r>
            <a:r>
              <a:rPr lang="en-US" dirty="0" smtClean="0"/>
              <a:t> nevi </a:t>
            </a:r>
            <a:r>
              <a:rPr lang="en-US" dirty="0" err="1" smtClean="0"/>
              <a:t>MCP’yi</a:t>
            </a:r>
            <a:r>
              <a:rPr lang="en-US" dirty="0" smtClean="0"/>
              <a:t> </a:t>
            </a:r>
            <a:r>
              <a:rPr lang="en-US" b="1" dirty="0"/>
              <a:t>AI </a:t>
            </a:r>
            <a:r>
              <a:rPr lang="en-US" b="1" dirty="0" err="1"/>
              <a:t>Entegrasyonları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USB-C</a:t>
            </a:r>
            <a:r>
              <a:rPr lang="en-US" dirty="0" smtClean="0"/>
              <a:t> </a:t>
            </a:r>
            <a:r>
              <a:rPr lang="en-US" dirty="0" err="1" smtClean="0"/>
              <a:t>adaptörü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görüyorlar</a:t>
            </a:r>
            <a:r>
              <a:rPr lang="en-US" dirty="0" smtClean="0"/>
              <a:t>.</a:t>
            </a:r>
            <a:r>
              <a:rPr lang="en-US" dirty="0"/>
              <a:t> 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tanımlayalım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LLM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/</a:t>
            </a:r>
            <a:r>
              <a:rPr lang="en-US" dirty="0" err="1"/>
              <a:t>Araçlar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connector/</a:t>
            </a:r>
            <a:r>
              <a:rPr lang="en-US" dirty="0" err="1"/>
              <a:t>adaptör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detaylara</a:t>
            </a:r>
            <a:r>
              <a:rPr lang="en-US" dirty="0"/>
              <a:t> </a:t>
            </a:r>
            <a:r>
              <a:rPr lang="en-US" dirty="0" err="1"/>
              <a:t>girmeden</a:t>
            </a:r>
            <a:r>
              <a:rPr lang="en-US" dirty="0"/>
              <a:t> </a:t>
            </a:r>
            <a:r>
              <a:rPr lang="en-US" dirty="0" err="1"/>
              <a:t>iletişimi</a:t>
            </a:r>
            <a:r>
              <a:rPr lang="en-US" dirty="0"/>
              <a:t> </a:t>
            </a:r>
            <a:r>
              <a:rPr lang="en-US" dirty="0" err="1"/>
              <a:t>sağlayalım</a:t>
            </a:r>
            <a:r>
              <a:rPr lang="en-US" dirty="0"/>
              <a:t> </a:t>
            </a:r>
            <a:r>
              <a:rPr lang="en-US" dirty="0" err="1"/>
              <a:t>istiyorlar</a:t>
            </a:r>
            <a:r>
              <a:rPr lang="en-US" dirty="0"/>
              <a:t>. Bu </a:t>
            </a:r>
            <a:r>
              <a:rPr lang="en-US" dirty="0" err="1"/>
              <a:t>sayede</a:t>
            </a:r>
            <a:r>
              <a:rPr lang="en-US" dirty="0"/>
              <a:t> </a:t>
            </a:r>
            <a:r>
              <a:rPr lang="en-US" b="1" dirty="0" err="1"/>
              <a:t>Standardizasyon</a:t>
            </a:r>
            <a:r>
              <a:rPr lang="en-US" b="1" dirty="0"/>
              <a:t>, </a:t>
            </a:r>
            <a:r>
              <a:rPr lang="en-US" b="1" dirty="0" err="1"/>
              <a:t>Güvenlik</a:t>
            </a:r>
            <a:r>
              <a:rPr lang="en-US" b="1" dirty="0"/>
              <a:t>, </a:t>
            </a:r>
            <a:r>
              <a:rPr lang="en-US" b="1" dirty="0" err="1"/>
              <a:t>Kontrol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Verimlilik</a:t>
            </a:r>
            <a:r>
              <a:rPr lang="en-US" b="1" dirty="0"/>
              <a:t> </a:t>
            </a:r>
            <a:r>
              <a:rPr lang="en-US" dirty="0" err="1"/>
              <a:t>sağlanmış</a:t>
            </a:r>
            <a:r>
              <a:rPr lang="en-US" dirty="0"/>
              <a:t> </a:t>
            </a:r>
            <a:r>
              <a:rPr lang="en-US" dirty="0" err="1"/>
              <a:t>oluyor</a:t>
            </a:r>
            <a:r>
              <a:rPr lang="en-US" dirty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91" y="2151530"/>
            <a:ext cx="9792203" cy="305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30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Mimari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Mimari</a:t>
            </a:r>
            <a:r>
              <a:rPr lang="en-US" dirty="0"/>
              <a:t> </a:t>
            </a:r>
            <a:r>
              <a:rPr lang="en-US" dirty="0" err="1"/>
              <a:t>yapısını</a:t>
            </a:r>
            <a:r>
              <a:rPr lang="en-US" dirty="0"/>
              <a:t> </a:t>
            </a:r>
            <a:r>
              <a:rPr lang="en-US" dirty="0" err="1" smtClean="0"/>
              <a:t>incelediğimizde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en-US" b="1" dirty="0" err="1"/>
              <a:t>MCPHost</a:t>
            </a:r>
            <a:r>
              <a:rPr lang="en-US" b="1" dirty="0"/>
              <a:t>: </a:t>
            </a:r>
            <a:r>
              <a:rPr lang="en-US" dirty="0" err="1"/>
              <a:t>Bağlantıları</a:t>
            </a:r>
            <a:r>
              <a:rPr lang="en-US" dirty="0"/>
              <a:t> </a:t>
            </a:r>
            <a:r>
              <a:rPr lang="en-US" dirty="0" err="1"/>
              <a:t>başlatan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MCP Server </a:t>
            </a:r>
            <a:r>
              <a:rPr lang="en-US" dirty="0" err="1"/>
              <a:t>sorgulayan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destekli</a:t>
            </a:r>
            <a:r>
              <a:rPr lang="en-US" dirty="0"/>
              <a:t> </a:t>
            </a:r>
            <a:r>
              <a:rPr lang="en-US" dirty="0" err="1"/>
              <a:t>uygulamalardır</a:t>
            </a:r>
            <a:r>
              <a:rPr lang="en-US" dirty="0"/>
              <a:t>. </a:t>
            </a:r>
            <a:r>
              <a:rPr lang="en-US" dirty="0" err="1"/>
              <a:t>Örnekler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destekli</a:t>
            </a:r>
            <a:r>
              <a:rPr lang="en-US" dirty="0"/>
              <a:t> </a:t>
            </a:r>
            <a:r>
              <a:rPr lang="en-US" dirty="0" err="1"/>
              <a:t>IDE’ler</a:t>
            </a:r>
            <a:r>
              <a:rPr lang="en-US" dirty="0"/>
              <a:t>, </a:t>
            </a:r>
            <a:r>
              <a:rPr lang="en-US" dirty="0" err="1"/>
              <a:t>sohbet</a:t>
            </a:r>
            <a:r>
              <a:rPr lang="en-US" dirty="0"/>
              <a:t> </a:t>
            </a:r>
            <a:r>
              <a:rPr lang="en-US" dirty="0" err="1"/>
              <a:t>asistanları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zekası</a:t>
            </a:r>
            <a:r>
              <a:rPr lang="en-US" dirty="0"/>
              <a:t> </a:t>
            </a:r>
            <a:r>
              <a:rPr lang="en-US" dirty="0" err="1"/>
              <a:t>platformları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MCPClient</a:t>
            </a:r>
            <a:r>
              <a:rPr lang="en-US" b="1" dirty="0"/>
              <a:t>:</a:t>
            </a:r>
            <a:r>
              <a:rPr lang="en-US" dirty="0"/>
              <a:t> MCP </a:t>
            </a:r>
            <a:r>
              <a:rPr lang="en-US" dirty="0" err="1"/>
              <a:t>sunucuları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bağlantıları</a:t>
            </a:r>
            <a:r>
              <a:rPr lang="en-US" dirty="0"/>
              <a:t> </a:t>
            </a:r>
            <a:r>
              <a:rPr lang="en-US" dirty="0" err="1"/>
              <a:t>yöneten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</a:t>
            </a:r>
            <a:r>
              <a:rPr lang="en-US" dirty="0" err="1"/>
              <a:t>bilgisayar</a:t>
            </a:r>
            <a:r>
              <a:rPr lang="en-US" dirty="0"/>
              <a:t> </a:t>
            </a:r>
            <a:r>
              <a:rPr lang="en-US" dirty="0" err="1"/>
              <a:t>uygulaması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arayüz</a:t>
            </a:r>
            <a:r>
              <a:rPr lang="en-US" dirty="0"/>
              <a:t> </a:t>
            </a:r>
            <a:r>
              <a:rPr lang="en-US" dirty="0" err="1"/>
              <a:t>katmanı</a:t>
            </a:r>
            <a:r>
              <a:rPr lang="en-US" dirty="0"/>
              <a:t>. </a:t>
            </a:r>
            <a:r>
              <a:rPr lang="en-US" dirty="0" err="1"/>
              <a:t>İstekleri</a:t>
            </a:r>
            <a:r>
              <a:rPr lang="en-US" dirty="0"/>
              <a:t> </a:t>
            </a:r>
            <a:r>
              <a:rPr lang="en-US" dirty="0" err="1"/>
              <a:t>standartlaştırır</a:t>
            </a:r>
            <a:r>
              <a:rPr lang="en-US" dirty="0"/>
              <a:t>, </a:t>
            </a:r>
            <a:r>
              <a:rPr lang="en-US" dirty="0" err="1"/>
              <a:t>yanıtları</a:t>
            </a:r>
            <a:r>
              <a:rPr lang="en-US" dirty="0"/>
              <a:t> </a:t>
            </a:r>
            <a:r>
              <a:rPr lang="en-US" dirty="0" err="1"/>
              <a:t>işler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/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işlemlerini</a:t>
            </a:r>
            <a:r>
              <a:rPr lang="en-US" dirty="0"/>
              <a:t> </a:t>
            </a:r>
            <a:r>
              <a:rPr lang="en-US" dirty="0" err="1"/>
              <a:t>gerçekleştirir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MCPServer</a:t>
            </a:r>
            <a:r>
              <a:rPr lang="en-US" b="1" dirty="0"/>
              <a:t>: </a:t>
            </a:r>
            <a:r>
              <a:rPr lang="en-US" dirty="0"/>
              <a:t>MCP </a:t>
            </a:r>
            <a:r>
              <a:rPr lang="en-US" dirty="0" err="1"/>
              <a:t>standardı</a:t>
            </a:r>
            <a:r>
              <a:rPr lang="en-US" dirty="0"/>
              <a:t> </a:t>
            </a:r>
            <a:r>
              <a:rPr lang="en-US" dirty="0" err="1"/>
              <a:t>aracılığıyla</a:t>
            </a:r>
            <a:r>
              <a:rPr lang="en-US" dirty="0"/>
              <a:t> </a:t>
            </a:r>
            <a:r>
              <a:rPr lang="en-US" dirty="0" err="1"/>
              <a:t>bağlamsal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, </a:t>
            </a:r>
            <a:r>
              <a:rPr lang="en-US" dirty="0" err="1"/>
              <a:t>araçları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API’leri</a:t>
            </a:r>
            <a:r>
              <a:rPr lang="en-US" dirty="0"/>
              <a:t> </a:t>
            </a:r>
            <a:r>
              <a:rPr lang="en-US" dirty="0" err="1"/>
              <a:t>açığa</a:t>
            </a:r>
            <a:r>
              <a:rPr lang="en-US" dirty="0"/>
              <a:t> </a:t>
            </a:r>
            <a:r>
              <a:rPr lang="en-US" dirty="0" err="1"/>
              <a:t>çıkaran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28" y="817581"/>
            <a:ext cx="10109720" cy="342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18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/>
          <a:lstStyle/>
          <a:p>
            <a:pPr marL="0" indent="0">
              <a:buNone/>
            </a:pPr>
            <a:r>
              <a:rPr lang="tr-TR" sz="2000" b="1" dirty="0" smtClean="0"/>
              <a:t>Spring AI:</a:t>
            </a:r>
          </a:p>
          <a:p>
            <a:pPr marL="0" indent="0">
              <a:buNone/>
            </a:pPr>
            <a:r>
              <a:rPr lang="en-US" sz="2000" dirty="0" err="1"/>
              <a:t>Hızla</a:t>
            </a:r>
            <a:r>
              <a:rPr lang="en-US" sz="2000" dirty="0"/>
              <a:t> </a:t>
            </a:r>
            <a:r>
              <a:rPr lang="en-US" sz="2000" dirty="0" err="1"/>
              <a:t>gelişen</a:t>
            </a:r>
            <a:r>
              <a:rPr lang="en-US" sz="2000" dirty="0"/>
              <a:t> </a:t>
            </a:r>
            <a:r>
              <a:rPr lang="en-US" sz="2000" dirty="0" err="1"/>
              <a:t>yapay</a:t>
            </a:r>
            <a:r>
              <a:rPr lang="en-US" sz="2000" dirty="0"/>
              <a:t> </a:t>
            </a:r>
            <a:r>
              <a:rPr lang="en-US" sz="2000" dirty="0" err="1"/>
              <a:t>zekâ</a:t>
            </a:r>
            <a:r>
              <a:rPr lang="en-US" sz="2000" dirty="0"/>
              <a:t> </a:t>
            </a:r>
            <a:r>
              <a:rPr lang="en-US" sz="2000" dirty="0" err="1"/>
              <a:t>ortamında</a:t>
            </a:r>
            <a:r>
              <a:rPr lang="en-US" sz="2000" dirty="0"/>
              <a:t>, </a:t>
            </a:r>
            <a:r>
              <a:rPr lang="en-US" sz="2000" dirty="0" err="1"/>
              <a:t>yapay</a:t>
            </a:r>
            <a:r>
              <a:rPr lang="en-US" sz="2000" dirty="0"/>
              <a:t> </a:t>
            </a:r>
            <a:r>
              <a:rPr lang="en-US" sz="2000" dirty="0" err="1"/>
              <a:t>zekâ</a:t>
            </a:r>
            <a:r>
              <a:rPr lang="en-US" sz="2000" dirty="0"/>
              <a:t> </a:t>
            </a:r>
            <a:r>
              <a:rPr lang="en-US" sz="2000" dirty="0" err="1"/>
              <a:t>yeteneklerini</a:t>
            </a:r>
            <a:r>
              <a:rPr lang="en-US" sz="2000" dirty="0"/>
              <a:t> </a:t>
            </a:r>
            <a:r>
              <a:rPr lang="en-US" sz="2000" dirty="0" err="1"/>
              <a:t>uygulamalara</a:t>
            </a:r>
            <a:r>
              <a:rPr lang="en-US" sz="2000" dirty="0"/>
              <a:t> </a:t>
            </a:r>
            <a:r>
              <a:rPr lang="en-US" sz="2000" dirty="0" err="1"/>
              <a:t>entegre</a:t>
            </a:r>
            <a:r>
              <a:rPr lang="en-US" sz="2000" dirty="0"/>
              <a:t> </a:t>
            </a:r>
            <a:r>
              <a:rPr lang="en-US" sz="2000" dirty="0" err="1"/>
              <a:t>etmek</a:t>
            </a:r>
            <a:r>
              <a:rPr lang="en-US" sz="2000" dirty="0"/>
              <a:t> </a:t>
            </a:r>
            <a:r>
              <a:rPr lang="en-US" sz="2000" dirty="0" err="1"/>
              <a:t>geliştiriciler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giderek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önemli</a:t>
            </a:r>
            <a:r>
              <a:rPr lang="en-US" sz="2000" dirty="0"/>
              <a:t> hale </a:t>
            </a:r>
            <a:r>
              <a:rPr lang="en-US" sz="2000" dirty="0" err="1"/>
              <a:t>gelmiştir</a:t>
            </a:r>
            <a:r>
              <a:rPr lang="en-US" sz="2000" dirty="0"/>
              <a:t>. </a:t>
            </a:r>
            <a:r>
              <a:rPr lang="en-US" sz="2000" dirty="0" err="1"/>
              <a:t>Bununla</a:t>
            </a:r>
            <a:r>
              <a:rPr lang="en-US" sz="2000" dirty="0"/>
              <a:t> </a:t>
            </a:r>
            <a:r>
              <a:rPr lang="en-US" sz="2000" dirty="0" err="1"/>
              <a:t>birlikte</a:t>
            </a:r>
            <a:r>
              <a:rPr lang="en-US" sz="2000" dirty="0"/>
              <a:t>, </a:t>
            </a:r>
            <a:r>
              <a:rPr lang="en-US" sz="2000" dirty="0" err="1"/>
              <a:t>çeşitli</a:t>
            </a:r>
            <a:r>
              <a:rPr lang="en-US" sz="2000" dirty="0"/>
              <a:t> </a:t>
            </a:r>
            <a:r>
              <a:rPr lang="en-US" sz="2000" dirty="0" err="1"/>
              <a:t>yapay</a:t>
            </a:r>
            <a:r>
              <a:rPr lang="en-US" sz="2000" dirty="0"/>
              <a:t> </a:t>
            </a:r>
            <a:r>
              <a:rPr lang="en-US" sz="2000" dirty="0" err="1"/>
              <a:t>zekâ</a:t>
            </a:r>
            <a:r>
              <a:rPr lang="en-US" sz="2000" dirty="0"/>
              <a:t> </a:t>
            </a:r>
            <a:r>
              <a:rPr lang="en-US" sz="2000" dirty="0" err="1"/>
              <a:t>hizmetleri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modelleriyle</a:t>
            </a:r>
            <a:r>
              <a:rPr lang="en-US" sz="2000" dirty="0"/>
              <a:t> </a:t>
            </a:r>
            <a:r>
              <a:rPr lang="en-US" sz="2000" dirty="0" err="1"/>
              <a:t>çalışmak</a:t>
            </a:r>
            <a:r>
              <a:rPr lang="en-US" sz="2000" dirty="0"/>
              <a:t>, </a:t>
            </a:r>
            <a:r>
              <a:rPr lang="en-US" sz="2000" dirty="0" err="1"/>
              <a:t>tutarsız</a:t>
            </a:r>
            <a:r>
              <a:rPr lang="en-US" sz="2000" dirty="0"/>
              <a:t> </a:t>
            </a:r>
            <a:r>
              <a:rPr lang="en-US" sz="2000" b="1" dirty="0" err="1"/>
              <a:t>API'ler</a:t>
            </a:r>
            <a:r>
              <a:rPr lang="en-US" sz="2000" dirty="0"/>
              <a:t>, </a:t>
            </a:r>
            <a:r>
              <a:rPr lang="en-US" sz="2000" dirty="0" err="1"/>
              <a:t>karmaşık</a:t>
            </a:r>
            <a:r>
              <a:rPr lang="en-US" sz="2000" dirty="0"/>
              <a:t> </a:t>
            </a:r>
            <a:r>
              <a:rPr lang="en-US" sz="2000" dirty="0" err="1"/>
              <a:t>entegrasyon</a:t>
            </a:r>
            <a:r>
              <a:rPr lang="en-US" sz="2000" dirty="0"/>
              <a:t> </a:t>
            </a:r>
            <a:r>
              <a:rPr lang="en-US" sz="2000" dirty="0" err="1"/>
              <a:t>gereksinimleri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birden</a:t>
            </a:r>
            <a:r>
              <a:rPr lang="en-US" sz="2000" dirty="0"/>
              <a:t> </a:t>
            </a:r>
            <a:r>
              <a:rPr lang="en-US" sz="2000" dirty="0" err="1"/>
              <a:t>fazla</a:t>
            </a:r>
            <a:r>
              <a:rPr lang="en-US" sz="2000" dirty="0"/>
              <a:t> </a:t>
            </a:r>
            <a:r>
              <a:rPr lang="en-US" sz="2000" dirty="0" err="1"/>
              <a:t>sağlayıcıya</a:t>
            </a:r>
            <a:r>
              <a:rPr lang="en-US" sz="2000" dirty="0"/>
              <a:t> </a:t>
            </a:r>
            <a:r>
              <a:rPr lang="en-US" sz="2000" dirty="0" err="1"/>
              <a:t>özgü</a:t>
            </a:r>
            <a:r>
              <a:rPr lang="en-US" sz="2000" dirty="0"/>
              <a:t> </a:t>
            </a:r>
            <a:r>
              <a:rPr lang="en-US" sz="2000" dirty="0" err="1"/>
              <a:t>uygulamayı</a:t>
            </a:r>
            <a:r>
              <a:rPr lang="en-US" sz="2000" dirty="0"/>
              <a:t> </a:t>
            </a:r>
            <a:r>
              <a:rPr lang="en-US" sz="2000" dirty="0" err="1"/>
              <a:t>anlama</a:t>
            </a:r>
            <a:r>
              <a:rPr lang="en-US" sz="2000" dirty="0"/>
              <a:t> </a:t>
            </a:r>
            <a:r>
              <a:rPr lang="en-US" sz="2000" dirty="0" err="1"/>
              <a:t>ihtiyacı</a:t>
            </a:r>
            <a:r>
              <a:rPr lang="en-US" sz="2000" dirty="0"/>
              <a:t> </a:t>
            </a:r>
            <a:r>
              <a:rPr lang="en-US" sz="2000" dirty="0" err="1"/>
              <a:t>nedeniyle</a:t>
            </a:r>
            <a:r>
              <a:rPr lang="en-US" sz="2000" dirty="0"/>
              <a:t> </a:t>
            </a:r>
            <a:r>
              <a:rPr lang="en-US" sz="2000" dirty="0" err="1"/>
              <a:t>genellikle</a:t>
            </a:r>
            <a:r>
              <a:rPr lang="en-US" sz="2000" dirty="0"/>
              <a:t> </a:t>
            </a:r>
            <a:r>
              <a:rPr lang="en-US" sz="2000" dirty="0" err="1"/>
              <a:t>zorluklar</a:t>
            </a:r>
            <a:r>
              <a:rPr lang="en-US" sz="2000" dirty="0"/>
              <a:t> </a:t>
            </a:r>
            <a:r>
              <a:rPr lang="en-US" sz="2000" dirty="0" err="1"/>
              <a:t>ortaya</a:t>
            </a:r>
            <a:r>
              <a:rPr lang="en-US" sz="2000" dirty="0"/>
              <a:t> </a:t>
            </a:r>
            <a:r>
              <a:rPr lang="en-US" sz="2000" dirty="0" err="1"/>
              <a:t>çıkarır</a:t>
            </a:r>
            <a:r>
              <a:rPr lang="en-US" sz="2000" dirty="0" smtClean="0"/>
              <a:t>.</a:t>
            </a:r>
            <a:endParaRPr lang="tr-TR" sz="2000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" y="1624406"/>
            <a:ext cx="11980620" cy="509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35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İşte</a:t>
            </a:r>
            <a:r>
              <a:rPr lang="en-US" b="1" dirty="0"/>
              <a:t> Spring AI</a:t>
            </a:r>
            <a:r>
              <a:rPr lang="en-US" dirty="0"/>
              <a:t> </a:t>
            </a:r>
            <a:r>
              <a:rPr lang="en-US" dirty="0" err="1"/>
              <a:t>devreye</a:t>
            </a:r>
            <a:r>
              <a:rPr lang="en-US" dirty="0"/>
              <a:t> </a:t>
            </a:r>
            <a:r>
              <a:rPr lang="en-US" dirty="0" err="1"/>
              <a:t>giriyor</a:t>
            </a:r>
            <a:r>
              <a:rPr lang="en-US" dirty="0"/>
              <a:t> — Java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entegrasyonunu</a:t>
            </a:r>
            <a:r>
              <a:rPr lang="en-US" dirty="0"/>
              <a:t> </a:t>
            </a:r>
            <a:r>
              <a:rPr lang="en-US" dirty="0" err="1"/>
              <a:t>basitleştirmek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tasarlanmış</a:t>
            </a:r>
            <a:r>
              <a:rPr lang="en-US" dirty="0"/>
              <a:t>, Spring </a:t>
            </a:r>
            <a:r>
              <a:rPr lang="en-US" dirty="0" err="1"/>
              <a:t>ekosisteminden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proje</a:t>
            </a:r>
            <a:r>
              <a:rPr lang="en-US" dirty="0"/>
              <a:t>. </a:t>
            </a:r>
            <a:r>
              <a:rPr lang="en-US" b="1" dirty="0"/>
              <a:t>Spring</a:t>
            </a:r>
            <a:r>
              <a:rPr lang="en-US" dirty="0"/>
              <a:t> </a:t>
            </a:r>
            <a:r>
              <a:rPr lang="en-US" b="1" dirty="0" err="1"/>
              <a:t>Framework'ün</a:t>
            </a:r>
            <a:r>
              <a:rPr lang="en-US" dirty="0"/>
              <a:t> </a:t>
            </a:r>
            <a:r>
              <a:rPr lang="en-US" dirty="0" err="1"/>
              <a:t>kurumsal</a:t>
            </a:r>
            <a:r>
              <a:rPr lang="en-US" dirty="0"/>
              <a:t> Java </a:t>
            </a:r>
            <a:r>
              <a:rPr lang="en-US" dirty="0" err="1"/>
              <a:t>geliştirme</a:t>
            </a:r>
            <a:r>
              <a:rPr lang="en-US" dirty="0"/>
              <a:t> </a:t>
            </a:r>
            <a:r>
              <a:rPr lang="en-US" dirty="0" err="1"/>
              <a:t>süreçlerini</a:t>
            </a:r>
            <a:r>
              <a:rPr lang="en-US" dirty="0"/>
              <a:t> </a:t>
            </a:r>
            <a:r>
              <a:rPr lang="en-US" dirty="0" err="1"/>
              <a:t>basitleştirme</a:t>
            </a:r>
            <a:r>
              <a:rPr lang="en-US" dirty="0"/>
              <a:t> </a:t>
            </a:r>
            <a:r>
              <a:rPr lang="en-US" dirty="0" err="1"/>
              <a:t>yaklaşımına</a:t>
            </a:r>
            <a:r>
              <a:rPr lang="en-US" dirty="0"/>
              <a:t> </a:t>
            </a:r>
            <a:r>
              <a:rPr lang="en-US" dirty="0" err="1"/>
              <a:t>aşina</a:t>
            </a:r>
            <a:r>
              <a:rPr lang="en-US" dirty="0"/>
              <a:t> </a:t>
            </a:r>
            <a:r>
              <a:rPr lang="en-US" dirty="0" err="1"/>
              <a:t>iseniz</a:t>
            </a:r>
            <a:r>
              <a:rPr lang="en-US" dirty="0"/>
              <a:t>, </a:t>
            </a:r>
            <a:r>
              <a:rPr lang="en-US" b="1" dirty="0"/>
              <a:t>Spring</a:t>
            </a:r>
            <a:r>
              <a:rPr lang="en-US" dirty="0"/>
              <a:t> </a:t>
            </a:r>
            <a:r>
              <a:rPr lang="en-US" b="1" dirty="0"/>
              <a:t>AI</a:t>
            </a:r>
            <a:r>
              <a:rPr lang="en-US" dirty="0"/>
              <a:t> de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teknolojileri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soyutlamalar</a:t>
            </a:r>
            <a:r>
              <a:rPr lang="en-US" dirty="0"/>
              <a:t> </a:t>
            </a:r>
            <a:r>
              <a:rPr lang="en-US" dirty="0" err="1"/>
              <a:t>sağlayarak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felsefeyi</a:t>
            </a:r>
            <a:r>
              <a:rPr lang="en-US" dirty="0"/>
              <a:t> </a:t>
            </a:r>
            <a:r>
              <a:rPr lang="en-US" dirty="0" err="1"/>
              <a:t>izliyor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makale</a:t>
            </a:r>
            <a:r>
              <a:rPr lang="en-US" dirty="0"/>
              <a:t>, </a:t>
            </a:r>
            <a:r>
              <a:rPr lang="en-US" b="1" dirty="0"/>
              <a:t>Spring</a:t>
            </a:r>
            <a:r>
              <a:rPr lang="en-US" dirty="0"/>
              <a:t> </a:t>
            </a:r>
            <a:r>
              <a:rPr lang="en-US" b="1" dirty="0" err="1"/>
              <a:t>AI'nin</a:t>
            </a:r>
            <a:r>
              <a:rPr lang="en-US" dirty="0"/>
              <a:t> </a:t>
            </a:r>
            <a:r>
              <a:rPr lang="en-US" dirty="0" err="1"/>
              <a:t>yeteneklerini</a:t>
            </a:r>
            <a:r>
              <a:rPr lang="en-US" dirty="0"/>
              <a:t>, </a:t>
            </a:r>
            <a:r>
              <a:rPr lang="en-US" dirty="0" err="1"/>
              <a:t>bileşenlerini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sağlayıcılarının</a:t>
            </a:r>
            <a:r>
              <a:rPr lang="en-US" dirty="0"/>
              <a:t> </a:t>
            </a:r>
            <a:r>
              <a:rPr lang="en-US" dirty="0" err="1"/>
              <a:t>karmaşıklıklarında</a:t>
            </a:r>
            <a:r>
              <a:rPr lang="en-US" dirty="0"/>
              <a:t> </a:t>
            </a:r>
            <a:r>
              <a:rPr lang="en-US" dirty="0" err="1"/>
              <a:t>kaybolmadan</a:t>
            </a:r>
            <a:r>
              <a:rPr lang="en-US" dirty="0"/>
              <a:t> </a:t>
            </a:r>
            <a:r>
              <a:rPr lang="en-US" dirty="0" err="1"/>
              <a:t>akıllı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kullanılabileceğini</a:t>
            </a:r>
            <a:r>
              <a:rPr lang="en-US" dirty="0"/>
              <a:t> </a:t>
            </a:r>
            <a:r>
              <a:rPr lang="en-US" dirty="0" err="1"/>
              <a:t>inceliyor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Spring AI </a:t>
            </a:r>
            <a:r>
              <a:rPr lang="en-US" b="1" dirty="0" err="1"/>
              <a:t>nedir</a:t>
            </a:r>
            <a:r>
              <a:rPr lang="en-US" b="1" dirty="0"/>
              <a:t>?</a:t>
            </a:r>
          </a:p>
          <a:p>
            <a:pPr marL="0" indent="0">
              <a:buNone/>
            </a:pPr>
            <a:r>
              <a:rPr lang="en-US" dirty="0"/>
              <a:t>Spring AI, Java </a:t>
            </a:r>
            <a:r>
              <a:rPr lang="en-US" dirty="0" err="1"/>
              <a:t>uygulamalarına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yeteneklerini</a:t>
            </a:r>
            <a:r>
              <a:rPr lang="en-US" dirty="0"/>
              <a:t> </a:t>
            </a:r>
            <a:r>
              <a:rPr lang="en-US" dirty="0" err="1"/>
              <a:t>entegre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soyutlamalar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programlar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b="1" dirty="0"/>
              <a:t>Spring</a:t>
            </a:r>
            <a:r>
              <a:rPr lang="en-US" dirty="0"/>
              <a:t> </a:t>
            </a:r>
            <a:r>
              <a:rPr lang="en-US" b="1" dirty="0" err="1"/>
              <a:t>Framework'ün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uzantısıdır</a:t>
            </a:r>
            <a:r>
              <a:rPr lang="en-US" dirty="0"/>
              <a:t>. Spring, </a:t>
            </a:r>
            <a:r>
              <a:rPr lang="en-US" dirty="0" err="1"/>
              <a:t>bağımlılık</a:t>
            </a:r>
            <a:r>
              <a:rPr lang="en-US" dirty="0"/>
              <a:t> </a:t>
            </a:r>
            <a:r>
              <a:rPr lang="en-US" dirty="0" err="1"/>
              <a:t>enjeksiyonu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şablonlama</a:t>
            </a:r>
            <a:r>
              <a:rPr lang="en-US" dirty="0"/>
              <a:t> </a:t>
            </a:r>
            <a:r>
              <a:rPr lang="en-US" dirty="0" err="1"/>
              <a:t>kalıplarıyla</a:t>
            </a:r>
            <a:r>
              <a:rPr lang="en-US" dirty="0"/>
              <a:t> </a:t>
            </a:r>
            <a:r>
              <a:rPr lang="en-US" dirty="0" err="1"/>
              <a:t>kurumsal</a:t>
            </a:r>
            <a:r>
              <a:rPr lang="en-US" dirty="0"/>
              <a:t> Java </a:t>
            </a:r>
            <a:r>
              <a:rPr lang="en-US" dirty="0" err="1"/>
              <a:t>geliştirmeyi</a:t>
            </a:r>
            <a:r>
              <a:rPr lang="en-US" dirty="0"/>
              <a:t> </a:t>
            </a:r>
            <a:r>
              <a:rPr lang="en-US" dirty="0" err="1"/>
              <a:t>basitleştirdiği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, </a:t>
            </a:r>
            <a:r>
              <a:rPr lang="en-US" b="1" dirty="0"/>
              <a:t>Spring</a:t>
            </a:r>
            <a:r>
              <a:rPr lang="en-US" dirty="0"/>
              <a:t> </a:t>
            </a:r>
            <a:r>
              <a:rPr lang="en-US" b="1" dirty="0"/>
              <a:t>AI</a:t>
            </a:r>
            <a:r>
              <a:rPr lang="en-US" dirty="0"/>
              <a:t> de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(</a:t>
            </a:r>
            <a:r>
              <a:rPr lang="en-US" b="1" dirty="0" err="1"/>
              <a:t>LLM'ler</a:t>
            </a:r>
            <a:r>
              <a:rPr lang="en-US" dirty="0"/>
              <a:t>), </a:t>
            </a:r>
            <a:r>
              <a:rPr lang="en-US" dirty="0" err="1"/>
              <a:t>gömme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teknolojileriyle</a:t>
            </a:r>
            <a:r>
              <a:rPr lang="en-US" dirty="0"/>
              <a:t> </a:t>
            </a:r>
            <a:r>
              <a:rPr lang="en-US" dirty="0" err="1"/>
              <a:t>çalışmayı</a:t>
            </a:r>
            <a:r>
              <a:rPr lang="en-US" dirty="0"/>
              <a:t> </a:t>
            </a:r>
            <a:r>
              <a:rPr lang="en-US" dirty="0" err="1"/>
              <a:t>basitleştirir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Spring AI’ın </a:t>
            </a:r>
            <a:r>
              <a:rPr lang="en-US" dirty="0" err="1" smtClean="0"/>
              <a:t>amacı</a:t>
            </a:r>
            <a:r>
              <a:rPr lang="en-US" dirty="0" smtClean="0"/>
              <a:t> </a:t>
            </a:r>
            <a:r>
              <a:rPr lang="en-US" dirty="0" err="1" smtClean="0"/>
              <a:t>şunlardır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Farklı</a:t>
            </a:r>
            <a:r>
              <a:rPr lang="en-US" dirty="0" smtClean="0"/>
              <a:t> </a:t>
            </a:r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hizmet</a:t>
            </a:r>
            <a:r>
              <a:rPr lang="en-US" dirty="0" smtClean="0"/>
              <a:t> </a:t>
            </a:r>
            <a:r>
              <a:rPr lang="en-US" dirty="0" err="1" smtClean="0"/>
              <a:t>sağlayıcıları</a:t>
            </a:r>
            <a:r>
              <a:rPr lang="en-US" dirty="0" smtClean="0"/>
              <a:t> </a:t>
            </a:r>
            <a:r>
              <a:rPr lang="en-US" dirty="0" err="1" smtClean="0"/>
              <a:t>arasında</a:t>
            </a:r>
            <a:r>
              <a:rPr lang="en-US" dirty="0" smtClean="0"/>
              <a:t> </a:t>
            </a:r>
            <a:r>
              <a:rPr lang="en-US" dirty="0" err="1" smtClean="0"/>
              <a:t>tutarlı</a:t>
            </a:r>
            <a:r>
              <a:rPr lang="en-US" dirty="0" smtClean="0"/>
              <a:t> </a:t>
            </a:r>
            <a:r>
              <a:rPr lang="en-US" dirty="0" err="1" smtClean="0"/>
              <a:t>arayüzler</a:t>
            </a:r>
            <a:r>
              <a:rPr lang="en-US" dirty="0" smtClean="0"/>
              <a:t> </a:t>
            </a:r>
            <a:r>
              <a:rPr lang="en-US" dirty="0" err="1" smtClean="0"/>
              <a:t>sağla</a:t>
            </a:r>
            <a:r>
              <a:rPr lang="tr-TR" dirty="0" smtClean="0"/>
              <a:t>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özelliklerinin</a:t>
            </a:r>
            <a:r>
              <a:rPr lang="en-US" dirty="0" smtClean="0"/>
              <a:t> Spring </a:t>
            </a:r>
            <a:r>
              <a:rPr lang="en-US" dirty="0" err="1" smtClean="0"/>
              <a:t>uygulamalarına</a:t>
            </a:r>
            <a:r>
              <a:rPr lang="en-US" dirty="0" smtClean="0"/>
              <a:t> </a:t>
            </a:r>
            <a:r>
              <a:rPr lang="en-US" dirty="0" err="1" smtClean="0"/>
              <a:t>entegrasyonunu</a:t>
            </a:r>
            <a:r>
              <a:rPr lang="en-US" dirty="0" smtClean="0"/>
              <a:t> </a:t>
            </a:r>
            <a:r>
              <a:rPr lang="en-US" dirty="0" err="1" smtClean="0"/>
              <a:t>basitleştiri</a:t>
            </a:r>
            <a:r>
              <a:rPr lang="tr-TR" dirty="0" smtClean="0"/>
              <a:t>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teknolojileriyle</a:t>
            </a:r>
            <a:r>
              <a:rPr lang="en-US" dirty="0" smtClean="0"/>
              <a:t> </a:t>
            </a:r>
            <a:r>
              <a:rPr lang="en-US" dirty="0" err="1" smtClean="0"/>
              <a:t>çalışma</a:t>
            </a:r>
            <a:r>
              <a:rPr lang="en-US" dirty="0" smtClean="0"/>
              <a:t> </a:t>
            </a:r>
            <a:r>
              <a:rPr lang="en-US" dirty="0" err="1" smtClean="0"/>
              <a:t>konusunda</a:t>
            </a:r>
            <a:r>
              <a:rPr lang="en-US" dirty="0" smtClean="0"/>
              <a:t> </a:t>
            </a:r>
            <a:r>
              <a:rPr lang="en-US" dirty="0" err="1" smtClean="0"/>
              <a:t>öğrenme</a:t>
            </a:r>
            <a:r>
              <a:rPr lang="en-US" dirty="0" smtClean="0"/>
              <a:t> </a:t>
            </a:r>
            <a:r>
              <a:rPr lang="en-US" dirty="0" err="1" smtClean="0"/>
              <a:t>sürecini</a:t>
            </a:r>
            <a:r>
              <a:rPr lang="en-US" dirty="0" smtClean="0"/>
              <a:t> </a:t>
            </a:r>
            <a:r>
              <a:rPr lang="en-US" dirty="0" err="1" smtClean="0"/>
              <a:t>kısaltı</a:t>
            </a:r>
            <a:r>
              <a:rPr lang="tr-TR" dirty="0" smtClean="0"/>
              <a:t>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Geliştiricilerin</a:t>
            </a:r>
            <a:r>
              <a:rPr lang="en-US" dirty="0" smtClean="0"/>
              <a:t> minimum </a:t>
            </a:r>
            <a:r>
              <a:rPr lang="en-US" dirty="0" err="1" smtClean="0"/>
              <a:t>kod</a:t>
            </a:r>
            <a:r>
              <a:rPr lang="en-US" dirty="0" smtClean="0"/>
              <a:t> </a:t>
            </a:r>
            <a:r>
              <a:rPr lang="en-US" dirty="0" err="1" smtClean="0"/>
              <a:t>değişikliğiyle</a:t>
            </a:r>
            <a:r>
              <a:rPr lang="en-US" dirty="0" smtClean="0"/>
              <a:t> </a:t>
            </a:r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sağlayıcıları</a:t>
            </a:r>
            <a:r>
              <a:rPr lang="en-US" dirty="0" smtClean="0"/>
              <a:t> </a:t>
            </a:r>
            <a:r>
              <a:rPr lang="en-US" dirty="0" err="1" smtClean="0"/>
              <a:t>arasında</a:t>
            </a:r>
            <a:r>
              <a:rPr lang="en-US" dirty="0" smtClean="0"/>
              <a:t> </a:t>
            </a:r>
            <a:r>
              <a:rPr lang="en-US" dirty="0" err="1" smtClean="0"/>
              <a:t>geçiş</a:t>
            </a:r>
            <a:r>
              <a:rPr lang="en-US" dirty="0" smtClean="0"/>
              <a:t> </a:t>
            </a:r>
            <a:r>
              <a:rPr lang="en-US" dirty="0" err="1" smtClean="0"/>
              <a:t>yapmalarını</a:t>
            </a:r>
            <a:r>
              <a:rPr lang="en-US" dirty="0" smtClean="0"/>
              <a:t> </a:t>
            </a:r>
            <a:r>
              <a:rPr lang="en-US" dirty="0" err="1" smtClean="0"/>
              <a:t>sağla</a:t>
            </a:r>
            <a:r>
              <a:rPr lang="tr-TR" dirty="0" smtClean="0"/>
              <a:t>r</a:t>
            </a:r>
            <a:r>
              <a:rPr lang="en-US" dirty="0" smtClean="0"/>
              <a:t>.</a:t>
            </a:r>
          </a:p>
          <a:p>
            <a:r>
              <a:rPr lang="en-US" dirty="0" smtClean="0"/>
              <a:t>Spring AI </a:t>
            </a:r>
            <a:r>
              <a:rPr lang="en-US" dirty="0" err="1" smtClean="0"/>
              <a:t>ile</a:t>
            </a:r>
            <a:r>
              <a:rPr lang="en-US" dirty="0" smtClean="0"/>
              <a:t>, </a:t>
            </a:r>
            <a:r>
              <a:rPr lang="en-US" dirty="0" err="1" smtClean="0"/>
              <a:t>çeşitli</a:t>
            </a:r>
            <a:r>
              <a:rPr lang="en-US" dirty="0" smtClean="0"/>
              <a:t> </a:t>
            </a:r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hizmeti</a:t>
            </a:r>
            <a:r>
              <a:rPr lang="en-US" dirty="0" smtClean="0"/>
              <a:t> </a:t>
            </a:r>
            <a:r>
              <a:rPr lang="en-US" dirty="0" err="1" smtClean="0"/>
              <a:t>uygulamalarının</a:t>
            </a:r>
            <a:r>
              <a:rPr lang="en-US" dirty="0" smtClean="0"/>
              <a:t> </a:t>
            </a:r>
            <a:r>
              <a:rPr lang="en-US" dirty="0" err="1" smtClean="0"/>
              <a:t>incelikleriyle</a:t>
            </a:r>
            <a:r>
              <a:rPr lang="en-US" dirty="0" smtClean="0"/>
              <a:t> </a:t>
            </a:r>
            <a:r>
              <a:rPr lang="en-US" dirty="0" err="1" smtClean="0"/>
              <a:t>uğraşmak</a:t>
            </a:r>
            <a:r>
              <a:rPr lang="en-US" dirty="0" smtClean="0"/>
              <a:t> </a:t>
            </a:r>
            <a:r>
              <a:rPr lang="en-US" dirty="0" err="1" smtClean="0"/>
              <a:t>yerine</a:t>
            </a:r>
            <a:r>
              <a:rPr lang="en-US" dirty="0" smtClean="0"/>
              <a:t>, </a:t>
            </a:r>
            <a:r>
              <a:rPr lang="en-US" dirty="0" err="1" smtClean="0"/>
              <a:t>uygulamanızın</a:t>
            </a:r>
            <a:r>
              <a:rPr lang="en-US" dirty="0" smtClean="0"/>
              <a:t> </a:t>
            </a:r>
            <a:r>
              <a:rPr lang="en-US" dirty="0" err="1" smtClean="0"/>
              <a:t>iş</a:t>
            </a:r>
            <a:r>
              <a:rPr lang="en-US" dirty="0" smtClean="0"/>
              <a:t> </a:t>
            </a:r>
            <a:r>
              <a:rPr lang="en-US" dirty="0" err="1" smtClean="0"/>
              <a:t>mantığını</a:t>
            </a:r>
            <a:r>
              <a:rPr lang="en-US" dirty="0" smtClean="0"/>
              <a:t> </a:t>
            </a:r>
            <a:r>
              <a:rPr lang="en-US" dirty="0" err="1" smtClean="0"/>
              <a:t>oluşturmaya</a:t>
            </a:r>
            <a:r>
              <a:rPr lang="en-US" dirty="0" smtClean="0"/>
              <a:t> </a:t>
            </a:r>
            <a:r>
              <a:rPr lang="en-US" dirty="0" err="1" smtClean="0"/>
              <a:t>odaklanabilirsiniz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78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Spring </a:t>
            </a:r>
            <a:r>
              <a:rPr lang="en-US" b="1" dirty="0" err="1"/>
              <a:t>AI'nin</a:t>
            </a:r>
            <a:r>
              <a:rPr lang="en-US" b="1" dirty="0"/>
              <a:t> </a:t>
            </a:r>
            <a:r>
              <a:rPr lang="en-US" b="1" dirty="0" err="1"/>
              <a:t>Temel</a:t>
            </a:r>
            <a:r>
              <a:rPr lang="en-US" b="1" dirty="0"/>
              <a:t> </a:t>
            </a:r>
            <a:r>
              <a:rPr lang="en-US" b="1" dirty="0" err="1"/>
              <a:t>Bileşenleri</a:t>
            </a:r>
            <a:endParaRPr lang="en-US" b="1" dirty="0"/>
          </a:p>
          <a:p>
            <a:r>
              <a:rPr lang="en-US" dirty="0"/>
              <a:t>Spring </a:t>
            </a:r>
            <a:r>
              <a:rPr lang="en-US" dirty="0" err="1"/>
              <a:t>AI'nin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</a:t>
            </a:r>
            <a:r>
              <a:rPr lang="en-US" dirty="0" err="1"/>
              <a:t>bileşenden</a:t>
            </a:r>
            <a:r>
              <a:rPr lang="en-US" dirty="0"/>
              <a:t> </a:t>
            </a:r>
            <a:r>
              <a:rPr lang="en-US" dirty="0" err="1"/>
              <a:t>oluşur</a:t>
            </a:r>
            <a:r>
              <a:rPr lang="en-US" dirty="0"/>
              <a:t>: </a:t>
            </a:r>
            <a:r>
              <a:rPr lang="en-US" b="1" dirty="0"/>
              <a:t>Model </a:t>
            </a:r>
            <a:r>
              <a:rPr lang="en-US" b="1" dirty="0" err="1"/>
              <a:t>Sağlayıcıları</a:t>
            </a:r>
            <a:r>
              <a:rPr lang="en-US" dirty="0"/>
              <a:t> 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b="1" dirty="0" err="1"/>
              <a:t>Temel</a:t>
            </a:r>
            <a:r>
              <a:rPr lang="en-US" b="1" dirty="0"/>
              <a:t> </a:t>
            </a:r>
            <a:r>
              <a:rPr lang="en-US" b="1" dirty="0" err="1"/>
              <a:t>Soyutlamalar</a:t>
            </a:r>
            <a:r>
              <a:rPr lang="en-US" dirty="0"/>
              <a:t> . Her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ayrıntılı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inceleyelim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Model </a:t>
            </a:r>
            <a:r>
              <a:rPr lang="en-US" b="1" dirty="0" err="1"/>
              <a:t>Sağlayıcıları</a:t>
            </a:r>
            <a:endParaRPr lang="en-US" b="1" dirty="0"/>
          </a:p>
          <a:p>
            <a:r>
              <a:rPr lang="en-US" dirty="0"/>
              <a:t>Spring AI,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sağlayıcısıyla</a:t>
            </a:r>
            <a:r>
              <a:rPr lang="en-US" dirty="0"/>
              <a:t> </a:t>
            </a:r>
            <a:r>
              <a:rPr lang="en-US" dirty="0" err="1"/>
              <a:t>entegrasyonu</a:t>
            </a:r>
            <a:r>
              <a:rPr lang="en-US" dirty="0"/>
              <a:t> </a:t>
            </a:r>
            <a:r>
              <a:rPr lang="en-US" dirty="0" err="1"/>
              <a:t>destekleyerek</a:t>
            </a:r>
            <a:r>
              <a:rPr lang="en-US" dirty="0"/>
              <a:t>, </a:t>
            </a:r>
            <a:r>
              <a:rPr lang="en-US" dirty="0" err="1"/>
              <a:t>uygulamanızın</a:t>
            </a:r>
            <a:r>
              <a:rPr lang="en-US" dirty="0"/>
              <a:t> </a:t>
            </a:r>
            <a:r>
              <a:rPr lang="en-US" dirty="0" err="1"/>
              <a:t>ihtiyaçlarına</a:t>
            </a:r>
            <a:r>
              <a:rPr lang="en-US" dirty="0"/>
              <a:t> en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seçmenize</a:t>
            </a:r>
            <a:r>
              <a:rPr lang="en-US" dirty="0"/>
              <a:t> </a:t>
            </a:r>
            <a:r>
              <a:rPr lang="en-US" dirty="0" err="1"/>
              <a:t>olanak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:</a:t>
            </a:r>
          </a:p>
          <a:p>
            <a:r>
              <a:rPr lang="en-US" b="1" dirty="0" err="1"/>
              <a:t>OpenAI</a:t>
            </a:r>
            <a:r>
              <a:rPr lang="en-US" dirty="0"/>
              <a:t> : GPT-4o </a:t>
            </a:r>
            <a:r>
              <a:rPr lang="en-US" dirty="0" err="1"/>
              <a:t>ve</a:t>
            </a:r>
            <a:r>
              <a:rPr lang="en-US" dirty="0"/>
              <a:t> GPT-3.5-Turbo </a:t>
            </a:r>
            <a:r>
              <a:rPr lang="en-US" dirty="0" err="1"/>
              <a:t>gibi</a:t>
            </a:r>
            <a:r>
              <a:rPr lang="en-US" dirty="0"/>
              <a:t> GPT </a:t>
            </a:r>
            <a:r>
              <a:rPr lang="en-US" dirty="0" err="1"/>
              <a:t>modellerine</a:t>
            </a:r>
            <a:r>
              <a:rPr lang="en-US" dirty="0"/>
              <a:t> </a:t>
            </a:r>
            <a:r>
              <a:rPr lang="en-US" dirty="0" err="1"/>
              <a:t>erişim</a:t>
            </a:r>
            <a:endParaRPr lang="en-US" dirty="0"/>
          </a:p>
          <a:p>
            <a:r>
              <a:rPr lang="en-US" b="1" dirty="0" err="1"/>
              <a:t>Antropik</a:t>
            </a:r>
            <a:r>
              <a:rPr lang="en-US" dirty="0"/>
              <a:t> :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Claude </a:t>
            </a:r>
            <a:r>
              <a:rPr lang="en-US" dirty="0" err="1"/>
              <a:t>modelleriyle</a:t>
            </a:r>
            <a:r>
              <a:rPr lang="en-US" dirty="0"/>
              <a:t> </a:t>
            </a:r>
            <a:r>
              <a:rPr lang="en-US" dirty="0" err="1"/>
              <a:t>entegrasyon</a:t>
            </a:r>
            <a:endParaRPr lang="en-US" dirty="0"/>
          </a:p>
          <a:p>
            <a:r>
              <a:rPr lang="en-US" b="1" dirty="0"/>
              <a:t>Azure </a:t>
            </a:r>
            <a:r>
              <a:rPr lang="en-US" b="1" dirty="0" err="1"/>
              <a:t>OpenAI</a:t>
            </a:r>
            <a:r>
              <a:rPr lang="en-US" dirty="0"/>
              <a:t> : </a:t>
            </a:r>
            <a:r>
              <a:rPr lang="en-US" dirty="0" err="1"/>
              <a:t>Microsoft'un</a:t>
            </a:r>
            <a:r>
              <a:rPr lang="en-US" dirty="0"/>
              <a:t> </a:t>
            </a:r>
            <a:r>
              <a:rPr lang="en-US" dirty="0" err="1"/>
              <a:t>kurumsal</a:t>
            </a:r>
            <a:r>
              <a:rPr lang="en-US" dirty="0"/>
              <a:t> </a:t>
            </a:r>
            <a:r>
              <a:rPr lang="en-US" dirty="0" err="1"/>
              <a:t>özelliklere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OpenAI</a:t>
            </a:r>
            <a:r>
              <a:rPr lang="en-US" dirty="0"/>
              <a:t> </a:t>
            </a:r>
            <a:r>
              <a:rPr lang="en-US" dirty="0" err="1"/>
              <a:t>modellerinin</a:t>
            </a:r>
            <a:r>
              <a:rPr lang="en-US" dirty="0"/>
              <a:t> </a:t>
            </a:r>
            <a:r>
              <a:rPr lang="en-US" dirty="0" err="1"/>
              <a:t>yönetilen</a:t>
            </a:r>
            <a:r>
              <a:rPr lang="en-US" dirty="0"/>
              <a:t> </a:t>
            </a:r>
            <a:r>
              <a:rPr lang="en-US" dirty="0" err="1"/>
              <a:t>sürümü</a:t>
            </a:r>
            <a:r>
              <a:rPr lang="en-US" dirty="0"/>
              <a:t>.</a:t>
            </a:r>
          </a:p>
          <a:p>
            <a:r>
              <a:rPr lang="en-US" b="1" dirty="0" err="1"/>
              <a:t>Ollama</a:t>
            </a:r>
            <a:r>
              <a:rPr lang="en-US" dirty="0"/>
              <a:t> : </a:t>
            </a:r>
            <a:r>
              <a:rPr lang="en-US" dirty="0" err="1"/>
              <a:t>Gizlilik</a:t>
            </a:r>
            <a:r>
              <a:rPr lang="en-US" dirty="0"/>
              <a:t> </a:t>
            </a:r>
            <a:r>
              <a:rPr lang="en-US" dirty="0" err="1"/>
              <a:t>hassasiyeti</a:t>
            </a:r>
            <a:r>
              <a:rPr lang="en-US" dirty="0"/>
              <a:t> </a:t>
            </a:r>
            <a:r>
              <a:rPr lang="en-US" dirty="0" err="1"/>
              <a:t>gerektiren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modellerinin</a:t>
            </a:r>
            <a:r>
              <a:rPr lang="en-US" dirty="0"/>
              <a:t> </a:t>
            </a:r>
            <a:r>
              <a:rPr lang="en-US" dirty="0" err="1"/>
              <a:t>yerel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dağıtımı</a:t>
            </a:r>
            <a:endParaRPr lang="en-US" dirty="0"/>
          </a:p>
          <a:p>
            <a:r>
              <a:rPr lang="en-US" b="1" dirty="0" err="1"/>
              <a:t>HuggingFace</a:t>
            </a:r>
            <a:r>
              <a:rPr lang="en-US" dirty="0"/>
              <a:t> :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görevleri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binlerce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kaynaklı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.</a:t>
            </a:r>
          </a:p>
          <a:p>
            <a:r>
              <a:rPr lang="en-US" b="1" dirty="0"/>
              <a:t>AWS Bedrock</a:t>
            </a:r>
            <a:r>
              <a:rPr lang="en-US" dirty="0"/>
              <a:t> : Anthropic, AI21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diğerlerinden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Amazon'un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model </a:t>
            </a:r>
            <a:r>
              <a:rPr lang="en-US" dirty="0" err="1"/>
              <a:t>hizmeti</a:t>
            </a:r>
            <a:r>
              <a:rPr lang="en-US" dirty="0"/>
              <a:t>.</a:t>
            </a:r>
          </a:p>
          <a:p>
            <a:r>
              <a:rPr lang="en-US" b="1" dirty="0"/>
              <a:t>Vertex AI</a:t>
            </a:r>
            <a:r>
              <a:rPr lang="en-US" dirty="0"/>
              <a:t> : Google </a:t>
            </a:r>
            <a:r>
              <a:rPr lang="en-US" dirty="0" err="1"/>
              <a:t>Cloud'un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, </a:t>
            </a:r>
            <a:r>
              <a:rPr lang="en-US" dirty="0" err="1"/>
              <a:t>görüntü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modlu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öğrenimi</a:t>
            </a:r>
            <a:r>
              <a:rPr lang="en-US" dirty="0"/>
              <a:t> </a:t>
            </a:r>
            <a:r>
              <a:rPr lang="en-US" dirty="0" err="1"/>
              <a:t>platformu</a:t>
            </a:r>
            <a:r>
              <a:rPr lang="en-US" dirty="0"/>
              <a:t>.</a:t>
            </a:r>
          </a:p>
          <a:p>
            <a:r>
              <a:rPr lang="en-US" b="1" dirty="0"/>
              <a:t>Cohere</a:t>
            </a:r>
            <a:r>
              <a:rPr lang="en-US" dirty="0"/>
              <a:t> :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anlama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oluşturma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modeller</a:t>
            </a:r>
            <a:endParaRPr lang="en-US" dirty="0"/>
          </a:p>
          <a:p>
            <a:r>
              <a:rPr lang="en-US" b="1" dirty="0" err="1"/>
              <a:t>MistralAI</a:t>
            </a:r>
            <a:r>
              <a:rPr lang="en-US" dirty="0"/>
              <a:t> : </a:t>
            </a:r>
            <a:r>
              <a:rPr lang="en-US" dirty="0" err="1"/>
              <a:t>Verimli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sağlayıcısı</a:t>
            </a:r>
            <a:endParaRPr lang="en-US" dirty="0"/>
          </a:p>
          <a:p>
            <a:r>
              <a:rPr lang="en-US" b="1" dirty="0" err="1"/>
              <a:t>Dahası</a:t>
            </a:r>
            <a:r>
              <a:rPr lang="en-US" dirty="0"/>
              <a:t> : Spring AI, </a:t>
            </a:r>
            <a:r>
              <a:rPr lang="en-US" dirty="0" err="1"/>
              <a:t>ek</a:t>
            </a:r>
            <a:r>
              <a:rPr lang="en-US" dirty="0"/>
              <a:t> </a:t>
            </a:r>
            <a:r>
              <a:rPr lang="en-US" dirty="0" err="1"/>
              <a:t>sağlayıcılar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desteğini</a:t>
            </a:r>
            <a:r>
              <a:rPr lang="en-US" dirty="0"/>
              <a:t> </a:t>
            </a:r>
            <a:r>
              <a:rPr lang="en-US" dirty="0" err="1"/>
              <a:t>genişletmeye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ediyor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92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Spring </a:t>
            </a:r>
            <a:r>
              <a:rPr lang="en-US" dirty="0" err="1"/>
              <a:t>AI'nin</a:t>
            </a:r>
            <a:r>
              <a:rPr lang="en-US" dirty="0"/>
              <a:t> </a:t>
            </a:r>
            <a:r>
              <a:rPr lang="en-US" dirty="0" err="1"/>
              <a:t>güzelliği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sağlayıcılar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minimum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değişikliğiyle</a:t>
            </a:r>
            <a:r>
              <a:rPr lang="en-US" dirty="0"/>
              <a:t> </a:t>
            </a:r>
            <a:r>
              <a:rPr lang="en-US" dirty="0" err="1"/>
              <a:t>geçiş</a:t>
            </a:r>
            <a:r>
              <a:rPr lang="en-US" dirty="0"/>
              <a:t> </a:t>
            </a:r>
            <a:r>
              <a:rPr lang="en-US" dirty="0" err="1"/>
              <a:t>yapabilmenizdir</a:t>
            </a:r>
            <a:r>
              <a:rPr lang="en-US" dirty="0"/>
              <a:t>. </a:t>
            </a:r>
            <a:r>
              <a:rPr lang="en-US" b="1" dirty="0"/>
              <a:t>Bu </a:t>
            </a:r>
            <a:r>
              <a:rPr lang="en-US" b="1" dirty="0" err="1"/>
              <a:t>esneklik</a:t>
            </a:r>
            <a:r>
              <a:rPr lang="en-US" b="1" dirty="0"/>
              <a:t> size </a:t>
            </a:r>
            <a:r>
              <a:rPr lang="en-US" b="1" dirty="0" err="1"/>
              <a:t>şunları</a:t>
            </a:r>
            <a:r>
              <a:rPr lang="en-US" b="1" dirty="0"/>
              <a:t> </a:t>
            </a:r>
            <a:r>
              <a:rPr lang="en-US" b="1" dirty="0" err="1"/>
              <a:t>sağlar</a:t>
            </a:r>
            <a:r>
              <a:rPr lang="en-US" b="1" dirty="0"/>
              <a:t>:</a:t>
            </a:r>
          </a:p>
          <a:p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durumunuz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karşılaştırın</a:t>
            </a:r>
            <a:r>
              <a:rPr lang="en-US" dirty="0"/>
              <a:t>.</a:t>
            </a:r>
          </a:p>
          <a:p>
            <a:r>
              <a:rPr lang="en-US" dirty="0" err="1"/>
              <a:t>Geliştirme</a:t>
            </a:r>
            <a:r>
              <a:rPr lang="en-US" dirty="0"/>
              <a:t> </a:t>
            </a:r>
            <a:r>
              <a:rPr lang="en-US" dirty="0" err="1"/>
              <a:t>aşamasında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maliyetli</a:t>
            </a:r>
            <a:r>
              <a:rPr lang="en-US" dirty="0"/>
              <a:t> </a:t>
            </a:r>
            <a:r>
              <a:rPr lang="en-US" dirty="0" err="1"/>
              <a:t>seçenekleri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edin</a:t>
            </a:r>
            <a:r>
              <a:rPr lang="en-US" dirty="0"/>
              <a:t>.</a:t>
            </a:r>
          </a:p>
          <a:p>
            <a:r>
              <a:rPr lang="en-US" dirty="0" err="1"/>
              <a:t>Sağlayıcıya</a:t>
            </a:r>
            <a:r>
              <a:rPr lang="en-US" dirty="0"/>
              <a:t> </a:t>
            </a:r>
            <a:r>
              <a:rPr lang="en-US" dirty="0" err="1"/>
              <a:t>özgü</a:t>
            </a:r>
            <a:r>
              <a:rPr lang="en-US" dirty="0"/>
              <a:t> </a:t>
            </a:r>
            <a:r>
              <a:rPr lang="en-US" dirty="0" err="1"/>
              <a:t>kesintileri</a:t>
            </a:r>
            <a:r>
              <a:rPr lang="en-US" dirty="0"/>
              <a:t>, </a:t>
            </a:r>
            <a:r>
              <a:rPr lang="en-US" dirty="0" err="1"/>
              <a:t>alternatiflere</a:t>
            </a:r>
            <a:r>
              <a:rPr lang="en-US" dirty="0"/>
              <a:t> </a:t>
            </a:r>
            <a:r>
              <a:rPr lang="en-US" dirty="0" err="1"/>
              <a:t>hızlıca</a:t>
            </a:r>
            <a:r>
              <a:rPr lang="en-US" dirty="0"/>
              <a:t> </a:t>
            </a:r>
            <a:r>
              <a:rPr lang="en-US" dirty="0" err="1"/>
              <a:t>geçerek</a:t>
            </a:r>
            <a:r>
              <a:rPr lang="en-US" dirty="0"/>
              <a:t> </a:t>
            </a:r>
            <a:r>
              <a:rPr lang="en-US" dirty="0" err="1"/>
              <a:t>yönetin</a:t>
            </a:r>
            <a:r>
              <a:rPr lang="en-US" dirty="0"/>
              <a:t>.</a:t>
            </a:r>
          </a:p>
          <a:p>
            <a:r>
              <a:rPr lang="en-US" dirty="0" err="1"/>
              <a:t>İhtiyaçlarınız</a:t>
            </a:r>
            <a:r>
              <a:rPr lang="en-US" dirty="0"/>
              <a:t> </a:t>
            </a:r>
            <a:r>
              <a:rPr lang="en-US" dirty="0" err="1"/>
              <a:t>geliştikçe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sağlayıcılara</a:t>
            </a:r>
            <a:r>
              <a:rPr lang="en-US" dirty="0"/>
              <a:t> </a:t>
            </a:r>
            <a:r>
              <a:rPr lang="en-US" dirty="0" err="1"/>
              <a:t>geçiş</a:t>
            </a:r>
            <a:r>
              <a:rPr lang="en-US" dirty="0"/>
              <a:t> </a:t>
            </a:r>
            <a:r>
              <a:rPr lang="en-US" dirty="0" err="1"/>
              <a:t>yapın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tr-TR" b="1" dirty="0" smtClean="0"/>
              <a:t>T</a:t>
            </a:r>
            <a:r>
              <a:rPr lang="en-US" b="1" dirty="0" err="1"/>
              <a:t>emel</a:t>
            </a:r>
            <a:r>
              <a:rPr lang="en-US" b="1" dirty="0"/>
              <a:t> </a:t>
            </a:r>
            <a:r>
              <a:rPr lang="en-US" b="1" dirty="0" err="1"/>
              <a:t>Soyutlamalar</a:t>
            </a:r>
            <a:endParaRPr lang="en-US" b="1" dirty="0"/>
          </a:p>
          <a:p>
            <a:r>
              <a:rPr lang="en-US" dirty="0"/>
              <a:t>Spring AI,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sağlayıcılarının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ayrıntılarını</a:t>
            </a:r>
            <a:r>
              <a:rPr lang="en-US" dirty="0"/>
              <a:t> </a:t>
            </a:r>
            <a:r>
              <a:rPr lang="en-US" dirty="0" err="1"/>
              <a:t>soyutlayan</a:t>
            </a:r>
            <a:r>
              <a:rPr lang="en-US" dirty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arayüzler</a:t>
            </a:r>
            <a:r>
              <a:rPr lang="en-US" dirty="0"/>
              <a:t> </a:t>
            </a:r>
            <a:r>
              <a:rPr lang="en-US" dirty="0" err="1"/>
              <a:t>sunar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 err="1"/>
              <a:t>ChatClient</a:t>
            </a:r>
            <a:r>
              <a:rPr lang="en-US" dirty="0"/>
              <a:t> : </a:t>
            </a:r>
            <a:r>
              <a:rPr lang="en-US" dirty="0" err="1"/>
              <a:t>Konuşma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zekası</a:t>
            </a:r>
            <a:r>
              <a:rPr lang="en-US" dirty="0"/>
              <a:t> </a:t>
            </a:r>
            <a:r>
              <a:rPr lang="en-US" dirty="0" err="1"/>
              <a:t>yetenekleri</a:t>
            </a:r>
            <a:r>
              <a:rPr lang="en-US" dirty="0"/>
              <a:t>,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dizileri</a:t>
            </a:r>
            <a:r>
              <a:rPr lang="en-US" dirty="0"/>
              <a:t>, roller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akışlı</a:t>
            </a:r>
            <a:r>
              <a:rPr lang="en-US" dirty="0"/>
              <a:t> </a:t>
            </a:r>
            <a:r>
              <a:rPr lang="en-US" dirty="0" err="1"/>
              <a:t>yanıtların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EmbeddingClient</a:t>
            </a:r>
            <a:r>
              <a:rPr lang="en-US" dirty="0"/>
              <a:t> : </a:t>
            </a:r>
            <a:r>
              <a:rPr lang="en-US" dirty="0" err="1"/>
              <a:t>Metni</a:t>
            </a:r>
            <a:r>
              <a:rPr lang="en-US" dirty="0"/>
              <a:t> </a:t>
            </a:r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belge</a:t>
            </a:r>
            <a:r>
              <a:rPr lang="en-US" dirty="0"/>
              <a:t> </a:t>
            </a:r>
            <a:r>
              <a:rPr lang="en-US" dirty="0" err="1"/>
              <a:t>benzerliği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yararlı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gösterimlerine</a:t>
            </a:r>
            <a:r>
              <a:rPr lang="en-US" dirty="0"/>
              <a:t> (</a:t>
            </a:r>
            <a:r>
              <a:rPr lang="en-US" dirty="0" err="1"/>
              <a:t>gömülü</a:t>
            </a:r>
            <a:r>
              <a:rPr lang="en-US" dirty="0"/>
              <a:t> </a:t>
            </a:r>
            <a:r>
              <a:rPr lang="en-US" dirty="0" err="1"/>
              <a:t>vektörlere</a:t>
            </a:r>
            <a:r>
              <a:rPr lang="en-US" dirty="0"/>
              <a:t>) </a:t>
            </a:r>
            <a:r>
              <a:rPr lang="en-US" dirty="0" err="1"/>
              <a:t>dönüştürmek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MultiModalClient</a:t>
            </a:r>
            <a:r>
              <a:rPr lang="en-US" dirty="0"/>
              <a:t> : </a:t>
            </a:r>
            <a:r>
              <a:rPr lang="en-US" dirty="0" err="1"/>
              <a:t>Metni</a:t>
            </a:r>
            <a:r>
              <a:rPr lang="en-US" dirty="0"/>
              <a:t> </a:t>
            </a:r>
            <a:r>
              <a:rPr lang="en-US" dirty="0" err="1"/>
              <a:t>resimler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medya</a:t>
            </a:r>
            <a:r>
              <a:rPr lang="en-US" dirty="0"/>
              <a:t> </a:t>
            </a:r>
            <a:r>
              <a:rPr lang="en-US" dirty="0" err="1"/>
              <a:t>türleriyle</a:t>
            </a:r>
            <a:r>
              <a:rPr lang="en-US" dirty="0"/>
              <a:t> </a:t>
            </a:r>
            <a:r>
              <a:rPr lang="en-US" dirty="0" err="1"/>
              <a:t>birleştiren</a:t>
            </a:r>
            <a:r>
              <a:rPr lang="en-US" dirty="0"/>
              <a:t> </a:t>
            </a:r>
            <a:r>
              <a:rPr lang="en-US" dirty="0" err="1"/>
              <a:t>girdileri</a:t>
            </a:r>
            <a:r>
              <a:rPr lang="en-US" dirty="0"/>
              <a:t> </a:t>
            </a:r>
            <a:r>
              <a:rPr lang="en-US" dirty="0" err="1"/>
              <a:t>işlemek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AudioClient</a:t>
            </a:r>
            <a:r>
              <a:rPr lang="en-US" dirty="0"/>
              <a:t> : </a:t>
            </a:r>
            <a:r>
              <a:rPr lang="en-US" dirty="0" err="1"/>
              <a:t>Konuşma</a:t>
            </a:r>
            <a:r>
              <a:rPr lang="en-US" dirty="0"/>
              <a:t> </a:t>
            </a:r>
            <a:r>
              <a:rPr lang="en-US" dirty="0" err="1"/>
              <a:t>tanıma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transkripsiyonu</a:t>
            </a:r>
            <a:r>
              <a:rPr lang="en-US" dirty="0"/>
              <a:t> </a:t>
            </a:r>
            <a:r>
              <a:rPr lang="en-US" dirty="0" err="1"/>
              <a:t>görevleri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ImageClient</a:t>
            </a:r>
            <a:r>
              <a:rPr lang="en-US" dirty="0"/>
              <a:t> : </a:t>
            </a:r>
            <a:r>
              <a:rPr lang="en-US" dirty="0" err="1"/>
              <a:t>Görüntü</a:t>
            </a:r>
            <a:r>
              <a:rPr lang="en-US" dirty="0"/>
              <a:t> </a:t>
            </a:r>
            <a:r>
              <a:rPr lang="en-US" dirty="0" err="1"/>
              <a:t>oluşturma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yetenekleri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34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 smtClean="0"/>
              <a:t>VectorStore</a:t>
            </a:r>
            <a:r>
              <a:rPr lang="en-US" dirty="0" smtClean="0"/>
              <a:t> : </a:t>
            </a:r>
            <a:r>
              <a:rPr lang="en-US" dirty="0" err="1" smtClean="0"/>
              <a:t>Gömülü</a:t>
            </a:r>
            <a:r>
              <a:rPr lang="en-US" dirty="0" smtClean="0"/>
              <a:t> </a:t>
            </a:r>
            <a:r>
              <a:rPr lang="en-US" dirty="0" err="1" smtClean="0"/>
              <a:t>vektörleri</a:t>
            </a:r>
            <a:r>
              <a:rPr lang="en-US" dirty="0" smtClean="0"/>
              <a:t> </a:t>
            </a:r>
            <a:r>
              <a:rPr lang="en-US" dirty="0" err="1" smtClean="0"/>
              <a:t>depolamak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almak</a:t>
            </a:r>
            <a:r>
              <a:rPr lang="en-US" dirty="0" smtClean="0"/>
              <a:t>, </a:t>
            </a:r>
            <a:r>
              <a:rPr lang="en-US" dirty="0" err="1" smtClean="0"/>
              <a:t>anlamsal</a:t>
            </a:r>
            <a:r>
              <a:rPr lang="en-US" dirty="0" smtClean="0"/>
              <a:t> </a:t>
            </a:r>
            <a:r>
              <a:rPr lang="en-US" dirty="0" err="1" smtClean="0"/>
              <a:t>arama</a:t>
            </a:r>
            <a:r>
              <a:rPr lang="en-US" dirty="0" smtClean="0"/>
              <a:t> </a:t>
            </a:r>
            <a:r>
              <a:rPr lang="en-US" dirty="0" err="1" smtClean="0"/>
              <a:t>işlevini</a:t>
            </a:r>
            <a:r>
              <a:rPr lang="en-US" dirty="0" smtClean="0"/>
              <a:t> </a:t>
            </a:r>
            <a:r>
              <a:rPr lang="en-US" dirty="0" err="1" smtClean="0"/>
              <a:t>etkinleştirmek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kullanılır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PromptTemplate</a:t>
            </a:r>
            <a:r>
              <a:rPr lang="en-US" dirty="0" smtClean="0"/>
              <a:t> : </a:t>
            </a:r>
            <a:r>
              <a:rPr lang="en-US" dirty="0" err="1" smtClean="0"/>
              <a:t>Değişken</a:t>
            </a:r>
            <a:r>
              <a:rPr lang="en-US" dirty="0" smtClean="0"/>
              <a:t> </a:t>
            </a:r>
            <a:r>
              <a:rPr lang="en-US" dirty="0" err="1" smtClean="0"/>
              <a:t>ikamesiyle</a:t>
            </a:r>
            <a:r>
              <a:rPr lang="en-US" dirty="0" smtClean="0"/>
              <a:t> </a:t>
            </a:r>
            <a:r>
              <a:rPr lang="en-US" dirty="0" err="1" smtClean="0"/>
              <a:t>dinamik</a:t>
            </a:r>
            <a:r>
              <a:rPr lang="en-US" dirty="0" smtClean="0"/>
              <a:t> </a:t>
            </a:r>
            <a:r>
              <a:rPr lang="en-US" dirty="0" err="1" smtClean="0"/>
              <a:t>istemler</a:t>
            </a:r>
            <a:r>
              <a:rPr lang="en-US" dirty="0" smtClean="0"/>
              <a:t> </a:t>
            </a:r>
            <a:r>
              <a:rPr lang="en-US" dirty="0" err="1" smtClean="0"/>
              <a:t>oluşturmak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kullanılır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TokenCounter</a:t>
            </a:r>
            <a:r>
              <a:rPr lang="en-US" dirty="0" smtClean="0"/>
              <a:t> : </a:t>
            </a:r>
            <a:r>
              <a:rPr lang="en-US" dirty="0" err="1" smtClean="0"/>
              <a:t>Maliyetleri</a:t>
            </a:r>
            <a:r>
              <a:rPr lang="en-US" dirty="0" smtClean="0"/>
              <a:t> </a:t>
            </a:r>
            <a:r>
              <a:rPr lang="en-US" dirty="0" err="1" smtClean="0"/>
              <a:t>yönetmek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model </a:t>
            </a:r>
            <a:r>
              <a:rPr lang="en-US" dirty="0" err="1" smtClean="0"/>
              <a:t>bağlam</a:t>
            </a:r>
            <a:r>
              <a:rPr lang="en-US" dirty="0" smtClean="0"/>
              <a:t> </a:t>
            </a:r>
            <a:r>
              <a:rPr lang="en-US" dirty="0" err="1" smtClean="0"/>
              <a:t>sınırları</a:t>
            </a:r>
            <a:r>
              <a:rPr lang="en-US" dirty="0" smtClean="0"/>
              <a:t> </a:t>
            </a:r>
            <a:r>
              <a:rPr lang="en-US" dirty="0" err="1" smtClean="0"/>
              <a:t>içinde</a:t>
            </a:r>
            <a:r>
              <a:rPr lang="en-US" dirty="0" smtClean="0"/>
              <a:t> </a:t>
            </a:r>
            <a:r>
              <a:rPr lang="en-US" dirty="0" err="1" smtClean="0"/>
              <a:t>kalmak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token </a:t>
            </a:r>
            <a:r>
              <a:rPr lang="en-US" dirty="0" err="1" smtClean="0"/>
              <a:t>kullanımını</a:t>
            </a:r>
            <a:r>
              <a:rPr lang="en-US" dirty="0" smtClean="0"/>
              <a:t> </a:t>
            </a:r>
            <a:r>
              <a:rPr lang="en-US" dirty="0" err="1" smtClean="0"/>
              <a:t>tahmin</a:t>
            </a:r>
            <a:r>
              <a:rPr lang="en-US" dirty="0" smtClean="0"/>
              <a:t> </a:t>
            </a:r>
            <a:r>
              <a:rPr lang="en-US" dirty="0" err="1" smtClean="0"/>
              <a:t>etmek</a:t>
            </a:r>
            <a:r>
              <a:rPr lang="en-US" dirty="0" smtClean="0"/>
              <a:t> </a:t>
            </a:r>
            <a:r>
              <a:rPr lang="en-US" dirty="0" err="1" smtClean="0"/>
              <a:t>amacıyla</a:t>
            </a:r>
            <a:r>
              <a:rPr lang="en-US" dirty="0" smtClean="0"/>
              <a:t> </a:t>
            </a:r>
            <a:r>
              <a:rPr lang="en-US" dirty="0" err="1" smtClean="0"/>
              <a:t>kullanılır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Fonksiyon</a:t>
            </a:r>
            <a:r>
              <a:rPr lang="en-US" b="1" dirty="0" smtClean="0"/>
              <a:t> </a:t>
            </a:r>
            <a:r>
              <a:rPr lang="en-US" b="1" dirty="0" err="1" smtClean="0"/>
              <a:t>Çağırma</a:t>
            </a:r>
            <a:r>
              <a:rPr lang="en-US" dirty="0" smtClean="0"/>
              <a:t> : </a:t>
            </a:r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modellerinin</a:t>
            </a:r>
            <a:r>
              <a:rPr lang="en-US" dirty="0" smtClean="0"/>
              <a:t> </a:t>
            </a:r>
            <a:r>
              <a:rPr lang="en-US" dirty="0" err="1" smtClean="0"/>
              <a:t>tanımlanmış</a:t>
            </a:r>
            <a:r>
              <a:rPr lang="en-US" dirty="0" smtClean="0"/>
              <a:t> </a:t>
            </a:r>
            <a:r>
              <a:rPr lang="en-US" dirty="0" err="1" smtClean="0"/>
              <a:t>fonksiyonları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araçları</a:t>
            </a:r>
            <a:r>
              <a:rPr lang="en-US" dirty="0" smtClean="0"/>
              <a:t> </a:t>
            </a:r>
            <a:r>
              <a:rPr lang="en-US" dirty="0" err="1" smtClean="0"/>
              <a:t>çağırmasını</a:t>
            </a:r>
            <a:r>
              <a:rPr lang="en-US" dirty="0" smtClean="0"/>
              <a:t> </a:t>
            </a:r>
            <a:r>
              <a:rPr lang="en-US" dirty="0" err="1" smtClean="0"/>
              <a:t>sağlamak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kullanılır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Bu </a:t>
            </a:r>
            <a:r>
              <a:rPr lang="en-US" dirty="0" err="1" smtClean="0"/>
              <a:t>soyutlamaların</a:t>
            </a:r>
            <a:r>
              <a:rPr lang="en-US" dirty="0" smtClean="0"/>
              <a:t> her </a:t>
            </a:r>
            <a:r>
              <a:rPr lang="en-US" dirty="0" err="1" smtClean="0"/>
              <a:t>biri</a:t>
            </a:r>
            <a:r>
              <a:rPr lang="en-US" dirty="0" smtClean="0"/>
              <a:t>, </a:t>
            </a:r>
            <a:r>
              <a:rPr lang="en-US" dirty="0" err="1" smtClean="0"/>
              <a:t>altta</a:t>
            </a:r>
            <a:r>
              <a:rPr lang="en-US" dirty="0" smtClean="0"/>
              <a:t> </a:t>
            </a:r>
            <a:r>
              <a:rPr lang="en-US" dirty="0" err="1" smtClean="0"/>
              <a:t>yatan</a:t>
            </a:r>
            <a:r>
              <a:rPr lang="en-US" dirty="0" smtClean="0"/>
              <a:t> </a:t>
            </a:r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sağlayıcısının</a:t>
            </a:r>
            <a:r>
              <a:rPr lang="en-US" dirty="0" smtClean="0"/>
              <a:t> </a:t>
            </a:r>
            <a:r>
              <a:rPr lang="en-US" dirty="0" err="1" smtClean="0"/>
              <a:t>uygulamasından</a:t>
            </a:r>
            <a:r>
              <a:rPr lang="en-US" dirty="0" smtClean="0"/>
              <a:t> </a:t>
            </a:r>
            <a:r>
              <a:rPr lang="en-US" dirty="0" err="1" smtClean="0"/>
              <a:t>bağımsız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tutarlı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programlama</a:t>
            </a:r>
            <a:r>
              <a:rPr lang="en-US" dirty="0" smtClean="0"/>
              <a:t> </a:t>
            </a:r>
            <a:r>
              <a:rPr lang="en-US" dirty="0" err="1" smtClean="0"/>
              <a:t>modeli</a:t>
            </a:r>
            <a:r>
              <a:rPr lang="en-US" dirty="0" smtClean="0"/>
              <a:t> </a:t>
            </a:r>
            <a:r>
              <a:rPr lang="en-US" dirty="0" err="1" smtClean="0"/>
              <a:t>sunar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en-US" b="1" dirty="0"/>
              <a:t>Spring AI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İçerik</a:t>
            </a:r>
            <a:r>
              <a:rPr lang="en-US" b="1" dirty="0"/>
              <a:t> </a:t>
            </a:r>
            <a:r>
              <a:rPr lang="en-US" b="1" dirty="0" err="1"/>
              <a:t>İşleme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RAG </a:t>
            </a:r>
            <a:r>
              <a:rPr lang="en-US" b="1" dirty="0" err="1"/>
              <a:t>Mimarisi</a:t>
            </a:r>
            <a:endParaRPr lang="en-US" b="1" dirty="0"/>
          </a:p>
          <a:p>
            <a:r>
              <a:rPr lang="en-US" dirty="0"/>
              <a:t>Spring </a:t>
            </a:r>
            <a:r>
              <a:rPr lang="en-US" dirty="0" err="1"/>
              <a:t>AI'nin</a:t>
            </a:r>
            <a:r>
              <a:rPr lang="en-US" dirty="0"/>
              <a:t> en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özelliklerinden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, </a:t>
            </a:r>
            <a:r>
              <a:rPr lang="en-US" b="1" dirty="0" err="1"/>
              <a:t>Veri</a:t>
            </a:r>
            <a:r>
              <a:rPr lang="en-US" b="1" dirty="0"/>
              <a:t> Alma </a:t>
            </a:r>
            <a:r>
              <a:rPr lang="en-US" b="1" dirty="0" err="1"/>
              <a:t>Destekli</a:t>
            </a:r>
            <a:r>
              <a:rPr lang="en-US" b="1" dirty="0"/>
              <a:t> </a:t>
            </a:r>
            <a:r>
              <a:rPr lang="en-US" b="1" dirty="0" err="1"/>
              <a:t>Üretim</a:t>
            </a:r>
            <a:r>
              <a:rPr lang="en-US" b="1" dirty="0"/>
              <a:t> (RAG)</a:t>
            </a:r>
            <a:r>
              <a:rPr lang="en-US" dirty="0"/>
              <a:t> </a:t>
            </a:r>
            <a:r>
              <a:rPr lang="en-US" dirty="0" err="1"/>
              <a:t>mimarilerine</a:t>
            </a:r>
            <a:r>
              <a:rPr lang="en-US" dirty="0"/>
              <a:t> </a:t>
            </a:r>
            <a:r>
              <a:rPr lang="en-US" dirty="0" err="1"/>
              <a:t>verdiği</a:t>
            </a:r>
            <a:r>
              <a:rPr lang="en-US" dirty="0"/>
              <a:t> </a:t>
            </a:r>
            <a:r>
              <a:rPr lang="en-US" dirty="0" err="1"/>
              <a:t>destektir</a:t>
            </a:r>
            <a:r>
              <a:rPr lang="en-US" dirty="0"/>
              <a:t>. </a:t>
            </a:r>
            <a:r>
              <a:rPr lang="en-US" b="1" dirty="0"/>
              <a:t>RAG</a:t>
            </a:r>
            <a:r>
              <a:rPr lang="en-US" dirty="0"/>
              <a:t>,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modellerinin</a:t>
            </a:r>
            <a:r>
              <a:rPr lang="en-US" dirty="0"/>
              <a:t> </a:t>
            </a:r>
            <a:r>
              <a:rPr lang="en-US" dirty="0" err="1"/>
              <a:t>gücünü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kaynaklarınızdan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alma </a:t>
            </a:r>
            <a:r>
              <a:rPr lang="en-US" dirty="0" err="1"/>
              <a:t>yeteneğiyle</a:t>
            </a:r>
            <a:r>
              <a:rPr lang="en-US" dirty="0"/>
              <a:t> </a:t>
            </a:r>
            <a:r>
              <a:rPr lang="en-US" dirty="0" err="1"/>
              <a:t>birleştirir</a:t>
            </a:r>
            <a:r>
              <a:rPr lang="en-US" dirty="0"/>
              <a:t>.</a:t>
            </a:r>
          </a:p>
          <a:p>
            <a:r>
              <a:rPr lang="en-US" dirty="0"/>
              <a:t>Spring </a:t>
            </a:r>
            <a:r>
              <a:rPr lang="en-US" dirty="0" err="1"/>
              <a:t>AI'da</a:t>
            </a:r>
            <a:r>
              <a:rPr lang="en-US" dirty="0"/>
              <a:t> RAG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tipik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işler</a:t>
            </a:r>
            <a:r>
              <a:rPr lang="en-US" dirty="0" smtClean="0"/>
              <a:t>: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Belge</a:t>
            </a:r>
            <a:r>
              <a:rPr lang="en-US" b="1" dirty="0"/>
              <a:t> </a:t>
            </a:r>
            <a:r>
              <a:rPr lang="en-US" b="1" dirty="0" err="1"/>
              <a:t>İşleme</a:t>
            </a:r>
            <a:r>
              <a:rPr lang="en-US" dirty="0"/>
              <a:t> :</a:t>
            </a:r>
          </a:p>
          <a:p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kaynaklardan</a:t>
            </a:r>
            <a:r>
              <a:rPr lang="en-US" dirty="0"/>
              <a:t> (</a:t>
            </a:r>
            <a:r>
              <a:rPr lang="en-US" dirty="0" err="1"/>
              <a:t>PDF'ler</a:t>
            </a:r>
            <a:r>
              <a:rPr lang="en-US" dirty="0"/>
              <a:t>, web </a:t>
            </a:r>
            <a:r>
              <a:rPr lang="en-US" dirty="0" err="1"/>
              <a:t>sayfaları</a:t>
            </a:r>
            <a:r>
              <a:rPr lang="en-US" dirty="0"/>
              <a:t>, </a:t>
            </a:r>
            <a:r>
              <a:rPr lang="en-US" dirty="0" err="1"/>
              <a:t>veritabanları</a:t>
            </a:r>
            <a:r>
              <a:rPr lang="en-US" dirty="0"/>
              <a:t>)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belgeler</a:t>
            </a:r>
            <a:r>
              <a:rPr lang="en-US" dirty="0"/>
              <a:t>, </a:t>
            </a:r>
            <a:r>
              <a:rPr lang="en-US" dirty="0" err="1"/>
              <a:t>belge</a:t>
            </a:r>
            <a:r>
              <a:rPr lang="en-US" dirty="0"/>
              <a:t> </a:t>
            </a:r>
            <a:r>
              <a:rPr lang="en-US" dirty="0" err="1"/>
              <a:t>yükleyiciler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yüklenir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belgeler</a:t>
            </a:r>
            <a:r>
              <a:rPr lang="en-US" dirty="0"/>
              <a:t>, </a:t>
            </a:r>
            <a:r>
              <a:rPr lang="en-US" dirty="0" err="1"/>
              <a:t>belge</a:t>
            </a:r>
            <a:r>
              <a:rPr lang="en-US" dirty="0"/>
              <a:t> </a:t>
            </a:r>
            <a:r>
              <a:rPr lang="en-US" dirty="0" err="1"/>
              <a:t>ayırıcılar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parçalara</a:t>
            </a:r>
            <a:r>
              <a:rPr lang="en-US" dirty="0"/>
              <a:t> </a:t>
            </a:r>
            <a:r>
              <a:rPr lang="en-US" dirty="0" err="1"/>
              <a:t>bölünür</a:t>
            </a:r>
            <a:r>
              <a:rPr lang="en-US" dirty="0"/>
              <a:t>.</a:t>
            </a:r>
          </a:p>
          <a:p>
            <a:r>
              <a:rPr lang="en-US" dirty="0"/>
              <a:t>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bloğu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gömme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</a:t>
            </a:r>
            <a:r>
              <a:rPr lang="en-US" dirty="0" err="1"/>
              <a:t>gömme</a:t>
            </a:r>
            <a:r>
              <a:rPr lang="en-US" dirty="0"/>
              <a:t> </a:t>
            </a:r>
            <a:r>
              <a:rPr lang="en-US" dirty="0" err="1"/>
              <a:t>vektörlerine</a:t>
            </a:r>
            <a:r>
              <a:rPr lang="en-US" dirty="0"/>
              <a:t> (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temsillerine</a:t>
            </a:r>
            <a:r>
              <a:rPr lang="en-US" dirty="0"/>
              <a:t>) </a:t>
            </a:r>
            <a:r>
              <a:rPr lang="en-US" dirty="0" err="1"/>
              <a:t>dönüştürülür</a:t>
            </a:r>
            <a:r>
              <a:rPr lang="en-US" dirty="0"/>
              <a:t>.</a:t>
            </a:r>
          </a:p>
          <a:p>
            <a:r>
              <a:rPr lang="en-US" dirty="0" err="1"/>
              <a:t>Gömülü</a:t>
            </a:r>
            <a:r>
              <a:rPr lang="en-US" dirty="0"/>
              <a:t> </a:t>
            </a:r>
            <a:r>
              <a:rPr lang="en-US" dirty="0" err="1"/>
              <a:t>vektörler</a:t>
            </a:r>
            <a:r>
              <a:rPr lang="en-US" dirty="0"/>
              <a:t>, meta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orijinal</a:t>
            </a:r>
            <a:r>
              <a:rPr lang="en-US" dirty="0"/>
              <a:t> </a:t>
            </a:r>
            <a:r>
              <a:rPr lang="en-US" dirty="0" err="1"/>
              <a:t>metinle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veritabanında</a:t>
            </a:r>
            <a:r>
              <a:rPr lang="en-US" dirty="0"/>
              <a:t> </a:t>
            </a:r>
            <a:r>
              <a:rPr lang="en-US" dirty="0" err="1"/>
              <a:t>saklanır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232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Sorgu</a:t>
            </a:r>
            <a:r>
              <a:rPr lang="en-US" b="1" dirty="0"/>
              <a:t> </a:t>
            </a:r>
            <a:r>
              <a:rPr lang="en-US" b="1" dirty="0" err="1"/>
              <a:t>İşleme</a:t>
            </a:r>
            <a:r>
              <a:rPr lang="en-US" dirty="0"/>
              <a:t> :</a:t>
            </a:r>
          </a:p>
          <a:p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</a:t>
            </a:r>
            <a:r>
              <a:rPr lang="en-US" dirty="0"/>
              <a:t> </a:t>
            </a:r>
            <a:r>
              <a:rPr lang="en-US" dirty="0" err="1"/>
              <a:t>sorduğunda</a:t>
            </a:r>
            <a:r>
              <a:rPr lang="en-US" dirty="0"/>
              <a:t>, </a:t>
            </a:r>
            <a:r>
              <a:rPr lang="en-US" dirty="0" err="1"/>
              <a:t>sorgusu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gömme</a:t>
            </a:r>
            <a:r>
              <a:rPr lang="en-US" dirty="0"/>
              <a:t> </a:t>
            </a:r>
            <a:r>
              <a:rPr lang="en-US" dirty="0" err="1"/>
              <a:t>verisine</a:t>
            </a:r>
            <a:r>
              <a:rPr lang="en-US" dirty="0"/>
              <a:t> </a:t>
            </a:r>
            <a:r>
              <a:rPr lang="en-US" dirty="0" err="1"/>
              <a:t>dönüştürülür</a:t>
            </a:r>
            <a:r>
              <a:rPr lang="en-US" dirty="0"/>
              <a:t>.</a:t>
            </a:r>
          </a:p>
          <a:p>
            <a:r>
              <a:rPr lang="en-US" dirty="0" err="1"/>
              <a:t>Benzerlik</a:t>
            </a:r>
            <a:r>
              <a:rPr lang="en-US" dirty="0"/>
              <a:t> </a:t>
            </a:r>
            <a:r>
              <a:rPr lang="en-US" dirty="0" err="1"/>
              <a:t>araması</a:t>
            </a:r>
            <a:r>
              <a:rPr lang="en-US" dirty="0"/>
              <a:t>,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deposundaki</a:t>
            </a:r>
            <a:r>
              <a:rPr lang="en-US" dirty="0"/>
              <a:t> en </a:t>
            </a:r>
            <a:r>
              <a:rPr lang="en-US" dirty="0" err="1"/>
              <a:t>alakalı</a:t>
            </a:r>
            <a:r>
              <a:rPr lang="en-US" dirty="0"/>
              <a:t> </a:t>
            </a:r>
            <a:r>
              <a:rPr lang="en-US" dirty="0" err="1"/>
              <a:t>belge</a:t>
            </a:r>
            <a:r>
              <a:rPr lang="en-US" dirty="0"/>
              <a:t> </a:t>
            </a:r>
            <a:r>
              <a:rPr lang="en-US" dirty="0" err="1"/>
              <a:t>parçalarını</a:t>
            </a:r>
            <a:r>
              <a:rPr lang="en-US" dirty="0"/>
              <a:t> </a:t>
            </a:r>
            <a:r>
              <a:rPr lang="en-US" dirty="0" err="1"/>
              <a:t>bulur</a:t>
            </a:r>
            <a:r>
              <a:rPr lang="en-US" dirty="0"/>
              <a:t>.</a:t>
            </a:r>
          </a:p>
          <a:p>
            <a:r>
              <a:rPr lang="en-US" dirty="0" err="1"/>
              <a:t>İlgili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bölümler</a:t>
            </a:r>
            <a:r>
              <a:rPr lang="en-US" dirty="0"/>
              <a:t> </a:t>
            </a:r>
            <a:r>
              <a:rPr lang="en-US" dirty="0" err="1"/>
              <a:t>alınır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orijinal</a:t>
            </a:r>
            <a:r>
              <a:rPr lang="en-US" dirty="0"/>
              <a:t> </a:t>
            </a:r>
            <a:r>
              <a:rPr lang="en-US" dirty="0" err="1"/>
              <a:t>sorguyla</a:t>
            </a:r>
            <a:r>
              <a:rPr lang="en-US" dirty="0"/>
              <a:t> </a:t>
            </a:r>
            <a:r>
              <a:rPr lang="en-US" dirty="0" err="1"/>
              <a:t>birleştirilir</a:t>
            </a:r>
            <a:r>
              <a:rPr lang="en-US" dirty="0"/>
              <a:t>.</a:t>
            </a:r>
          </a:p>
          <a:p>
            <a:r>
              <a:rPr lang="en-US" dirty="0" err="1"/>
              <a:t>Birleştirilmiş</a:t>
            </a:r>
            <a:r>
              <a:rPr lang="en-US" dirty="0"/>
              <a:t> </a:t>
            </a:r>
            <a:r>
              <a:rPr lang="en-US" dirty="0" err="1"/>
              <a:t>bilgiler</a:t>
            </a:r>
            <a:r>
              <a:rPr lang="en-US" dirty="0"/>
              <a:t> </a:t>
            </a:r>
            <a:r>
              <a:rPr lang="en-US" b="1" dirty="0" err="1"/>
              <a:t>LLM'ye</a:t>
            </a:r>
            <a:r>
              <a:rPr lang="en-US" dirty="0"/>
              <a:t> </a:t>
            </a:r>
            <a:r>
              <a:rPr lang="en-US" dirty="0" err="1"/>
              <a:t>gönderilir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LLM</a:t>
            </a:r>
            <a:r>
              <a:rPr lang="en-US" dirty="0"/>
              <a:t>, hem </a:t>
            </a:r>
            <a:r>
              <a:rPr lang="en-US" dirty="0" err="1"/>
              <a:t>sorguya</a:t>
            </a:r>
            <a:r>
              <a:rPr lang="en-US" dirty="0"/>
              <a:t> hem de </a:t>
            </a:r>
            <a:r>
              <a:rPr lang="en-US" dirty="0" err="1"/>
              <a:t>alınan</a:t>
            </a:r>
            <a:r>
              <a:rPr lang="en-US" dirty="0"/>
              <a:t> </a:t>
            </a:r>
            <a:r>
              <a:rPr lang="en-US" dirty="0" err="1"/>
              <a:t>bilgilere</a:t>
            </a:r>
            <a:r>
              <a:rPr lang="en-US" dirty="0"/>
              <a:t> </a:t>
            </a:r>
            <a:r>
              <a:rPr lang="en-US" dirty="0" err="1"/>
              <a:t>dayanarak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yanıt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</a:t>
            </a:r>
          </a:p>
          <a:p>
            <a:r>
              <a:rPr lang="en-US" b="1" dirty="0"/>
              <a:t>RAG</a:t>
            </a:r>
            <a:r>
              <a:rPr lang="en-US" dirty="0"/>
              <a:t>,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kısıtlamaları</a:t>
            </a:r>
            <a:r>
              <a:rPr lang="en-US" dirty="0"/>
              <a:t>, </a:t>
            </a:r>
            <a:r>
              <a:rPr lang="en-US" dirty="0" err="1"/>
              <a:t>yanılsamalar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verilere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eksikliği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LLM'lerin</a:t>
            </a:r>
            <a:r>
              <a:rPr lang="en-US" dirty="0"/>
              <a:t> </a:t>
            </a:r>
            <a:r>
              <a:rPr lang="en-US" dirty="0" err="1"/>
              <a:t>sınırlamalarının</a:t>
            </a:r>
            <a:r>
              <a:rPr lang="en-US" dirty="0"/>
              <a:t> </a:t>
            </a:r>
            <a:r>
              <a:rPr lang="en-US" dirty="0" err="1"/>
              <a:t>üstesinden</a:t>
            </a:r>
            <a:r>
              <a:rPr lang="en-US" dirty="0"/>
              <a:t> </a:t>
            </a:r>
            <a:r>
              <a:rPr lang="en-US" dirty="0" err="1"/>
              <a:t>gelmeye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Spring </a:t>
            </a:r>
            <a:r>
              <a:rPr lang="en-US" dirty="0" err="1"/>
              <a:t>AI'nin</a:t>
            </a:r>
            <a:r>
              <a:rPr lang="en-US" dirty="0"/>
              <a:t> </a:t>
            </a:r>
            <a:r>
              <a:rPr lang="en-US" dirty="0" err="1"/>
              <a:t>soyutlamaları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, </a:t>
            </a:r>
            <a:r>
              <a:rPr lang="en-US" b="1" dirty="0" err="1"/>
              <a:t>EmbeddingClient</a:t>
            </a:r>
            <a:r>
              <a:rPr lang="en-US" dirty="0"/>
              <a:t>, </a:t>
            </a:r>
            <a:r>
              <a:rPr lang="en-US" b="1" dirty="0" err="1"/>
              <a:t>VectorStore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ChatClient</a:t>
            </a:r>
            <a:r>
              <a:rPr lang="en-US" dirty="0"/>
              <a:t> </a:t>
            </a:r>
            <a:r>
              <a:rPr lang="en-US" dirty="0" err="1"/>
              <a:t>bileşenlerini</a:t>
            </a:r>
            <a:r>
              <a:rPr lang="en-US" dirty="0"/>
              <a:t> </a:t>
            </a:r>
            <a:r>
              <a:rPr lang="en-US" dirty="0" err="1"/>
              <a:t>birleştirerek</a:t>
            </a:r>
            <a:r>
              <a:rPr lang="en-US" dirty="0"/>
              <a:t> </a:t>
            </a:r>
            <a:r>
              <a:rPr lang="en-US" b="1" dirty="0" err="1"/>
              <a:t>RAG'ı</a:t>
            </a:r>
            <a:r>
              <a:rPr lang="en-US" dirty="0"/>
              <a:t> </a:t>
            </a:r>
            <a:r>
              <a:rPr lang="en-US" dirty="0" err="1"/>
              <a:t>uygulamak</a:t>
            </a:r>
            <a:r>
              <a:rPr lang="en-US" dirty="0"/>
              <a:t> </a:t>
            </a:r>
            <a:r>
              <a:rPr lang="en-US" dirty="0" err="1"/>
              <a:t>kolaylaşır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b="1" dirty="0" err="1"/>
              <a:t>Vektör</a:t>
            </a:r>
            <a:r>
              <a:rPr lang="en-US" b="1" dirty="0"/>
              <a:t> </a:t>
            </a:r>
            <a:r>
              <a:rPr lang="en-US" b="1" dirty="0" err="1"/>
              <a:t>Mağazaları</a:t>
            </a:r>
            <a:endParaRPr lang="en-US" b="1" dirty="0"/>
          </a:p>
          <a:p>
            <a:r>
              <a:rPr lang="en-US" dirty="0"/>
              <a:t>RAG </a:t>
            </a:r>
            <a:r>
              <a:rPr lang="en-US" dirty="0" err="1"/>
              <a:t>sistemlerinin</a:t>
            </a:r>
            <a:r>
              <a:rPr lang="en-US" dirty="0"/>
              <a:t> </a:t>
            </a:r>
            <a:r>
              <a:rPr lang="en-US" dirty="0" err="1"/>
              <a:t>kritik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bileşeni</a:t>
            </a:r>
            <a:r>
              <a:rPr lang="en-US" dirty="0"/>
              <a:t>, </a:t>
            </a:r>
            <a:r>
              <a:rPr lang="en-US" dirty="0" err="1"/>
              <a:t>verimli</a:t>
            </a:r>
            <a:r>
              <a:rPr lang="en-US" dirty="0"/>
              <a:t> </a:t>
            </a:r>
            <a:r>
              <a:rPr lang="en-US" dirty="0" err="1"/>
              <a:t>benzerlik</a:t>
            </a:r>
            <a:r>
              <a:rPr lang="en-US" dirty="0"/>
              <a:t> </a:t>
            </a:r>
            <a:r>
              <a:rPr lang="en-US" dirty="0" err="1"/>
              <a:t>aramasına</a:t>
            </a:r>
            <a:r>
              <a:rPr lang="en-US" dirty="0"/>
              <a:t> </a:t>
            </a:r>
            <a:r>
              <a:rPr lang="en-US" dirty="0" err="1"/>
              <a:t>olanak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deposudur</a:t>
            </a:r>
            <a:r>
              <a:rPr lang="en-US" dirty="0"/>
              <a:t>. Spring AI,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deposu</a:t>
            </a:r>
            <a:r>
              <a:rPr lang="en-US" dirty="0"/>
              <a:t> </a:t>
            </a:r>
            <a:r>
              <a:rPr lang="en-US" dirty="0" err="1"/>
              <a:t>uygulamasını</a:t>
            </a:r>
            <a:r>
              <a:rPr lang="en-US" dirty="0"/>
              <a:t> </a:t>
            </a:r>
            <a:r>
              <a:rPr lang="en-US" dirty="0" err="1"/>
              <a:t>destekler</a:t>
            </a:r>
            <a:r>
              <a:rPr lang="en-US" dirty="0"/>
              <a:t>:</a:t>
            </a:r>
          </a:p>
          <a:p>
            <a:r>
              <a:rPr lang="en-US" b="1" dirty="0" err="1"/>
              <a:t>PostgreSQL</a:t>
            </a:r>
            <a:r>
              <a:rPr lang="en-US" dirty="0"/>
              <a:t> : </a:t>
            </a:r>
            <a:r>
              <a:rPr lang="en-US" dirty="0" err="1"/>
              <a:t>PostgreSQL</a:t>
            </a:r>
            <a:r>
              <a:rPr lang="en-US" dirty="0"/>
              <a:t> </a:t>
            </a:r>
            <a:r>
              <a:rPr lang="en-US" dirty="0" err="1"/>
              <a:t>veritabanlarına</a:t>
            </a:r>
            <a:r>
              <a:rPr lang="en-US" dirty="0"/>
              <a:t> </a:t>
            </a:r>
            <a:r>
              <a:rPr lang="en-US" dirty="0" err="1"/>
              <a:t>gömme</a:t>
            </a:r>
            <a:r>
              <a:rPr lang="en-US" dirty="0"/>
              <a:t> </a:t>
            </a:r>
            <a:r>
              <a:rPr lang="en-US" dirty="0" err="1"/>
              <a:t>depolama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pgvector</a:t>
            </a:r>
            <a:r>
              <a:rPr lang="en-US" dirty="0"/>
              <a:t> </a:t>
            </a:r>
            <a:r>
              <a:rPr lang="en-US" dirty="0" err="1"/>
              <a:t>eklentisinin</a:t>
            </a:r>
            <a:r>
              <a:rPr lang="en-US" dirty="0"/>
              <a:t> </a:t>
            </a:r>
            <a:r>
              <a:rPr lang="en-US" dirty="0" err="1"/>
              <a:t>kullanımı</a:t>
            </a:r>
            <a:endParaRPr lang="en-US" dirty="0"/>
          </a:p>
          <a:p>
            <a:r>
              <a:rPr lang="en-US" b="1" dirty="0"/>
              <a:t>Chroma</a:t>
            </a:r>
            <a:r>
              <a:rPr lang="en-US" dirty="0"/>
              <a:t> :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tasarlanmış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kaynaklı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gömme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35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Pinecone</a:t>
            </a:r>
            <a:r>
              <a:rPr lang="en-US" dirty="0" smtClean="0"/>
              <a:t> : </a:t>
            </a:r>
            <a:r>
              <a:rPr lang="en-US" dirty="0" err="1" smtClean="0"/>
              <a:t>Makine</a:t>
            </a:r>
            <a:r>
              <a:rPr lang="en-US" dirty="0" smtClean="0"/>
              <a:t> </a:t>
            </a:r>
            <a:r>
              <a:rPr lang="en-US" dirty="0" err="1" smtClean="0"/>
              <a:t>öğrenimi</a:t>
            </a:r>
            <a:r>
              <a:rPr lang="en-US" dirty="0" smtClean="0"/>
              <a:t> </a:t>
            </a:r>
            <a:r>
              <a:rPr lang="en-US" dirty="0" err="1" smtClean="0"/>
              <a:t>uygulamaları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geliştirilmiş</a:t>
            </a:r>
            <a:r>
              <a:rPr lang="en-US" dirty="0" smtClean="0"/>
              <a:t>, </a:t>
            </a:r>
            <a:r>
              <a:rPr lang="en-US" dirty="0" err="1" smtClean="0"/>
              <a:t>tamamen</a:t>
            </a:r>
            <a:r>
              <a:rPr lang="en-US" dirty="0" smtClean="0"/>
              <a:t> </a:t>
            </a:r>
            <a:r>
              <a:rPr lang="en-US" dirty="0" err="1" smtClean="0"/>
              <a:t>yönetilen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vektör</a:t>
            </a:r>
            <a:r>
              <a:rPr lang="en-US" dirty="0" smtClean="0"/>
              <a:t> </a:t>
            </a:r>
            <a:r>
              <a:rPr lang="en-US" dirty="0" err="1" smtClean="0"/>
              <a:t>veritabanı</a:t>
            </a:r>
            <a:r>
              <a:rPr lang="en-US" dirty="0" smtClean="0"/>
              <a:t> </a:t>
            </a:r>
            <a:r>
              <a:rPr lang="en-US" dirty="0" err="1" smtClean="0"/>
              <a:t>hizmeti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Milvus</a:t>
            </a:r>
            <a:r>
              <a:rPr lang="en-US" dirty="0" smtClean="0"/>
              <a:t> : </a:t>
            </a:r>
            <a:r>
              <a:rPr lang="en-US" dirty="0" err="1" smtClean="0"/>
              <a:t>Benzerlik</a:t>
            </a:r>
            <a:r>
              <a:rPr lang="en-US" dirty="0" smtClean="0"/>
              <a:t> </a:t>
            </a:r>
            <a:r>
              <a:rPr lang="en-US" dirty="0" err="1" smtClean="0"/>
              <a:t>araması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uygulamaları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açık</a:t>
            </a:r>
            <a:r>
              <a:rPr lang="en-US" dirty="0" smtClean="0"/>
              <a:t> </a:t>
            </a:r>
            <a:r>
              <a:rPr lang="en-US" dirty="0" err="1" smtClean="0"/>
              <a:t>kaynaklı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vektör</a:t>
            </a:r>
            <a:r>
              <a:rPr lang="en-US" dirty="0" smtClean="0"/>
              <a:t> </a:t>
            </a:r>
            <a:r>
              <a:rPr lang="en-US" dirty="0" err="1" smtClean="0"/>
              <a:t>veritabanı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Neo4j</a:t>
            </a:r>
            <a:r>
              <a:rPr lang="en-US" dirty="0" smtClean="0"/>
              <a:t> : </a:t>
            </a:r>
            <a:r>
              <a:rPr lang="en-US" dirty="0" err="1" smtClean="0"/>
              <a:t>Bağlantılı</a:t>
            </a:r>
            <a:r>
              <a:rPr lang="en-US" dirty="0" smtClean="0"/>
              <a:t> </a:t>
            </a:r>
            <a:r>
              <a:rPr lang="en-US" dirty="0" err="1" smtClean="0"/>
              <a:t>veriler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kullanışlı</a:t>
            </a:r>
            <a:r>
              <a:rPr lang="en-US" dirty="0" smtClean="0"/>
              <a:t>, </a:t>
            </a:r>
            <a:r>
              <a:rPr lang="en-US" dirty="0" err="1" smtClean="0"/>
              <a:t>vektör</a:t>
            </a:r>
            <a:r>
              <a:rPr lang="en-US" dirty="0" smtClean="0"/>
              <a:t> </a:t>
            </a:r>
            <a:r>
              <a:rPr lang="en-US" dirty="0" err="1" smtClean="0"/>
              <a:t>arama</a:t>
            </a:r>
            <a:r>
              <a:rPr lang="en-US" dirty="0" smtClean="0"/>
              <a:t> </a:t>
            </a:r>
            <a:r>
              <a:rPr lang="en-US" dirty="0" err="1" smtClean="0"/>
              <a:t>özelliklerine</a:t>
            </a:r>
            <a:r>
              <a:rPr lang="en-US" dirty="0" smtClean="0"/>
              <a:t> </a:t>
            </a:r>
            <a:r>
              <a:rPr lang="en-US" dirty="0" err="1" smtClean="0"/>
              <a:t>sahip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 </a:t>
            </a:r>
            <a:r>
              <a:rPr lang="en-US" dirty="0" err="1" smtClean="0"/>
              <a:t>veritabanı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Redis</a:t>
            </a:r>
            <a:r>
              <a:rPr lang="en-US" dirty="0" smtClean="0"/>
              <a:t> : </a:t>
            </a:r>
            <a:r>
              <a:rPr lang="en-US" dirty="0" err="1" smtClean="0"/>
              <a:t>RediSearch</a:t>
            </a:r>
            <a:r>
              <a:rPr lang="en-US" dirty="0" smtClean="0"/>
              <a:t> </a:t>
            </a:r>
            <a:r>
              <a:rPr lang="en-US" dirty="0" err="1" smtClean="0"/>
              <a:t>modülü</a:t>
            </a:r>
            <a:r>
              <a:rPr lang="en-US" dirty="0" smtClean="0"/>
              <a:t> </a:t>
            </a:r>
            <a:r>
              <a:rPr lang="en-US" dirty="0" err="1" smtClean="0"/>
              <a:t>aracılığıyla</a:t>
            </a:r>
            <a:r>
              <a:rPr lang="en-US" dirty="0" smtClean="0"/>
              <a:t> </a:t>
            </a:r>
            <a:r>
              <a:rPr lang="en-US" dirty="0" err="1" smtClean="0"/>
              <a:t>vektör</a:t>
            </a:r>
            <a:r>
              <a:rPr lang="en-US" dirty="0" smtClean="0"/>
              <a:t> </a:t>
            </a:r>
            <a:r>
              <a:rPr lang="en-US" dirty="0" err="1" smtClean="0"/>
              <a:t>arama</a:t>
            </a:r>
            <a:r>
              <a:rPr lang="en-US" dirty="0" smtClean="0"/>
              <a:t> </a:t>
            </a:r>
            <a:r>
              <a:rPr lang="en-US" dirty="0" err="1" smtClean="0"/>
              <a:t>özelliğine</a:t>
            </a:r>
            <a:r>
              <a:rPr lang="en-US" dirty="0" smtClean="0"/>
              <a:t> </a:t>
            </a:r>
            <a:r>
              <a:rPr lang="en-US" dirty="0" err="1" smtClean="0"/>
              <a:t>sahip</a:t>
            </a:r>
            <a:r>
              <a:rPr lang="en-US" dirty="0" smtClean="0"/>
              <a:t> </a:t>
            </a:r>
            <a:r>
              <a:rPr lang="en-US" dirty="0" err="1" smtClean="0"/>
              <a:t>bellek</a:t>
            </a:r>
            <a:r>
              <a:rPr lang="en-US" dirty="0" smtClean="0"/>
              <a:t> </a:t>
            </a:r>
            <a:r>
              <a:rPr lang="en-US" dirty="0" err="1" smtClean="0"/>
              <a:t>içi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deposu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Weaviate</a:t>
            </a:r>
            <a:r>
              <a:rPr lang="en-US" dirty="0" smtClean="0"/>
              <a:t> : </a:t>
            </a:r>
            <a:r>
              <a:rPr lang="en-US" dirty="0" err="1" smtClean="0"/>
              <a:t>Çok</a:t>
            </a:r>
            <a:r>
              <a:rPr lang="en-US" dirty="0" smtClean="0"/>
              <a:t> </a:t>
            </a:r>
            <a:r>
              <a:rPr lang="en-US" dirty="0" err="1" smtClean="0"/>
              <a:t>modlu</a:t>
            </a:r>
            <a:r>
              <a:rPr lang="en-US" dirty="0" smtClean="0"/>
              <a:t> </a:t>
            </a:r>
            <a:r>
              <a:rPr lang="en-US" dirty="0" err="1" smtClean="0"/>
              <a:t>özelliklere</a:t>
            </a:r>
            <a:r>
              <a:rPr lang="en-US" dirty="0" smtClean="0"/>
              <a:t> </a:t>
            </a:r>
            <a:r>
              <a:rPr lang="en-US" dirty="0" err="1" smtClean="0"/>
              <a:t>sahip</a:t>
            </a:r>
            <a:r>
              <a:rPr lang="en-US" dirty="0" smtClean="0"/>
              <a:t> </a:t>
            </a:r>
            <a:r>
              <a:rPr lang="en-US" dirty="0" err="1" smtClean="0"/>
              <a:t>açık</a:t>
            </a:r>
            <a:r>
              <a:rPr lang="en-US" dirty="0" smtClean="0"/>
              <a:t> </a:t>
            </a:r>
            <a:r>
              <a:rPr lang="en-US" dirty="0" err="1" smtClean="0"/>
              <a:t>kaynaklı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vektör</a:t>
            </a:r>
            <a:r>
              <a:rPr lang="en-US" dirty="0" smtClean="0"/>
              <a:t> </a:t>
            </a:r>
            <a:r>
              <a:rPr lang="en-US" dirty="0" err="1" smtClean="0"/>
              <a:t>arama</a:t>
            </a:r>
            <a:r>
              <a:rPr lang="en-US" dirty="0" smtClean="0"/>
              <a:t> </a:t>
            </a:r>
            <a:r>
              <a:rPr lang="en-US" dirty="0" err="1" smtClean="0"/>
              <a:t>motoru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Qdrant</a:t>
            </a:r>
            <a:r>
              <a:rPr lang="en-US" dirty="0" smtClean="0"/>
              <a:t> : </a:t>
            </a:r>
            <a:r>
              <a:rPr lang="en-US" dirty="0" err="1" smtClean="0"/>
              <a:t>Yüksek</a:t>
            </a:r>
            <a:r>
              <a:rPr lang="en-US" dirty="0" smtClean="0"/>
              <a:t> </a:t>
            </a:r>
            <a:r>
              <a:rPr lang="en-US" dirty="0" err="1" smtClean="0"/>
              <a:t>performanslı</a:t>
            </a:r>
            <a:r>
              <a:rPr lang="en-US" dirty="0" smtClean="0"/>
              <a:t> </a:t>
            </a:r>
            <a:r>
              <a:rPr lang="en-US" dirty="0" err="1" smtClean="0"/>
              <a:t>üretim</a:t>
            </a:r>
            <a:r>
              <a:rPr lang="en-US" dirty="0" smtClean="0"/>
              <a:t> </a:t>
            </a:r>
            <a:r>
              <a:rPr lang="en-US" dirty="0" err="1" smtClean="0"/>
              <a:t>kullanımına</a:t>
            </a:r>
            <a:r>
              <a:rPr lang="en-US" dirty="0" smtClean="0"/>
              <a:t> </a:t>
            </a:r>
            <a:r>
              <a:rPr lang="en-US" dirty="0" err="1" smtClean="0"/>
              <a:t>odaklanmış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vektör</a:t>
            </a:r>
            <a:r>
              <a:rPr lang="en-US" dirty="0" smtClean="0"/>
              <a:t> </a:t>
            </a:r>
            <a:r>
              <a:rPr lang="en-US" dirty="0" err="1" smtClean="0"/>
              <a:t>benzerliği</a:t>
            </a:r>
            <a:r>
              <a:rPr lang="en-US" dirty="0" smtClean="0"/>
              <a:t> </a:t>
            </a:r>
            <a:r>
              <a:rPr lang="en-US" dirty="0" err="1" smtClean="0"/>
              <a:t>arama</a:t>
            </a:r>
            <a:r>
              <a:rPr lang="en-US" dirty="0" smtClean="0"/>
              <a:t> </a:t>
            </a:r>
            <a:r>
              <a:rPr lang="en-US" dirty="0" err="1" smtClean="0"/>
              <a:t>motoru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Basit</a:t>
            </a:r>
            <a:r>
              <a:rPr lang="en-US" b="1" dirty="0" smtClean="0"/>
              <a:t> (</a:t>
            </a:r>
            <a:r>
              <a:rPr lang="en-US" b="1" dirty="0" err="1" smtClean="0"/>
              <a:t>Bellek</a:t>
            </a:r>
            <a:r>
              <a:rPr lang="en-US" b="1" dirty="0" smtClean="0"/>
              <a:t> </a:t>
            </a:r>
            <a:r>
              <a:rPr lang="en-US" b="1" dirty="0" err="1" smtClean="0"/>
              <a:t>İçi</a:t>
            </a:r>
            <a:r>
              <a:rPr lang="en-US" b="1" dirty="0" smtClean="0"/>
              <a:t>)</a:t>
            </a:r>
            <a:r>
              <a:rPr lang="en-US" dirty="0" smtClean="0"/>
              <a:t> : Test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geliştirme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temel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bellek</a:t>
            </a:r>
            <a:r>
              <a:rPr lang="en-US" dirty="0" smtClean="0"/>
              <a:t> </a:t>
            </a:r>
            <a:r>
              <a:rPr lang="en-US" dirty="0" err="1" smtClean="0"/>
              <a:t>içi</a:t>
            </a:r>
            <a:r>
              <a:rPr lang="en-US" dirty="0" smtClean="0"/>
              <a:t> </a:t>
            </a:r>
            <a:r>
              <a:rPr lang="en-US" dirty="0" err="1" smtClean="0"/>
              <a:t>uygulama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/>
              <a:t>Spring </a:t>
            </a:r>
            <a:r>
              <a:rPr lang="en-US" dirty="0" err="1"/>
              <a:t>AI'deki</a:t>
            </a:r>
            <a:r>
              <a:rPr lang="en-US" dirty="0"/>
              <a:t> </a:t>
            </a:r>
            <a:r>
              <a:rPr lang="en-US" dirty="0" err="1"/>
              <a:t>VectorStore</a:t>
            </a:r>
            <a:r>
              <a:rPr lang="en-US" dirty="0"/>
              <a:t> </a:t>
            </a:r>
            <a:r>
              <a:rPr lang="en-US" dirty="0" err="1"/>
              <a:t>soyutlaması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genelinde</a:t>
            </a:r>
            <a:r>
              <a:rPr lang="en-US" dirty="0"/>
              <a:t> </a:t>
            </a:r>
            <a:r>
              <a:rPr lang="en-US" dirty="0" err="1"/>
              <a:t>gömülü</a:t>
            </a:r>
            <a:r>
              <a:rPr lang="en-US" dirty="0"/>
              <a:t> </a:t>
            </a:r>
            <a:r>
              <a:rPr lang="en-US" dirty="0" err="1"/>
              <a:t>vektörleri</a:t>
            </a:r>
            <a:r>
              <a:rPr lang="en-US" dirty="0"/>
              <a:t> </a:t>
            </a:r>
            <a:r>
              <a:rPr lang="en-US" dirty="0" err="1"/>
              <a:t>depolama</a:t>
            </a:r>
            <a:r>
              <a:rPr lang="en-US" dirty="0"/>
              <a:t>, alma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yöntemler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Bu, </a:t>
            </a:r>
            <a:r>
              <a:rPr lang="en-US" dirty="0" err="1"/>
              <a:t>basit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bellek</a:t>
            </a:r>
            <a:r>
              <a:rPr lang="en-US" dirty="0"/>
              <a:t>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depolama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) </a:t>
            </a:r>
            <a:r>
              <a:rPr lang="en-US" dirty="0" err="1"/>
              <a:t>başlayıp</a:t>
            </a:r>
            <a:r>
              <a:rPr lang="en-US" dirty="0"/>
              <a:t> </a:t>
            </a:r>
            <a:r>
              <a:rPr lang="en-US" dirty="0" err="1"/>
              <a:t>uygulamanız</a:t>
            </a:r>
            <a:r>
              <a:rPr lang="en-US" dirty="0"/>
              <a:t> </a:t>
            </a:r>
            <a:r>
              <a:rPr lang="en-US" dirty="0" err="1"/>
              <a:t>büyüdükçe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üretime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çözümlere</a:t>
            </a:r>
            <a:r>
              <a:rPr lang="en-US" dirty="0"/>
              <a:t> (</a:t>
            </a:r>
            <a:r>
              <a:rPr lang="en-US" dirty="0" err="1"/>
              <a:t>PostgreSQL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Pinecone </a:t>
            </a:r>
            <a:r>
              <a:rPr lang="en-US" dirty="0" err="1"/>
              <a:t>gibi</a:t>
            </a:r>
            <a:r>
              <a:rPr lang="en-US" dirty="0"/>
              <a:t>) </a:t>
            </a:r>
            <a:r>
              <a:rPr lang="en-US" dirty="0" err="1"/>
              <a:t>geçmenizi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Spring AI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Yapay</a:t>
            </a:r>
            <a:r>
              <a:rPr lang="en-US" b="1" dirty="0"/>
              <a:t> </a:t>
            </a:r>
            <a:r>
              <a:rPr lang="en-US" b="1" dirty="0" err="1"/>
              <a:t>Zeka</a:t>
            </a:r>
            <a:r>
              <a:rPr lang="en-US" b="1" dirty="0"/>
              <a:t> </a:t>
            </a:r>
            <a:r>
              <a:rPr lang="en-US" b="1" dirty="0" err="1"/>
              <a:t>Uygulama</a:t>
            </a:r>
            <a:r>
              <a:rPr lang="en-US" b="1" dirty="0"/>
              <a:t> </a:t>
            </a:r>
            <a:r>
              <a:rPr lang="en-US" b="1" dirty="0" err="1"/>
              <a:t>Kalıpları</a:t>
            </a:r>
            <a:endParaRPr lang="en-US" b="1" dirty="0"/>
          </a:p>
          <a:p>
            <a:r>
              <a:rPr lang="en-US" b="1" dirty="0" err="1"/>
              <a:t>Konuşma</a:t>
            </a:r>
            <a:r>
              <a:rPr lang="en-US" b="1" dirty="0"/>
              <a:t> </a:t>
            </a:r>
            <a:r>
              <a:rPr lang="en-US" b="1" dirty="0" err="1"/>
              <a:t>Uygulamaları</a:t>
            </a:r>
            <a:endParaRPr lang="en-US" b="1" dirty="0"/>
          </a:p>
          <a:p>
            <a:r>
              <a:rPr lang="en-US" dirty="0"/>
              <a:t>Spring </a:t>
            </a:r>
            <a:r>
              <a:rPr lang="en-US" dirty="0" err="1"/>
              <a:t>AI'nin</a:t>
            </a:r>
            <a:r>
              <a:rPr lang="en-US" dirty="0"/>
              <a:t> en </a:t>
            </a:r>
            <a:r>
              <a:rPr lang="en-US" dirty="0" err="1"/>
              <a:t>yaygın</a:t>
            </a:r>
            <a:r>
              <a:rPr lang="en-US" dirty="0"/>
              <a:t>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alanlarından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de </a:t>
            </a:r>
            <a:r>
              <a:rPr lang="en-US" dirty="0" err="1"/>
              <a:t>diyalog</a:t>
            </a:r>
            <a:r>
              <a:rPr lang="en-US" dirty="0"/>
              <a:t>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geliştirmektir</a:t>
            </a:r>
            <a:r>
              <a:rPr lang="en-US" dirty="0"/>
              <a:t>. </a:t>
            </a:r>
            <a:r>
              <a:rPr lang="en-US" dirty="0" err="1"/>
              <a:t>ChatClient</a:t>
            </a:r>
            <a:r>
              <a:rPr lang="en-US" dirty="0"/>
              <a:t> </a:t>
            </a:r>
            <a:r>
              <a:rPr lang="en-US" dirty="0" err="1"/>
              <a:t>soyutlaması</a:t>
            </a:r>
            <a:r>
              <a:rPr lang="en-US" dirty="0"/>
              <a:t>, </a:t>
            </a:r>
            <a:r>
              <a:rPr lang="en-US" dirty="0" err="1"/>
              <a:t>sohbet</a:t>
            </a:r>
            <a:r>
              <a:rPr lang="en-US" dirty="0"/>
              <a:t> </a:t>
            </a:r>
            <a:r>
              <a:rPr lang="en-US" dirty="0" err="1"/>
              <a:t>botları</a:t>
            </a:r>
            <a:r>
              <a:rPr lang="en-US" dirty="0"/>
              <a:t>, </a:t>
            </a:r>
            <a:r>
              <a:rPr lang="en-US" dirty="0" err="1"/>
              <a:t>sanal</a:t>
            </a:r>
            <a:r>
              <a:rPr lang="en-US" dirty="0"/>
              <a:t> </a:t>
            </a:r>
            <a:r>
              <a:rPr lang="en-US" dirty="0" err="1"/>
              <a:t>asistanlar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diyalog</a:t>
            </a:r>
            <a:r>
              <a:rPr lang="en-US" dirty="0"/>
              <a:t> </a:t>
            </a:r>
            <a:r>
              <a:rPr lang="en-US" dirty="0" err="1"/>
              <a:t>arayüzlerinin</a:t>
            </a:r>
            <a:r>
              <a:rPr lang="en-US" dirty="0"/>
              <a:t> </a:t>
            </a:r>
            <a:r>
              <a:rPr lang="en-US" dirty="0" err="1"/>
              <a:t>kolayca</a:t>
            </a:r>
            <a:r>
              <a:rPr lang="en-US" dirty="0"/>
              <a:t> </a:t>
            </a:r>
            <a:r>
              <a:rPr lang="en-US" dirty="0" err="1"/>
              <a:t>uygulanmasını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err="1" smtClean="0"/>
              <a:t>Diyalog</a:t>
            </a:r>
            <a:r>
              <a:rPr lang="en-US" dirty="0" smtClean="0"/>
              <a:t> </a:t>
            </a:r>
            <a:r>
              <a:rPr lang="en-US" dirty="0" err="1" smtClean="0"/>
              <a:t>tabanlı</a:t>
            </a:r>
            <a:r>
              <a:rPr lang="en-US" dirty="0" smtClean="0"/>
              <a:t> </a:t>
            </a:r>
            <a:r>
              <a:rPr lang="en-US" dirty="0" err="1" smtClean="0"/>
              <a:t>uygulamalar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temel</a:t>
            </a:r>
            <a:r>
              <a:rPr lang="en-US" dirty="0" smtClean="0"/>
              <a:t> </a:t>
            </a:r>
            <a:r>
              <a:rPr lang="en-US" dirty="0" err="1" smtClean="0"/>
              <a:t>özellikler</a:t>
            </a:r>
            <a:r>
              <a:rPr lang="en-US" dirty="0" smtClean="0"/>
              <a:t> </a:t>
            </a:r>
            <a:r>
              <a:rPr lang="en-US" dirty="0" err="1" smtClean="0"/>
              <a:t>şunlardır</a:t>
            </a:r>
            <a:r>
              <a:rPr lang="en-US" dirty="0" smtClean="0"/>
              <a:t>:</a:t>
            </a:r>
          </a:p>
          <a:p>
            <a:r>
              <a:rPr lang="en-US" b="1" dirty="0" err="1" smtClean="0"/>
              <a:t>Durumsuz</a:t>
            </a:r>
            <a:r>
              <a:rPr lang="en-US" b="1" dirty="0" smtClean="0"/>
              <a:t> </a:t>
            </a:r>
            <a:r>
              <a:rPr lang="en-US" b="1" dirty="0" err="1" smtClean="0"/>
              <a:t>Mesajlar</a:t>
            </a:r>
            <a:r>
              <a:rPr lang="en-US" dirty="0" smtClean="0"/>
              <a:t> : Her </a:t>
            </a:r>
            <a:r>
              <a:rPr lang="en-US" dirty="0" err="1" smtClean="0"/>
              <a:t>mesaj</a:t>
            </a:r>
            <a:r>
              <a:rPr lang="en-US" dirty="0" smtClean="0"/>
              <a:t> </a:t>
            </a:r>
            <a:r>
              <a:rPr lang="en-US" dirty="0" err="1" smtClean="0"/>
              <a:t>kullanıcı</a:t>
            </a:r>
            <a:r>
              <a:rPr lang="en-US" dirty="0" smtClean="0"/>
              <a:t> </a:t>
            </a:r>
            <a:r>
              <a:rPr lang="en-US" dirty="0" err="1" smtClean="0"/>
              <a:t>girdileri</a:t>
            </a:r>
            <a:r>
              <a:rPr lang="en-US" dirty="0" smtClean="0"/>
              <a:t>,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uyarıları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roller </a:t>
            </a:r>
            <a:r>
              <a:rPr lang="en-US" dirty="0" err="1" smtClean="0"/>
              <a:t>içerebilir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Geçmiş</a:t>
            </a:r>
            <a:r>
              <a:rPr lang="en-US" b="1" dirty="0" smtClean="0"/>
              <a:t> </a:t>
            </a:r>
            <a:r>
              <a:rPr lang="en-US" b="1" dirty="0" err="1" smtClean="0"/>
              <a:t>Yönetimi</a:t>
            </a:r>
            <a:r>
              <a:rPr lang="en-US" dirty="0" smtClean="0"/>
              <a:t> : </a:t>
            </a:r>
            <a:r>
              <a:rPr lang="en-US" dirty="0" err="1" smtClean="0"/>
              <a:t>Birden</a:t>
            </a:r>
            <a:r>
              <a:rPr lang="en-US" dirty="0" smtClean="0"/>
              <a:t> </a:t>
            </a:r>
            <a:r>
              <a:rPr lang="en-US" dirty="0" err="1" smtClean="0"/>
              <a:t>fazla</a:t>
            </a:r>
            <a:r>
              <a:rPr lang="en-US" dirty="0" smtClean="0"/>
              <a:t> </a:t>
            </a:r>
            <a:r>
              <a:rPr lang="en-US" dirty="0" err="1" smtClean="0"/>
              <a:t>etkileşimdeki</a:t>
            </a:r>
            <a:r>
              <a:rPr lang="en-US" dirty="0" smtClean="0"/>
              <a:t> </a:t>
            </a:r>
            <a:r>
              <a:rPr lang="en-US" dirty="0" err="1" smtClean="0"/>
              <a:t>konuşma</a:t>
            </a:r>
            <a:r>
              <a:rPr lang="en-US" dirty="0" smtClean="0"/>
              <a:t> </a:t>
            </a:r>
            <a:r>
              <a:rPr lang="en-US" dirty="0" err="1" smtClean="0"/>
              <a:t>bağlamını</a:t>
            </a:r>
            <a:r>
              <a:rPr lang="en-US" dirty="0" smtClean="0"/>
              <a:t> </a:t>
            </a:r>
            <a:r>
              <a:rPr lang="en-US" dirty="0" err="1" smtClean="0"/>
              <a:t>kolayca</a:t>
            </a:r>
            <a:r>
              <a:rPr lang="en-US" dirty="0" smtClean="0"/>
              <a:t> </a:t>
            </a:r>
            <a:r>
              <a:rPr lang="en-US" dirty="0" err="1" smtClean="0"/>
              <a:t>takip</a:t>
            </a:r>
            <a:r>
              <a:rPr lang="en-US" dirty="0" smtClean="0"/>
              <a:t> </a:t>
            </a:r>
            <a:r>
              <a:rPr lang="en-US" dirty="0" err="1" smtClean="0"/>
              <a:t>edin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Sistem</a:t>
            </a:r>
            <a:r>
              <a:rPr lang="en-US" b="1" dirty="0" smtClean="0"/>
              <a:t> </a:t>
            </a:r>
            <a:r>
              <a:rPr lang="en-US" b="1" dirty="0" err="1" smtClean="0"/>
              <a:t>İstemi</a:t>
            </a:r>
            <a:r>
              <a:rPr lang="en-US" dirty="0" smtClean="0"/>
              <a:t> : </a:t>
            </a:r>
            <a:r>
              <a:rPr lang="en-US" dirty="0" err="1" smtClean="0"/>
              <a:t>Yapay</a:t>
            </a:r>
            <a:r>
              <a:rPr lang="en-US" dirty="0" smtClean="0"/>
              <a:t> </a:t>
            </a:r>
            <a:r>
              <a:rPr lang="en-US" dirty="0" err="1" smtClean="0"/>
              <a:t>zeka</a:t>
            </a:r>
            <a:r>
              <a:rPr lang="en-US" dirty="0" smtClean="0"/>
              <a:t> </a:t>
            </a:r>
            <a:r>
              <a:rPr lang="en-US" dirty="0" err="1" smtClean="0"/>
              <a:t>modeli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 smtClean="0"/>
              <a:t>davranış</a:t>
            </a:r>
            <a:r>
              <a:rPr lang="en-US" dirty="0" smtClean="0"/>
              <a:t> </a:t>
            </a:r>
            <a:r>
              <a:rPr lang="en-US" dirty="0" err="1" smtClean="0"/>
              <a:t>talimatları</a:t>
            </a:r>
            <a:r>
              <a:rPr lang="en-US" dirty="0" smtClean="0"/>
              <a:t> </a:t>
            </a:r>
            <a:r>
              <a:rPr lang="en-US" dirty="0" err="1" smtClean="0"/>
              <a:t>belirleyin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Kullanıcı</a:t>
            </a:r>
            <a:r>
              <a:rPr lang="en-US" b="1" dirty="0" smtClean="0"/>
              <a:t>/</a:t>
            </a:r>
            <a:r>
              <a:rPr lang="en-US" b="1" dirty="0" err="1" smtClean="0"/>
              <a:t>Asistan</a:t>
            </a:r>
            <a:r>
              <a:rPr lang="en-US" b="1" dirty="0" smtClean="0"/>
              <a:t> </a:t>
            </a:r>
            <a:r>
              <a:rPr lang="en-US" b="1" dirty="0" err="1" smtClean="0"/>
              <a:t>Rolleri</a:t>
            </a:r>
            <a:r>
              <a:rPr lang="en-US" dirty="0" smtClean="0"/>
              <a:t> : </a:t>
            </a:r>
            <a:r>
              <a:rPr lang="en-US" dirty="0" err="1" smtClean="0"/>
              <a:t>Konuşmada</a:t>
            </a:r>
            <a:r>
              <a:rPr lang="en-US" dirty="0" smtClean="0"/>
              <a:t> net roller </a:t>
            </a:r>
            <a:r>
              <a:rPr lang="en-US" dirty="0" err="1" smtClean="0"/>
              <a:t>tanımlayın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Akış</a:t>
            </a:r>
            <a:r>
              <a:rPr lang="en-US" b="1" dirty="0" smtClean="0"/>
              <a:t> </a:t>
            </a:r>
            <a:r>
              <a:rPr lang="en-US" b="1" dirty="0" err="1" smtClean="0"/>
              <a:t>Desteği</a:t>
            </a:r>
            <a:r>
              <a:rPr lang="en-US" dirty="0" smtClean="0"/>
              <a:t> : </a:t>
            </a:r>
            <a:r>
              <a:rPr lang="en-US" dirty="0" err="1" smtClean="0"/>
              <a:t>Yanıtların</a:t>
            </a:r>
            <a:r>
              <a:rPr lang="en-US" dirty="0" smtClean="0"/>
              <a:t> </a:t>
            </a:r>
            <a:r>
              <a:rPr lang="en-US" dirty="0" err="1" smtClean="0"/>
              <a:t>tamamlanmasını</a:t>
            </a:r>
            <a:r>
              <a:rPr lang="en-US" dirty="0" smtClean="0"/>
              <a:t> </a:t>
            </a:r>
            <a:r>
              <a:rPr lang="en-US" dirty="0" err="1" smtClean="0"/>
              <a:t>beklemek</a:t>
            </a:r>
            <a:r>
              <a:rPr lang="en-US" dirty="0" smtClean="0"/>
              <a:t> </a:t>
            </a:r>
            <a:r>
              <a:rPr lang="en-US" dirty="0" err="1" smtClean="0"/>
              <a:t>yerine</a:t>
            </a:r>
            <a:r>
              <a:rPr lang="en-US" dirty="0" smtClean="0"/>
              <a:t>, </a:t>
            </a:r>
            <a:r>
              <a:rPr lang="en-US" dirty="0" err="1" smtClean="0"/>
              <a:t>yanıtları</a:t>
            </a:r>
            <a:r>
              <a:rPr lang="en-US" dirty="0" smtClean="0"/>
              <a:t> </a:t>
            </a:r>
            <a:r>
              <a:rPr lang="en-US" dirty="0" err="1" smtClean="0"/>
              <a:t>oluşturuldukları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işleyin</a:t>
            </a:r>
            <a:r>
              <a:rPr lang="en-US" dirty="0" smtClean="0"/>
              <a:t>.</a:t>
            </a:r>
            <a:endParaRPr lang="tr-TR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437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İşte</a:t>
            </a:r>
            <a:r>
              <a:rPr lang="en-US" dirty="0" smtClean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konuşmanın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uygulanabileceğine</a:t>
            </a:r>
            <a:r>
              <a:rPr lang="en-US" dirty="0"/>
              <a:t> </a:t>
            </a:r>
            <a:r>
              <a:rPr lang="en-US" dirty="0" err="1"/>
              <a:t>dair</a:t>
            </a:r>
            <a:r>
              <a:rPr lang="en-US" dirty="0"/>
              <a:t> </a:t>
            </a:r>
            <a:r>
              <a:rPr lang="en-US" dirty="0" err="1"/>
              <a:t>basit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 smtClean="0"/>
              <a:t>: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@Service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public class </a:t>
            </a:r>
            <a:r>
              <a:rPr lang="en-US" b="1" dirty="0" err="1"/>
              <a:t>ChatService</a:t>
            </a:r>
            <a:r>
              <a:rPr lang="en-US" dirty="0"/>
              <a:t> {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private final </a:t>
            </a:r>
            <a:r>
              <a:rPr lang="en-US" dirty="0" err="1"/>
              <a:t>ChatClient</a:t>
            </a:r>
            <a:r>
              <a:rPr lang="en-US" dirty="0"/>
              <a:t> </a:t>
            </a:r>
            <a:r>
              <a:rPr lang="en-US" dirty="0" err="1"/>
              <a:t>chatClient</a:t>
            </a:r>
            <a:r>
              <a:rPr lang="en-US" dirty="0"/>
              <a:t>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public </a:t>
            </a:r>
            <a:r>
              <a:rPr lang="en-US" b="1" dirty="0" err="1"/>
              <a:t>ChatService</a:t>
            </a:r>
            <a:r>
              <a:rPr lang="en-US" dirty="0"/>
              <a:t> (</a:t>
            </a:r>
            <a:r>
              <a:rPr lang="en-US" dirty="0" err="1"/>
              <a:t>ChatClient</a:t>
            </a:r>
            <a:r>
              <a:rPr lang="en-US" dirty="0"/>
              <a:t> </a:t>
            </a:r>
            <a:r>
              <a:rPr lang="en-US" dirty="0" err="1"/>
              <a:t>chatClient</a:t>
            </a:r>
            <a:r>
              <a:rPr lang="en-US" dirty="0"/>
              <a:t>) {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this .</a:t>
            </a:r>
            <a:r>
              <a:rPr lang="en-US" dirty="0" err="1"/>
              <a:t>chatClient</a:t>
            </a:r>
            <a:r>
              <a:rPr lang="en-US" dirty="0"/>
              <a:t> = </a:t>
            </a:r>
            <a:r>
              <a:rPr lang="en-US" dirty="0" err="1"/>
              <a:t>chatClient</a:t>
            </a:r>
            <a:r>
              <a:rPr lang="en-US" dirty="0"/>
              <a:t>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public String </a:t>
            </a:r>
            <a:r>
              <a:rPr lang="en-US" b="1" dirty="0"/>
              <a:t>chat</a:t>
            </a:r>
            <a:r>
              <a:rPr lang="en-US" dirty="0"/>
              <a:t> (String </a:t>
            </a:r>
            <a:r>
              <a:rPr lang="en-US" dirty="0" err="1"/>
              <a:t>userMessage</a:t>
            </a:r>
            <a:r>
              <a:rPr lang="en-US" dirty="0"/>
              <a:t>, List&lt;</a:t>
            </a:r>
            <a:r>
              <a:rPr lang="en-US" dirty="0" err="1"/>
              <a:t>ChatMessage</a:t>
            </a:r>
            <a:r>
              <a:rPr lang="en-US" dirty="0"/>
              <a:t>&gt; history) {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// </a:t>
            </a:r>
            <a:r>
              <a:rPr lang="en-US" dirty="0" err="1"/>
              <a:t>Kullanıcının</a:t>
            </a:r>
            <a:r>
              <a:rPr lang="en-US" dirty="0"/>
              <a:t> </a:t>
            </a:r>
            <a:r>
              <a:rPr lang="en-US" dirty="0" err="1"/>
              <a:t>girdisiyle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ChatMessage</a:t>
            </a:r>
            <a:r>
              <a:rPr lang="en-US" dirty="0"/>
              <a:t> </a:t>
            </a:r>
            <a:r>
              <a:rPr lang="en-US" dirty="0" err="1"/>
              <a:t>newMessage</a:t>
            </a:r>
            <a:r>
              <a:rPr lang="en-US" dirty="0"/>
              <a:t> = new </a:t>
            </a:r>
            <a:r>
              <a:rPr lang="en-US" dirty="0" err="1"/>
              <a:t>UserMessage</a:t>
            </a:r>
            <a:r>
              <a:rPr lang="en-US" dirty="0"/>
              <a:t> (</a:t>
            </a:r>
            <a:r>
              <a:rPr lang="en-US" dirty="0" err="1"/>
              <a:t>userMessage</a:t>
            </a:r>
            <a:r>
              <a:rPr lang="en-US" dirty="0"/>
              <a:t>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// </a:t>
            </a:r>
            <a:r>
              <a:rPr lang="en-US" b="1" dirty="0" err="1"/>
              <a:t>Geçmişle</a:t>
            </a:r>
            <a:r>
              <a:rPr lang="en-US" b="1" dirty="0"/>
              <a:t> </a:t>
            </a:r>
            <a:r>
              <a:rPr lang="en-US" b="1" dirty="0" err="1"/>
              <a:t>birleştirin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List&lt;</a:t>
            </a:r>
            <a:r>
              <a:rPr lang="en-US" dirty="0" err="1"/>
              <a:t>ChatMessage</a:t>
            </a:r>
            <a:r>
              <a:rPr lang="en-US" dirty="0"/>
              <a:t>&gt; conversation = new </a:t>
            </a:r>
            <a:r>
              <a:rPr lang="en-US" dirty="0" err="1"/>
              <a:t>ArrayList</a:t>
            </a:r>
            <a:r>
              <a:rPr lang="en-US" dirty="0"/>
              <a:t> &lt;&gt;(history);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conversation.add</a:t>
            </a:r>
            <a:r>
              <a:rPr lang="en-US" dirty="0"/>
              <a:t>(</a:t>
            </a:r>
            <a:r>
              <a:rPr lang="en-US" dirty="0" err="1"/>
              <a:t>newMessage</a:t>
            </a:r>
            <a:r>
              <a:rPr lang="en-US" dirty="0"/>
              <a:t>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// Tam </a:t>
            </a:r>
            <a:r>
              <a:rPr lang="en-US" b="1" dirty="0" err="1"/>
              <a:t>konuşmayla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istem</a:t>
            </a:r>
            <a:r>
              <a:rPr lang="en-US" b="1" dirty="0"/>
              <a:t> </a:t>
            </a:r>
            <a:r>
              <a:rPr lang="en-US" b="1" dirty="0" err="1"/>
              <a:t>oluşturun</a:t>
            </a:r>
            <a:r>
              <a:rPr lang="en-US" b="1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Prompt </a:t>
            </a:r>
            <a:r>
              <a:rPr lang="en-US" dirty="0" err="1"/>
              <a:t>prompt</a:t>
            </a:r>
            <a:r>
              <a:rPr lang="en-US" dirty="0"/>
              <a:t> = new Prompt (conversation);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// </a:t>
            </a:r>
            <a:r>
              <a:rPr lang="en-US" b="1" dirty="0" err="1"/>
              <a:t>Modelden</a:t>
            </a:r>
            <a:r>
              <a:rPr lang="en-US" b="1" dirty="0"/>
              <a:t> </a:t>
            </a:r>
            <a:r>
              <a:rPr lang="en-US" b="1" dirty="0" err="1"/>
              <a:t>yanıtı</a:t>
            </a:r>
            <a:r>
              <a:rPr lang="en-US" b="1" dirty="0"/>
              <a:t> </a:t>
            </a:r>
            <a:r>
              <a:rPr lang="en-US" b="1" dirty="0" err="1"/>
              <a:t>alın</a:t>
            </a:r>
            <a:r>
              <a:rPr lang="en-US" b="1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ChatResponse</a:t>
            </a:r>
            <a:r>
              <a:rPr lang="en-US" dirty="0"/>
              <a:t> response = </a:t>
            </a:r>
            <a:r>
              <a:rPr lang="en-US" dirty="0" err="1"/>
              <a:t>chatClient.call</a:t>
            </a:r>
            <a:r>
              <a:rPr lang="en-US" dirty="0"/>
              <a:t>(prompt);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return </a:t>
            </a:r>
            <a:r>
              <a:rPr lang="en-US" dirty="0" err="1"/>
              <a:t>response.getResult</a:t>
            </a:r>
            <a:r>
              <a:rPr lang="en-US" dirty="0"/>
              <a:t>().</a:t>
            </a:r>
            <a:r>
              <a:rPr lang="en-US" dirty="0" err="1"/>
              <a:t>getOutput</a:t>
            </a:r>
            <a:r>
              <a:rPr lang="en-US" dirty="0"/>
              <a:t>().</a:t>
            </a:r>
            <a:r>
              <a:rPr lang="en-US" dirty="0" err="1"/>
              <a:t>getContent</a:t>
            </a:r>
            <a:r>
              <a:rPr lang="en-US" dirty="0"/>
              <a:t>();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56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Gelişmiş</a:t>
            </a:r>
            <a:r>
              <a:rPr lang="en-US" b="1" dirty="0"/>
              <a:t> </a:t>
            </a:r>
            <a:r>
              <a:rPr lang="en-US" b="1" dirty="0" err="1"/>
              <a:t>Özellikler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Spring AI, </a:t>
            </a:r>
            <a:r>
              <a:rPr lang="en-US" dirty="0" err="1"/>
              <a:t>gelişmiş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err="1"/>
              <a:t>gelişmiş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sunmaktadır</a:t>
            </a:r>
            <a:r>
              <a:rPr lang="en-US" dirty="0" smtClean="0"/>
              <a:t>:</a:t>
            </a:r>
            <a:endParaRPr lang="tr-TR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Üretim</a:t>
            </a:r>
            <a:r>
              <a:rPr lang="en-US" b="1" dirty="0"/>
              <a:t> </a:t>
            </a:r>
            <a:r>
              <a:rPr lang="en-US" b="1" dirty="0" err="1" smtClean="0"/>
              <a:t>Yetenekleri</a:t>
            </a:r>
            <a:r>
              <a:rPr lang="tr-TR" b="1" dirty="0"/>
              <a:t> </a:t>
            </a:r>
            <a:r>
              <a:rPr lang="tr-TR" b="1" dirty="0" smtClean="0"/>
              <a:t>: 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Metin</a:t>
            </a:r>
            <a:r>
              <a:rPr lang="en-US" b="1" dirty="0"/>
              <a:t> </a:t>
            </a:r>
            <a:r>
              <a:rPr lang="en-US" b="1" dirty="0" err="1"/>
              <a:t>Tamamlama</a:t>
            </a:r>
            <a:r>
              <a:rPr lang="en-US" dirty="0"/>
              <a:t> :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ipuçlarına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tutarlı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Sohbet</a:t>
            </a:r>
            <a:r>
              <a:rPr lang="en-US" b="1" dirty="0"/>
              <a:t> </a:t>
            </a:r>
            <a:r>
              <a:rPr lang="en-US" b="1" dirty="0" err="1"/>
              <a:t>Tamamlama</a:t>
            </a:r>
            <a:r>
              <a:rPr lang="en-US" dirty="0"/>
              <a:t> : </a:t>
            </a:r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konuşmaları</a:t>
            </a:r>
            <a:r>
              <a:rPr lang="en-US" dirty="0"/>
              <a:t> </a:t>
            </a:r>
            <a:r>
              <a:rPr lang="en-US" dirty="0" err="1"/>
              <a:t>hatırlayarak</a:t>
            </a:r>
            <a:r>
              <a:rPr lang="en-US" dirty="0"/>
              <a:t> </a:t>
            </a:r>
            <a:r>
              <a:rPr lang="en-US" dirty="0" err="1"/>
              <a:t>sohbete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yanıtlar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Görüntü</a:t>
            </a:r>
            <a:r>
              <a:rPr lang="en-US" b="1" dirty="0"/>
              <a:t> </a:t>
            </a:r>
            <a:r>
              <a:rPr lang="en-US" b="1" dirty="0" err="1"/>
              <a:t>Oluşturma</a:t>
            </a:r>
            <a:r>
              <a:rPr lang="en-US" dirty="0"/>
              <a:t> :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açıklamalarından</a:t>
            </a:r>
            <a:r>
              <a:rPr lang="en-US" dirty="0"/>
              <a:t> </a:t>
            </a:r>
            <a:r>
              <a:rPr lang="en-US" dirty="0" err="1"/>
              <a:t>görüntüler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Sesli</a:t>
            </a:r>
            <a:r>
              <a:rPr lang="en-US" b="1" dirty="0"/>
              <a:t> </a:t>
            </a:r>
            <a:r>
              <a:rPr lang="en-US" b="1" dirty="0" err="1"/>
              <a:t>Metne</a:t>
            </a:r>
            <a:r>
              <a:rPr lang="en-US" b="1" dirty="0"/>
              <a:t> </a:t>
            </a:r>
            <a:r>
              <a:rPr lang="en-US" b="1" dirty="0" err="1"/>
              <a:t>Dönüştürme</a:t>
            </a:r>
            <a:r>
              <a:rPr lang="en-US" dirty="0"/>
              <a:t> : </a:t>
            </a:r>
            <a:r>
              <a:rPr lang="en-US" dirty="0" err="1"/>
              <a:t>Konuşmayı</a:t>
            </a:r>
            <a:r>
              <a:rPr lang="en-US" dirty="0"/>
              <a:t> </a:t>
            </a:r>
            <a:r>
              <a:rPr lang="en-US" dirty="0" err="1"/>
              <a:t>metne</a:t>
            </a:r>
            <a:r>
              <a:rPr lang="en-US" dirty="0"/>
              <a:t> </a:t>
            </a:r>
            <a:r>
              <a:rPr lang="en-US" dirty="0" err="1"/>
              <a:t>dönüştür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Çok</a:t>
            </a:r>
            <a:r>
              <a:rPr lang="en-US" b="1" dirty="0"/>
              <a:t> </a:t>
            </a:r>
            <a:r>
              <a:rPr lang="en-US" b="1" dirty="0" err="1"/>
              <a:t>Modlu</a:t>
            </a:r>
            <a:r>
              <a:rPr lang="en-US" b="1" dirty="0"/>
              <a:t> </a:t>
            </a:r>
            <a:r>
              <a:rPr lang="en-US" b="1" dirty="0" err="1"/>
              <a:t>Giriş</a:t>
            </a:r>
            <a:r>
              <a:rPr lang="en-US" dirty="0"/>
              <a:t> : </a:t>
            </a:r>
            <a:r>
              <a:rPr lang="en-US" dirty="0" err="1"/>
              <a:t>Metin</a:t>
            </a:r>
            <a:r>
              <a:rPr lang="en-US" dirty="0"/>
              <a:t>, </a:t>
            </a:r>
            <a:r>
              <a:rPr lang="en-US" dirty="0" err="1"/>
              <a:t>resim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türlerinin</a:t>
            </a:r>
            <a:r>
              <a:rPr lang="en-US" dirty="0"/>
              <a:t> </a:t>
            </a:r>
            <a:r>
              <a:rPr lang="en-US" dirty="0" err="1"/>
              <a:t>kombinasyonlarını</a:t>
            </a:r>
            <a:r>
              <a:rPr lang="en-US" dirty="0"/>
              <a:t> </a:t>
            </a:r>
            <a:r>
              <a:rPr lang="en-US" dirty="0" err="1" smtClean="0"/>
              <a:t>işleme</a:t>
            </a: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en-US" b="1" dirty="0" err="1"/>
              <a:t>İşleme</a:t>
            </a:r>
            <a:r>
              <a:rPr lang="en-US" b="1" dirty="0"/>
              <a:t> </a:t>
            </a:r>
            <a:r>
              <a:rPr lang="en-US" b="1" dirty="0" err="1" smtClean="0"/>
              <a:t>Özellikleri</a:t>
            </a:r>
            <a:r>
              <a:rPr lang="tr-TR" b="1" dirty="0" smtClean="0"/>
              <a:t> : 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Gömülü</a:t>
            </a:r>
            <a:r>
              <a:rPr lang="en-US" b="1" dirty="0"/>
              <a:t> </a:t>
            </a:r>
            <a:r>
              <a:rPr lang="en-US" b="1" dirty="0" err="1"/>
              <a:t>temsiller</a:t>
            </a:r>
            <a:r>
              <a:rPr lang="en-US" dirty="0"/>
              <a:t> : </a:t>
            </a:r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anlayış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metni</a:t>
            </a:r>
            <a:r>
              <a:rPr lang="en-US" dirty="0"/>
              <a:t>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temsillerine</a:t>
            </a:r>
            <a:r>
              <a:rPr lang="en-US" dirty="0"/>
              <a:t> </a:t>
            </a:r>
            <a:r>
              <a:rPr lang="en-US" dirty="0" err="1"/>
              <a:t>dönüştürün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RAG </a:t>
            </a:r>
            <a:r>
              <a:rPr lang="en-US" b="1" dirty="0" err="1"/>
              <a:t>Yetenekleri</a:t>
            </a:r>
            <a:r>
              <a:rPr lang="en-US" dirty="0"/>
              <a:t> : </a:t>
            </a:r>
            <a:r>
              <a:rPr lang="en-US" dirty="0" err="1"/>
              <a:t>Verilerinizden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alma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üretimiyle</a:t>
            </a:r>
            <a:r>
              <a:rPr lang="en-US" dirty="0"/>
              <a:t> </a:t>
            </a:r>
            <a:r>
              <a:rPr lang="en-US" dirty="0" err="1"/>
              <a:t>birleştirin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Belge</a:t>
            </a:r>
            <a:r>
              <a:rPr lang="en-US" b="1" dirty="0"/>
              <a:t> </a:t>
            </a:r>
            <a:r>
              <a:rPr lang="en-US" b="1" dirty="0" err="1"/>
              <a:t>Yükleyiciler</a:t>
            </a:r>
            <a:r>
              <a:rPr lang="en-US" dirty="0"/>
              <a:t> :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belge</a:t>
            </a:r>
            <a:r>
              <a:rPr lang="en-US" dirty="0"/>
              <a:t> </a:t>
            </a:r>
            <a:r>
              <a:rPr lang="en-US" dirty="0" err="1"/>
              <a:t>formatlarından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içe</a:t>
            </a:r>
            <a:r>
              <a:rPr lang="en-US" dirty="0"/>
              <a:t> </a:t>
            </a:r>
            <a:r>
              <a:rPr lang="en-US" dirty="0" err="1"/>
              <a:t>aktarın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Metin</a:t>
            </a:r>
            <a:r>
              <a:rPr lang="en-US" b="1" dirty="0"/>
              <a:t> </a:t>
            </a:r>
            <a:r>
              <a:rPr lang="en-US" b="1" dirty="0" err="1"/>
              <a:t>Bölücüler</a:t>
            </a:r>
            <a:r>
              <a:rPr lang="en-US" dirty="0"/>
              <a:t> : </a:t>
            </a:r>
            <a:r>
              <a:rPr lang="en-US" dirty="0" err="1"/>
              <a:t>Belgeleri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boyutlarda</a:t>
            </a:r>
            <a:r>
              <a:rPr lang="en-US" dirty="0"/>
              <a:t> </a:t>
            </a:r>
            <a:r>
              <a:rPr lang="en-US" dirty="0" err="1"/>
              <a:t>parçalara</a:t>
            </a:r>
            <a:r>
              <a:rPr lang="en-US" dirty="0"/>
              <a:t> </a:t>
            </a:r>
            <a:r>
              <a:rPr lang="en-US" dirty="0" err="1"/>
              <a:t>ayırır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Meta </a:t>
            </a:r>
            <a:r>
              <a:rPr lang="en-US" b="1" dirty="0" err="1"/>
              <a:t>Veri</a:t>
            </a:r>
            <a:r>
              <a:rPr lang="en-US" b="1" dirty="0"/>
              <a:t> </a:t>
            </a:r>
            <a:r>
              <a:rPr lang="en-US" b="1" dirty="0" err="1"/>
              <a:t>Çıkarma</a:t>
            </a:r>
            <a:r>
              <a:rPr lang="en-US" dirty="0"/>
              <a:t> : </a:t>
            </a:r>
            <a:r>
              <a:rPr lang="en-US" dirty="0" err="1"/>
              <a:t>Belgelerden</a:t>
            </a:r>
            <a:r>
              <a:rPr lang="en-US" dirty="0"/>
              <a:t> meta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yakalama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kullanma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03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/>
              <a:t>Araçlar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Yardımcı</a:t>
            </a:r>
            <a:r>
              <a:rPr lang="en-US" b="1" dirty="0"/>
              <a:t> </a:t>
            </a:r>
            <a:r>
              <a:rPr lang="en-US" b="1" dirty="0" err="1" smtClean="0"/>
              <a:t>Programlar</a:t>
            </a:r>
            <a:endParaRPr lang="tr-TR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Fonksiyon</a:t>
            </a:r>
            <a:r>
              <a:rPr lang="en-US" b="1" dirty="0"/>
              <a:t> </a:t>
            </a:r>
            <a:r>
              <a:rPr lang="en-US" b="1" dirty="0" err="1"/>
              <a:t>Çağırma</a:t>
            </a:r>
            <a:r>
              <a:rPr lang="en-US" dirty="0"/>
              <a:t> :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modellerinin</a:t>
            </a:r>
            <a:r>
              <a:rPr lang="en-US" dirty="0"/>
              <a:t> </a:t>
            </a:r>
            <a:r>
              <a:rPr lang="en-US" dirty="0" err="1"/>
              <a:t>yeteneklerini</a:t>
            </a:r>
            <a:r>
              <a:rPr lang="en-US" dirty="0"/>
              <a:t> </a:t>
            </a:r>
            <a:r>
              <a:rPr lang="en-US" dirty="0" err="1"/>
              <a:t>genişletmek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tanımlanmış</a:t>
            </a:r>
            <a:r>
              <a:rPr lang="en-US" dirty="0"/>
              <a:t> </a:t>
            </a:r>
            <a:r>
              <a:rPr lang="en-US" dirty="0" err="1"/>
              <a:t>fonksiyonları</a:t>
            </a:r>
            <a:r>
              <a:rPr lang="en-US" dirty="0"/>
              <a:t> </a:t>
            </a:r>
            <a:r>
              <a:rPr lang="en-US" dirty="0" err="1"/>
              <a:t>çağırmasına</a:t>
            </a:r>
            <a:r>
              <a:rPr lang="en-US" dirty="0"/>
              <a:t> </a:t>
            </a:r>
            <a:r>
              <a:rPr lang="en-US" dirty="0" err="1"/>
              <a:t>olanak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Araç</a:t>
            </a:r>
            <a:r>
              <a:rPr lang="en-US" b="1" dirty="0"/>
              <a:t> </a:t>
            </a:r>
            <a:r>
              <a:rPr lang="en-US" b="1" dirty="0" err="1"/>
              <a:t>Çalıştırma</a:t>
            </a:r>
            <a:r>
              <a:rPr lang="en-US" dirty="0"/>
              <a:t> :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yanıtları</a:t>
            </a:r>
            <a:r>
              <a:rPr lang="en-US" dirty="0"/>
              <a:t> </a:t>
            </a:r>
            <a:r>
              <a:rPr lang="en-US" dirty="0" err="1"/>
              <a:t>iyileştirmek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harici</a:t>
            </a:r>
            <a:r>
              <a:rPr lang="en-US" dirty="0"/>
              <a:t> </a:t>
            </a:r>
            <a:r>
              <a:rPr lang="en-US" dirty="0" err="1"/>
              <a:t>araçlar</a:t>
            </a:r>
            <a:r>
              <a:rPr lang="en-US" dirty="0"/>
              <a:t> </a:t>
            </a:r>
            <a:r>
              <a:rPr lang="en-US" dirty="0" err="1"/>
              <a:t>kullanmasını</a:t>
            </a:r>
            <a:r>
              <a:rPr lang="en-US" dirty="0"/>
              <a:t> </a:t>
            </a:r>
            <a:r>
              <a:rPr lang="en-US" dirty="0" err="1"/>
              <a:t>sağlayın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Yapay</a:t>
            </a:r>
            <a:r>
              <a:rPr lang="en-US" b="1" dirty="0"/>
              <a:t> </a:t>
            </a:r>
            <a:r>
              <a:rPr lang="en-US" b="1" dirty="0" err="1"/>
              <a:t>Zeka</a:t>
            </a:r>
            <a:r>
              <a:rPr lang="en-US" b="1" dirty="0"/>
              <a:t> </a:t>
            </a:r>
            <a:r>
              <a:rPr lang="en-US" b="1" dirty="0" err="1"/>
              <a:t>Asistanları</a:t>
            </a:r>
            <a:r>
              <a:rPr lang="en-US" dirty="0"/>
              <a:t> : </a:t>
            </a:r>
            <a:r>
              <a:rPr lang="en-US" dirty="0" err="1"/>
              <a:t>Kişiselleştirilmiş</a:t>
            </a:r>
            <a:r>
              <a:rPr lang="en-US" dirty="0"/>
              <a:t> </a:t>
            </a:r>
            <a:r>
              <a:rPr lang="en-US" dirty="0" err="1"/>
              <a:t>asistan</a:t>
            </a:r>
            <a:r>
              <a:rPr lang="en-US" dirty="0"/>
              <a:t>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oluşturun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İstem</a:t>
            </a:r>
            <a:r>
              <a:rPr lang="en-US" b="1" dirty="0"/>
              <a:t> </a:t>
            </a:r>
            <a:r>
              <a:rPr lang="en-US" b="1" dirty="0" err="1"/>
              <a:t>Şablonları</a:t>
            </a:r>
            <a:r>
              <a:rPr lang="en-US" dirty="0"/>
              <a:t> :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ikamesiyle</a:t>
            </a:r>
            <a:r>
              <a:rPr lang="en-US" dirty="0"/>
              <a:t> </a:t>
            </a:r>
            <a:r>
              <a:rPr lang="en-US" dirty="0" err="1"/>
              <a:t>dinamik</a:t>
            </a:r>
            <a:r>
              <a:rPr lang="en-US" dirty="0"/>
              <a:t> </a:t>
            </a:r>
            <a:r>
              <a:rPr lang="en-US" dirty="0" err="1"/>
              <a:t>istemler</a:t>
            </a:r>
            <a:r>
              <a:rPr lang="en-US" dirty="0"/>
              <a:t> </a:t>
            </a:r>
            <a:r>
              <a:rPr lang="en-US" dirty="0" err="1"/>
              <a:t>oluşturun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Jeton</a:t>
            </a:r>
            <a:r>
              <a:rPr lang="en-US" b="1" dirty="0"/>
              <a:t> </a:t>
            </a:r>
            <a:r>
              <a:rPr lang="en-US" b="1" dirty="0" err="1"/>
              <a:t>Sayımı</a:t>
            </a:r>
            <a:r>
              <a:rPr lang="en-US" dirty="0"/>
              <a:t> : </a:t>
            </a:r>
            <a:r>
              <a:rPr lang="en-US" dirty="0" err="1"/>
              <a:t>Maliyet</a:t>
            </a:r>
            <a:r>
              <a:rPr lang="en-US" dirty="0"/>
              <a:t> </a:t>
            </a:r>
            <a:r>
              <a:rPr lang="en-US" dirty="0" err="1"/>
              <a:t>kontrolü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jeton</a:t>
            </a:r>
            <a:r>
              <a:rPr lang="en-US" dirty="0"/>
              <a:t> </a:t>
            </a:r>
            <a:r>
              <a:rPr lang="en-US" dirty="0" err="1"/>
              <a:t>kullanımını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 smtClean="0"/>
              <a:t>etme</a:t>
            </a: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en-US" b="1" dirty="0" err="1"/>
              <a:t>Oluşturabileceğiniz</a:t>
            </a:r>
            <a:r>
              <a:rPr lang="en-US" b="1" dirty="0"/>
              <a:t> </a:t>
            </a:r>
            <a:r>
              <a:rPr lang="en-US" b="1" dirty="0" err="1"/>
              <a:t>Örnek</a:t>
            </a:r>
            <a:r>
              <a:rPr lang="en-US" b="1" dirty="0"/>
              <a:t> </a:t>
            </a:r>
            <a:r>
              <a:rPr lang="en-US" b="1" dirty="0" err="1"/>
              <a:t>Uygulamalar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Spring AI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akıllı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geliştirebilirsiniz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Sohbet</a:t>
            </a:r>
            <a:r>
              <a:rPr lang="en-US" b="1" dirty="0"/>
              <a:t> </a:t>
            </a:r>
            <a:r>
              <a:rPr lang="en-US" b="1" dirty="0" err="1"/>
              <a:t>Botları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Konuşma</a:t>
            </a:r>
            <a:r>
              <a:rPr lang="en-US" b="1" dirty="0"/>
              <a:t> </a:t>
            </a:r>
            <a:r>
              <a:rPr lang="en-US" b="1" dirty="0" err="1"/>
              <a:t>Arayüzleri</a:t>
            </a:r>
            <a:endParaRPr lang="en-US" b="1" dirty="0"/>
          </a:p>
          <a:p>
            <a:r>
              <a:rPr lang="en-US" dirty="0" err="1"/>
              <a:t>Kullanıcılara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olabilen</a:t>
            </a:r>
            <a:r>
              <a:rPr lang="en-US" dirty="0"/>
              <a:t>, </a:t>
            </a:r>
            <a:r>
              <a:rPr lang="en-US" dirty="0" err="1"/>
              <a:t>soruları</a:t>
            </a:r>
            <a:r>
              <a:rPr lang="en-US" dirty="0"/>
              <a:t> </a:t>
            </a:r>
            <a:r>
              <a:rPr lang="en-US" dirty="0" err="1"/>
              <a:t>yanıtlayabilen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sağlayabilen</a:t>
            </a:r>
            <a:r>
              <a:rPr lang="en-US" dirty="0"/>
              <a:t> </a:t>
            </a:r>
            <a:r>
              <a:rPr lang="en-US" dirty="0" err="1"/>
              <a:t>etkileşimli</a:t>
            </a:r>
            <a:r>
              <a:rPr lang="en-US" dirty="0"/>
              <a:t> </a:t>
            </a:r>
            <a:r>
              <a:rPr lang="en-US" dirty="0" err="1"/>
              <a:t>sohbet</a:t>
            </a:r>
            <a:r>
              <a:rPr lang="en-US" dirty="0"/>
              <a:t> </a:t>
            </a:r>
            <a:r>
              <a:rPr lang="en-US" dirty="0" err="1"/>
              <a:t>botları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. </a:t>
            </a:r>
            <a:r>
              <a:rPr lang="en-US" dirty="0" err="1"/>
              <a:t>ChatClient</a:t>
            </a:r>
            <a:r>
              <a:rPr lang="en-US" dirty="0"/>
              <a:t> </a:t>
            </a:r>
            <a:r>
              <a:rPr lang="en-US" dirty="0" err="1"/>
              <a:t>soyutlaması</a:t>
            </a:r>
            <a:r>
              <a:rPr lang="en-US" dirty="0"/>
              <a:t>, </a:t>
            </a:r>
            <a:r>
              <a:rPr lang="en-US" dirty="0" err="1"/>
              <a:t>LLM'lerin</a:t>
            </a:r>
            <a:r>
              <a:rPr lang="en-US" dirty="0"/>
              <a:t>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yeteneklerinden</a:t>
            </a:r>
            <a:r>
              <a:rPr lang="en-US" dirty="0"/>
              <a:t> </a:t>
            </a:r>
            <a:r>
              <a:rPr lang="en-US" dirty="0" err="1"/>
              <a:t>yararlanırken</a:t>
            </a:r>
            <a:r>
              <a:rPr lang="en-US" dirty="0"/>
              <a:t> </a:t>
            </a:r>
            <a:r>
              <a:rPr lang="en-US" dirty="0" err="1"/>
              <a:t>konuşma</a:t>
            </a:r>
            <a:r>
              <a:rPr lang="en-US" dirty="0"/>
              <a:t> </a:t>
            </a:r>
            <a:r>
              <a:rPr lang="en-US" dirty="0" err="1"/>
              <a:t>geçmişini</a:t>
            </a:r>
            <a:r>
              <a:rPr lang="en-US" dirty="0"/>
              <a:t> </a:t>
            </a:r>
            <a:r>
              <a:rPr lang="en-US" dirty="0" err="1"/>
              <a:t>oluşturmayı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sürdürmeyi</a:t>
            </a:r>
            <a:r>
              <a:rPr lang="en-US" dirty="0"/>
              <a:t> </a:t>
            </a:r>
            <a:r>
              <a:rPr lang="en-US" dirty="0" err="1"/>
              <a:t>kolaylaştırır</a:t>
            </a:r>
            <a:r>
              <a:rPr lang="en-US" dirty="0"/>
              <a:t>.</a:t>
            </a:r>
          </a:p>
          <a:p>
            <a:r>
              <a:rPr lang="en-US" b="1" dirty="0" err="1"/>
              <a:t>Belge</a:t>
            </a:r>
            <a:r>
              <a:rPr lang="en-US" b="1" dirty="0"/>
              <a:t> </a:t>
            </a:r>
            <a:r>
              <a:rPr lang="en-US" b="1" dirty="0" err="1"/>
              <a:t>Soru-Cevap</a:t>
            </a:r>
            <a:r>
              <a:rPr lang="en-US" b="1" dirty="0"/>
              <a:t> </a:t>
            </a:r>
            <a:r>
              <a:rPr lang="en-US" b="1" dirty="0" err="1"/>
              <a:t>Sistemleri</a:t>
            </a:r>
            <a:endParaRPr lang="en-US" b="1" dirty="0"/>
          </a:p>
          <a:p>
            <a:r>
              <a:rPr lang="en-US" dirty="0" err="1"/>
              <a:t>Belgelerinize</a:t>
            </a:r>
            <a:r>
              <a:rPr lang="en-US" dirty="0"/>
              <a:t> </a:t>
            </a:r>
            <a:r>
              <a:rPr lang="en-US" dirty="0" err="1"/>
              <a:t>dayanarak</a:t>
            </a:r>
            <a:r>
              <a:rPr lang="en-US" dirty="0"/>
              <a:t> </a:t>
            </a:r>
            <a:r>
              <a:rPr lang="en-US" dirty="0" err="1"/>
              <a:t>soruları</a:t>
            </a:r>
            <a:r>
              <a:rPr lang="en-US" dirty="0"/>
              <a:t> </a:t>
            </a:r>
            <a:r>
              <a:rPr lang="en-US" dirty="0" err="1"/>
              <a:t>yanıtlayabilen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. </a:t>
            </a:r>
            <a:r>
              <a:rPr lang="en-US" dirty="0" err="1"/>
              <a:t>Belge</a:t>
            </a:r>
            <a:r>
              <a:rPr lang="en-US" dirty="0"/>
              <a:t> </a:t>
            </a:r>
            <a:r>
              <a:rPr lang="en-US" dirty="0" err="1"/>
              <a:t>yükleyicileri</a:t>
            </a:r>
            <a:r>
              <a:rPr lang="en-US" dirty="0"/>
              <a:t>, </a:t>
            </a:r>
            <a:r>
              <a:rPr lang="en-US" dirty="0" err="1"/>
              <a:t>gömme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, </a:t>
            </a:r>
            <a:r>
              <a:rPr lang="en-US" dirty="0" err="1"/>
              <a:t>vektör</a:t>
            </a:r>
            <a:r>
              <a:rPr lang="en-US" dirty="0"/>
              <a:t> </a:t>
            </a:r>
            <a:r>
              <a:rPr lang="en-US" dirty="0" err="1"/>
              <a:t>depoları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LLM'leri</a:t>
            </a:r>
            <a:r>
              <a:rPr lang="en-US" dirty="0"/>
              <a:t> </a:t>
            </a:r>
            <a:r>
              <a:rPr lang="en-US" dirty="0" err="1"/>
              <a:t>birleştirerek</a:t>
            </a:r>
            <a:r>
              <a:rPr lang="en-US" dirty="0"/>
              <a:t>,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dokümantasyon</a:t>
            </a:r>
            <a:r>
              <a:rPr lang="en-US" dirty="0"/>
              <a:t>,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tabanları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şirket</a:t>
            </a:r>
            <a:r>
              <a:rPr lang="en-US" dirty="0"/>
              <a:t> </a:t>
            </a:r>
            <a:r>
              <a:rPr lang="en-US" dirty="0" err="1"/>
              <a:t>politikaları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içeriğinizle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sorguları</a:t>
            </a:r>
            <a:r>
              <a:rPr lang="en-US" dirty="0"/>
              <a:t> </a:t>
            </a:r>
            <a:r>
              <a:rPr lang="en-US" dirty="0" err="1"/>
              <a:t>anlayabilen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yanıtlayabilen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oluşturabilirsiniz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246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Metin</a:t>
            </a:r>
            <a:r>
              <a:rPr lang="en-US" b="1" dirty="0"/>
              <a:t> </a:t>
            </a:r>
            <a:r>
              <a:rPr lang="en-US" b="1" dirty="0" err="1"/>
              <a:t>Özetleme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belgeleri</a:t>
            </a:r>
            <a:r>
              <a:rPr lang="en-US" dirty="0"/>
              <a:t>, </a:t>
            </a:r>
            <a:r>
              <a:rPr lang="en-US" dirty="0" err="1"/>
              <a:t>makaleleri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raporları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özetleyen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. Bu, </a:t>
            </a:r>
            <a:r>
              <a:rPr lang="en-US" dirty="0" err="1"/>
              <a:t>özellikle</a:t>
            </a:r>
            <a:r>
              <a:rPr lang="en-US" dirty="0"/>
              <a:t> </a:t>
            </a:r>
            <a:r>
              <a:rPr lang="en-US" dirty="0" err="1"/>
              <a:t>toplantı</a:t>
            </a:r>
            <a:r>
              <a:rPr lang="en-US" dirty="0"/>
              <a:t> </a:t>
            </a:r>
            <a:r>
              <a:rPr lang="en-US" dirty="0" err="1"/>
              <a:t>tutanaklarını</a:t>
            </a:r>
            <a:r>
              <a:rPr lang="en-US" dirty="0"/>
              <a:t>, </a:t>
            </a:r>
            <a:r>
              <a:rPr lang="en-US" dirty="0" err="1"/>
              <a:t>araştırma</a:t>
            </a:r>
            <a:r>
              <a:rPr lang="en-US" dirty="0"/>
              <a:t> </a:t>
            </a:r>
            <a:r>
              <a:rPr lang="en-US" dirty="0" err="1"/>
              <a:t>makalelerini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haber</a:t>
            </a:r>
            <a:r>
              <a:rPr lang="en-US" dirty="0"/>
              <a:t> </a:t>
            </a:r>
            <a:r>
              <a:rPr lang="en-US" dirty="0" err="1"/>
              <a:t>makalelerini</a:t>
            </a:r>
            <a:r>
              <a:rPr lang="en-US" dirty="0"/>
              <a:t> </a:t>
            </a:r>
            <a:r>
              <a:rPr lang="en-US" dirty="0" err="1"/>
              <a:t>özetlemek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miktarda</a:t>
            </a:r>
            <a:r>
              <a:rPr lang="en-US" dirty="0"/>
              <a:t> </a:t>
            </a:r>
            <a:r>
              <a:rPr lang="en-US" dirty="0" err="1"/>
              <a:t>bilgiyi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işlemek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kullanışlıdır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Sınıflandırma</a:t>
            </a:r>
            <a:r>
              <a:rPr lang="en-US" b="1" dirty="0"/>
              <a:t> </a:t>
            </a:r>
            <a:r>
              <a:rPr lang="en-US" b="1" dirty="0" err="1"/>
              <a:t>Sistemleri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Metinleri</a:t>
            </a:r>
            <a:r>
              <a:rPr lang="en-US" dirty="0"/>
              <a:t>, </a:t>
            </a:r>
            <a:r>
              <a:rPr lang="en-US" dirty="0" err="1"/>
              <a:t>belgeleri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içerikleri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kategorize</a:t>
            </a:r>
            <a:r>
              <a:rPr lang="en-US" dirty="0"/>
              <a:t> </a:t>
            </a:r>
            <a:r>
              <a:rPr lang="en-US" dirty="0" err="1"/>
              <a:t>edebilen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 </a:t>
            </a:r>
            <a:r>
              <a:rPr lang="en-US" dirty="0" err="1"/>
              <a:t>geliştirin</a:t>
            </a:r>
            <a:r>
              <a:rPr lang="en-US" dirty="0"/>
              <a:t>. Bu, </a:t>
            </a:r>
            <a:r>
              <a:rPr lang="en-US" dirty="0" err="1"/>
              <a:t>müşteri</a:t>
            </a:r>
            <a:r>
              <a:rPr lang="en-US" dirty="0"/>
              <a:t> </a:t>
            </a:r>
            <a:r>
              <a:rPr lang="en-US" dirty="0" err="1"/>
              <a:t>sorularını</a:t>
            </a:r>
            <a:r>
              <a:rPr lang="en-US" dirty="0"/>
              <a:t> </a:t>
            </a:r>
            <a:r>
              <a:rPr lang="en-US" dirty="0" err="1"/>
              <a:t>yönlendirmek</a:t>
            </a:r>
            <a:r>
              <a:rPr lang="en-US" dirty="0"/>
              <a:t>, </a:t>
            </a:r>
            <a:r>
              <a:rPr lang="en-US" dirty="0" err="1"/>
              <a:t>içeriği</a:t>
            </a:r>
            <a:r>
              <a:rPr lang="en-US" dirty="0"/>
              <a:t> </a:t>
            </a:r>
            <a:r>
              <a:rPr lang="en-US" dirty="0" err="1"/>
              <a:t>düzenlemek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filtrelemek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faydalı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Duygu</a:t>
            </a:r>
            <a:r>
              <a:rPr lang="en-US" b="1" dirty="0"/>
              <a:t> </a:t>
            </a:r>
            <a:r>
              <a:rPr lang="en-US" b="1" dirty="0" err="1"/>
              <a:t>Analizi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Müşteri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bildirimlerini</a:t>
            </a:r>
            <a:r>
              <a:rPr lang="en-US" dirty="0"/>
              <a:t> </a:t>
            </a:r>
            <a:r>
              <a:rPr lang="en-US" dirty="0" err="1"/>
              <a:t>anlamak</a:t>
            </a:r>
            <a:r>
              <a:rPr lang="en-US" dirty="0"/>
              <a:t>,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medya</a:t>
            </a:r>
            <a:r>
              <a:rPr lang="en-US" dirty="0"/>
              <a:t> </a:t>
            </a:r>
            <a:r>
              <a:rPr lang="en-US" dirty="0" err="1"/>
              <a:t>takibi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marka</a:t>
            </a:r>
            <a:r>
              <a:rPr lang="en-US" dirty="0"/>
              <a:t> </a:t>
            </a:r>
            <a:r>
              <a:rPr lang="en-US" dirty="0" err="1"/>
              <a:t>itibar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faydalı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, </a:t>
            </a:r>
            <a:r>
              <a:rPr lang="en-US" dirty="0" err="1"/>
              <a:t>metinlerin</a:t>
            </a:r>
            <a:r>
              <a:rPr lang="en-US" dirty="0"/>
              <a:t> </a:t>
            </a:r>
            <a:r>
              <a:rPr lang="en-US" dirty="0" err="1"/>
              <a:t>duygusal</a:t>
            </a:r>
            <a:r>
              <a:rPr lang="en-US" dirty="0"/>
              <a:t> </a:t>
            </a:r>
            <a:r>
              <a:rPr lang="en-US" dirty="0" err="1"/>
              <a:t>tonunu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edebilen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geliştirin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Kod</a:t>
            </a:r>
            <a:r>
              <a:rPr lang="en-US" b="1" dirty="0"/>
              <a:t> </a:t>
            </a:r>
            <a:r>
              <a:rPr lang="en-US" b="1" dirty="0" err="1"/>
              <a:t>Üretimi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Yardımı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Geliştiricilere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üreterek</a:t>
            </a:r>
            <a:r>
              <a:rPr lang="en-US" dirty="0"/>
              <a:t>,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parçacıklarını</a:t>
            </a:r>
            <a:r>
              <a:rPr lang="en-US" dirty="0"/>
              <a:t> </a:t>
            </a:r>
            <a:r>
              <a:rPr lang="en-US" dirty="0" err="1"/>
              <a:t>açıklayarak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önerileri</a:t>
            </a:r>
            <a:r>
              <a:rPr lang="en-US" dirty="0"/>
              <a:t> </a:t>
            </a:r>
            <a:r>
              <a:rPr lang="en-US" dirty="0" err="1"/>
              <a:t>sunarak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olabilecek</a:t>
            </a:r>
            <a:r>
              <a:rPr lang="en-US" dirty="0"/>
              <a:t> </a:t>
            </a:r>
            <a:r>
              <a:rPr lang="en-US" dirty="0" err="1"/>
              <a:t>araçlar</a:t>
            </a:r>
            <a:r>
              <a:rPr lang="en-US" dirty="0"/>
              <a:t> </a:t>
            </a:r>
            <a:r>
              <a:rPr lang="en-US" dirty="0" err="1"/>
              <a:t>oluşturun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561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İçerik</a:t>
            </a:r>
            <a:r>
              <a:rPr lang="en-US" b="1" dirty="0"/>
              <a:t> </a:t>
            </a:r>
            <a:r>
              <a:rPr lang="en-US" b="1" dirty="0" err="1"/>
              <a:t>Oluşturma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zekâ</a:t>
            </a:r>
            <a:r>
              <a:rPr lang="en-US" dirty="0"/>
              <a:t> </a:t>
            </a:r>
            <a:r>
              <a:rPr lang="en-US" dirty="0" err="1"/>
              <a:t>desteğiyle</a:t>
            </a:r>
            <a:r>
              <a:rPr lang="en-US" dirty="0"/>
              <a:t> </a:t>
            </a:r>
            <a:r>
              <a:rPr lang="en-US" dirty="0" err="1"/>
              <a:t>pazarlama</a:t>
            </a:r>
            <a:r>
              <a:rPr lang="en-US" dirty="0"/>
              <a:t> </a:t>
            </a:r>
            <a:r>
              <a:rPr lang="en-US" dirty="0" err="1"/>
              <a:t>metinleri</a:t>
            </a:r>
            <a:r>
              <a:rPr lang="en-US" dirty="0"/>
              <a:t>,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açıklamaları</a:t>
            </a:r>
            <a:r>
              <a:rPr lang="en-US" dirty="0"/>
              <a:t>, </a:t>
            </a:r>
            <a:r>
              <a:rPr lang="en-US" dirty="0" err="1"/>
              <a:t>makaleler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yaratıcı</a:t>
            </a:r>
            <a:r>
              <a:rPr lang="en-US" dirty="0"/>
              <a:t> </a:t>
            </a:r>
            <a:r>
              <a:rPr lang="en-US" dirty="0" err="1"/>
              <a:t>içerikler</a:t>
            </a:r>
            <a:r>
              <a:rPr lang="en-US" dirty="0"/>
              <a:t> </a:t>
            </a:r>
            <a:r>
              <a:rPr lang="en-US" dirty="0" err="1"/>
              <a:t>üreten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 smtClean="0"/>
              <a:t>gelişti</a:t>
            </a:r>
            <a:r>
              <a:rPr lang="tr-TR" smtClean="0"/>
              <a:t>rilebilir</a:t>
            </a:r>
            <a:r>
              <a:rPr lang="en-US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Dil</a:t>
            </a:r>
            <a:r>
              <a:rPr lang="en-US" b="1" dirty="0"/>
              <a:t> </a:t>
            </a:r>
            <a:r>
              <a:rPr lang="en-US" b="1" dirty="0" err="1"/>
              <a:t>Çevirisi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Bağlamı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anlamı</a:t>
            </a:r>
            <a:r>
              <a:rPr lang="en-US" dirty="0"/>
              <a:t> </a:t>
            </a:r>
            <a:r>
              <a:rPr lang="en-US" dirty="0" err="1"/>
              <a:t>koruyarak</a:t>
            </a:r>
            <a:r>
              <a:rPr lang="en-US" dirty="0"/>
              <a:t>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çevirebilen</a:t>
            </a:r>
            <a:r>
              <a:rPr lang="en-US" dirty="0"/>
              <a:t> </a:t>
            </a:r>
            <a:r>
              <a:rPr lang="en-US" dirty="0" err="1"/>
              <a:t>çeviri</a:t>
            </a:r>
            <a:r>
              <a:rPr lang="en-US" dirty="0"/>
              <a:t> </a:t>
            </a:r>
            <a:r>
              <a:rPr lang="en-US" dirty="0" err="1"/>
              <a:t>hizmetleri</a:t>
            </a:r>
            <a:r>
              <a:rPr lang="en-US" dirty="0"/>
              <a:t> </a:t>
            </a:r>
            <a:r>
              <a:rPr lang="en-US" dirty="0" err="1" smtClean="0"/>
              <a:t>oluşturu</a:t>
            </a:r>
            <a:r>
              <a:rPr lang="tr-TR" dirty="0" smtClean="0"/>
              <a:t>labilir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Arama</a:t>
            </a:r>
            <a:r>
              <a:rPr lang="en-US" b="1" dirty="0"/>
              <a:t> </a:t>
            </a:r>
            <a:r>
              <a:rPr lang="en-US" b="1" dirty="0" err="1"/>
              <a:t>Geliştirme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Arama</a:t>
            </a:r>
            <a:r>
              <a:rPr lang="en-US" dirty="0"/>
              <a:t> </a:t>
            </a:r>
            <a:r>
              <a:rPr lang="en-US" dirty="0" err="1"/>
              <a:t>işlevselliğini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eşleştirmesi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anlayışla</a:t>
            </a:r>
            <a:r>
              <a:rPr lang="en-US" dirty="0"/>
              <a:t> </a:t>
            </a:r>
            <a:r>
              <a:rPr lang="en-US" dirty="0" err="1"/>
              <a:t>geliştirerek</a:t>
            </a:r>
            <a:r>
              <a:rPr lang="en-US" dirty="0"/>
              <a:t> </a:t>
            </a:r>
            <a:r>
              <a:rPr lang="en-US" dirty="0" err="1"/>
              <a:t>kullanıcılara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alakalı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 smtClean="0"/>
              <a:t>sunu</a:t>
            </a:r>
            <a:r>
              <a:rPr lang="tr-TR" dirty="0" smtClean="0"/>
              <a:t>labilir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Karar</a:t>
            </a:r>
            <a:r>
              <a:rPr lang="en-US" b="1" dirty="0"/>
              <a:t> </a:t>
            </a:r>
            <a:r>
              <a:rPr lang="en-US" b="1" dirty="0" err="1"/>
              <a:t>Destek</a:t>
            </a:r>
            <a:r>
              <a:rPr lang="en-US" b="1" dirty="0"/>
              <a:t> </a:t>
            </a:r>
            <a:r>
              <a:rPr lang="en-US" b="1" dirty="0" err="1"/>
              <a:t>Sistemleri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edebilen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kullanıcıların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iyi</a:t>
            </a:r>
            <a:r>
              <a:rPr lang="en-US" dirty="0"/>
              <a:t> </a:t>
            </a:r>
            <a:r>
              <a:rPr lang="en-US" dirty="0" err="1"/>
              <a:t>kararlar</a:t>
            </a:r>
            <a:r>
              <a:rPr lang="en-US" dirty="0"/>
              <a:t> </a:t>
            </a:r>
            <a:r>
              <a:rPr lang="en-US" dirty="0" err="1"/>
              <a:t>almasına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öneriler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bilgiler</a:t>
            </a:r>
            <a:r>
              <a:rPr lang="en-US" dirty="0"/>
              <a:t> </a:t>
            </a:r>
            <a:r>
              <a:rPr lang="en-US" dirty="0" err="1"/>
              <a:t>sunabilen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 </a:t>
            </a:r>
            <a:r>
              <a:rPr lang="en-US" dirty="0" err="1" smtClean="0"/>
              <a:t>oluştur</a:t>
            </a:r>
            <a:r>
              <a:rPr lang="tr-TR" dirty="0" smtClean="0"/>
              <a:t>ulabilir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864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694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498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2" y="75304"/>
            <a:ext cx="11887200" cy="66482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402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1818</Words>
  <Application>Microsoft Office PowerPoint</Application>
  <PresentationFormat>Widescreen</PresentationFormat>
  <Paragraphs>268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greycliff</vt:lpstr>
      <vt:lpstr>Office Theme</vt:lpstr>
      <vt:lpstr>LLM – AI AGENTS + AI ILE GELİŞTİRME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– AI AGENTS + AI ILE GELİŞTİRME</dc:title>
  <dc:creator>Windows User</dc:creator>
  <cp:lastModifiedBy>Windows User</cp:lastModifiedBy>
  <cp:revision>20</cp:revision>
  <dcterms:created xsi:type="dcterms:W3CDTF">2026-04-28T07:42:10Z</dcterms:created>
  <dcterms:modified xsi:type="dcterms:W3CDTF">2026-04-28T15:30:05Z</dcterms:modified>
</cp:coreProperties>
</file>